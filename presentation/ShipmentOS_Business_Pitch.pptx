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International shipping is complicated, and the forms are where it goes wrong. ShipmentOS lets a seller describe a shipment in plain words, checks it before it leaves, and recommends a carrier. These are real screens from our working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wrong number on a booking can mean goods held at customs or units missing at the warehouse. Then come delays, rework and a disrupted supply plan. The brief says sellers often only learn this days later, when stock is already stuck. We are not quoting cost figures, because we have not measured any; the point is that the problem starts small and is found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Walk the journey left to right. Every dark step is a place where something interconnected can quietly go wrong: many fields, totals that must agree, codes that must be right, and a carrier choice with trade-offs. The seller gets no warning. Smaller sellers without a logistics team feel it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ways in. Talk to ShipmentOS if you are booking one shipment; upload a spreadsheet if you already have many. You never need both. Either way you get the same three things: a clear review, specific corrections, and a recommended carrier.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real product. The seller types one sentence. ShipmentOS picks out what it can (route, warehouse, date, pallets), then asks only for what is missing. When the seller changes their mind, 'make that 4 pallets', the booking and price update from £540 to £720 and nothing is asked again. When all details are in it shows a booking ready for review. Example values are the hackathon's sample shipment.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a mistake the system catches. The booking says 1,080 units, but 12 per carton times 80 cartons is only 960, so 120 units are unaccounted for. That is a red issue: it should be fixed before the shipment goes. ShipmentOS says exactly how: change the cartons to 90 or the quantity to 960, after checking stock. Amber means worth checking but not a blocker. On the right, the seller picks what matters: cheapest, fastest, most reliable or a balance, and sees the carrier options with price, days and on-time rate. Note: this checks booking information; it is not customs clearance.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the left, the process most sellers have today. On the right, what ShipmentOS changes. Group it into three outcomes: efficiency, lower risk, and better decisions. Be upfront: these are the benefits we expect from what the product does. We have not yet measured time saved or money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live now, with no login; scan the code. Today it books by conversation, checks a spreadsheet, flags red and amber issues, recommends a carrier by priority and keeps your bookings. Next, if we keep building: connect to real carriers, produce shipping documents, add tracking and routes, and automate for high-volume shippers. Those are opportunities, not features today. Close: the best time to fix a shipment problem is before it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T">
    <p:bg>
      <p:bgPr>
        <a:solidFill>
          <a:srgbClr val="F4F5F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rtlCol="0"/>
          <a:lstStyle>
            <a:lvl1pPr algn="l" indent="0" marL="0">
              <a:buNone/>
              <a:defRPr lang="en-US" sz="30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ShipmentOS  ·  Ops Hackathon Case 2</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
    <p:bg>
      <p:bgPr>
        <a:solidFill>
          <a:srgbClr val="1517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5394960" cy="2743200"/>
          </a:xfrm>
          <a:prstGeom prst="rect">
            <a:avLst/>
          </a:prstGeom>
          <a:noFill/>
          <a:ln/>
        </p:spPr>
        <p:txBody>
          <a:bodyPr wrap="square" rtlCol="0"/>
          <a:lstStyle>
            <a:lvl1pPr algn="l" indent="0" marL="0">
              <a:buNone/>
              <a:defRPr lang="en-US" sz="36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2">
    <p:bg>
      <p:bgPr>
        <a:solidFill>
          <a:srgbClr val="1517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7132320" cy="914400"/>
          </a:xfrm>
          <a:prstGeom prst="rect">
            <a:avLst/>
          </a:prstGeom>
          <a:noFill/>
          <a:ln/>
        </p:spPr>
        <p:txBody>
          <a:bodyPr wrap="square" rtlCol="0"/>
          <a:lstStyle>
            <a:lvl1pPr algn="l" indent="0" marL="0">
              <a:buNone/>
              <a:defRPr lang="en-US" sz="30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640080"/>
            <a:ext cx="2514600" cy="347472"/>
          </a:xfrm>
          <a:prstGeom prst="roundRect">
            <a:avLst>
              <a:gd name="adj" fmla="val 50000"/>
            </a:avLst>
          </a:prstGeom>
          <a:solidFill>
            <a:schemeClr val="accent1"/>
          </a:solidFill>
          <a:ln/>
        </p:spPr>
      </p:sp>
      <p:sp>
        <p:nvSpPr>
          <p:cNvPr id="3" name="Text 1"/>
          <p:cNvSpPr txBox="1"/>
          <p:nvPr/>
        </p:nvSpPr>
        <p:spPr>
          <a:xfrm>
            <a:off x="640080" y="640080"/>
            <a:ext cx="2514600" cy="347472"/>
          </a:xfrm>
          <a:prstGeom prst="rect">
            <a:avLst/>
          </a:prstGeom>
          <a:noFill/>
          <a:ln/>
        </p:spPr>
        <p:txBody>
          <a:bodyPr wrap="square" lIns="0" tIns="0" rIns="0" bIns="0" rtlCol="0" anchor="ctr"/>
          <a:lstStyle/>
          <a:p>
            <a:pPr algn="ctr" indent="0" marL="0">
              <a:buNone/>
            </a:pPr>
            <a:r>
              <a:rPr lang="en-US" sz="1100" b="1" spc="150" kern="0" dirty="0">
                <a:solidFill>
                  <a:schemeClr val="tx1"/>
                </a:solidFill>
                <a:latin typeface="Calibri" pitchFamily="34" charset="0"/>
                <a:ea typeface="Calibri" pitchFamily="34" charset="-122"/>
                <a:cs typeface="Calibri" pitchFamily="34" charset="-120"/>
              </a:rPr>
              <a:t>INTRODUCING SHIPMENTOS</a:t>
            </a:r>
            <a:endParaRPr lang="en-US" sz="1100" dirty="0"/>
          </a:p>
        </p:txBody>
      </p:sp>
      <p:sp>
        <p:nvSpPr>
          <p:cNvPr id="4" name="Text 0"/>
          <p:cNvSpPr/>
          <p:nvPr>
            <p:ph idx="100" type="title" hasCustomPrompt="1"/>
          </p:nvPr>
        </p:nvSpPr>
        <p:spPr>
          <a:xfrm>
            <a:off x="640080" y="1188720"/>
            <a:ext cx="5394960" cy="2743200"/>
          </a:xfrm>
          <a:prstGeom prst="rect">
            <a:avLst/>
          </a:prstGeom>
          <a:noFill/>
          <a:ln/>
        </p:spPr>
        <p:txBody>
          <a:bodyPr wrap="square" lIns="0" tIns="0" rIns="0" bIns="0" rtlCol="0" anchor="t"/>
          <a:lstStyle/>
          <a:p>
            <a:pPr algn="l" indent="0" marL="0">
              <a:buNone/>
            </a:pPr>
            <a:r>
              <a:rPr lang="en-US" sz="3600" b="1" dirty="0">
                <a:solidFill>
                  <a:schemeClr val="bg1"/>
                </a:solidFill>
                <a:latin typeface="Calibri" pitchFamily="34" charset="0"/>
                <a:ea typeface="Calibri" pitchFamily="34" charset="-122"/>
                <a:cs typeface="Calibri" pitchFamily="34" charset="-120"/>
              </a:rPr>
              <a:t>International shipping is complicated. Booking it shouldn't be.</a:t>
            </a:r>
            <a:endParaRPr lang="en-US" sz="3600" dirty="0"/>
          </a:p>
        </p:txBody>
      </p:sp>
      <p:sp>
        <p:nvSpPr>
          <p:cNvPr id="5" name="Text 3"/>
          <p:cNvSpPr txBox="1"/>
          <p:nvPr/>
        </p:nvSpPr>
        <p:spPr>
          <a:xfrm>
            <a:off x="640080" y="3931920"/>
            <a:ext cx="5257800" cy="1097280"/>
          </a:xfrm>
          <a:prstGeom prst="rect">
            <a:avLst/>
          </a:prstGeom>
          <a:noFill/>
          <a:ln/>
        </p:spPr>
        <p:txBody>
          <a:bodyPr wrap="square" lIns="0" tIns="0" rIns="0" bIns="0" rtlCol="0" anchor="t"/>
          <a:lstStyle/>
          <a:p>
            <a:pPr algn="l" indent="0" marL="0">
              <a:buNone/>
            </a:pPr>
            <a:r>
              <a:rPr lang="en-US" sz="1800" dirty="0">
                <a:solidFill>
                  <a:srgbClr val="C9CCD1"/>
                </a:solidFill>
                <a:latin typeface="Calibri" pitchFamily="34" charset="0"/>
                <a:ea typeface="Calibri" pitchFamily="34" charset="-122"/>
                <a:cs typeface="Calibri" pitchFamily="34" charset="-120"/>
              </a:rPr>
              <a:t>ShipmentOS simplifies booking, catches preventable mistakes before goods leave, and helps you choose the right carrier.</a:t>
            </a:r>
            <a:endParaRPr lang="en-US" sz="1800" dirty="0"/>
          </a:p>
        </p:txBody>
      </p:sp>
      <p:sp>
        <p:nvSpPr>
          <p:cNvPr id="6" name="Shape 4"/>
          <p:cNvSpPr/>
          <p:nvPr/>
        </p:nvSpPr>
        <p:spPr>
          <a:xfrm>
            <a:off x="640080" y="5257800"/>
            <a:ext cx="2651760" cy="384048"/>
          </a:xfrm>
          <a:prstGeom prst="roundRect">
            <a:avLst>
              <a:gd name="adj" fmla="val 50000"/>
            </a:avLst>
          </a:prstGeom>
          <a:solidFill>
            <a:srgbClr val="2A2D31"/>
          </a:solidFill>
          <a:ln/>
        </p:spPr>
      </p:sp>
      <p:sp>
        <p:nvSpPr>
          <p:cNvPr id="7" name="Text 5"/>
          <p:cNvSpPr txBox="1"/>
          <p:nvPr/>
        </p:nvSpPr>
        <p:spPr>
          <a:xfrm>
            <a:off x="640080" y="5257800"/>
            <a:ext cx="2651760" cy="384048"/>
          </a:xfrm>
          <a:prstGeom prst="rect">
            <a:avLst/>
          </a:prstGeom>
          <a:noFill/>
          <a:ln/>
        </p:spPr>
        <p:txBody>
          <a:bodyPr wrap="square" lIns="0" tIns="0" rIns="0" bIns="0" rtlCol="0" anchor="ctr"/>
          <a:lstStyle/>
          <a:p>
            <a:pPr algn="ctr" indent="0" marL="0">
              <a:buNone/>
            </a:pPr>
            <a:r>
              <a:rPr lang="en-US" sz="1400" b="1" dirty="0">
                <a:solidFill>
                  <a:schemeClr val="accent1"/>
                </a:solidFill>
                <a:latin typeface="Calibri" pitchFamily="34" charset="0"/>
                <a:ea typeface="Calibri" pitchFamily="34" charset="-122"/>
                <a:cs typeface="Calibri" pitchFamily="34" charset="-120"/>
              </a:rPr>
              <a:t>Ship smarter, not harder</a:t>
            </a:r>
            <a:endParaRPr lang="en-US" sz="1400" dirty="0"/>
          </a:p>
        </p:txBody>
      </p:sp>
      <p:sp>
        <p:nvSpPr>
          <p:cNvPr id="8" name="Shape 6"/>
          <p:cNvSpPr/>
          <p:nvPr/>
        </p:nvSpPr>
        <p:spPr>
          <a:xfrm>
            <a:off x="6309360" y="640080"/>
            <a:ext cx="5394960" cy="3406140"/>
          </a:xfrm>
          <a:prstGeom prst="roundRect">
            <a:avLst>
              <a:gd name="adj" fmla="val 2685"/>
            </a:avLst>
          </a:prstGeom>
          <a:solidFill>
            <a:schemeClr val="bg1"/>
          </a:solidFill>
          <a:ln w="9525">
            <a:solidFill>
              <a:srgbClr val="2A2D31"/>
            </a:solidFill>
            <a:prstDash val="solid"/>
          </a:ln>
          <a:effectLst>
            <a:outerShdw sx="100000" sy="100000" kx="0" ky="0" algn="bl" rotWithShape="0" blurRad="127000" dist="38100" dir="5400000">
              <a:srgbClr val="000000">
                <a:alpha val="12000"/>
              </a:srgbClr>
            </a:outerShdw>
          </a:effectLst>
        </p:spPr>
      </p:sp>
      <p:pic>
        <p:nvPicPr>
          <p:cNvPr id="9" name="Image 0" descr="ShipmentOS chat booking">    </p:cNvPr>
          <p:cNvPicPr>
            <a:picLocks noChangeAspect="1"/>
          </p:cNvPicPr>
          <p:nvPr/>
        </p:nvPicPr>
        <p:blipFill>
          <a:blip r:embed="rId1"/>
          <a:stretch>
            <a:fillRect/>
          </a:stretch>
        </p:blipFill>
        <p:spPr>
          <a:xfrm>
            <a:off x="6355080" y="685800"/>
            <a:ext cx="5303520" cy="3314700"/>
          </a:xfrm>
          <a:prstGeom prst="rect">
            <a:avLst/>
          </a:prstGeom>
        </p:spPr>
      </p:pic>
      <p:sp>
        <p:nvSpPr>
          <p:cNvPr id="10" name="Shape 7"/>
          <p:cNvSpPr/>
          <p:nvPr/>
        </p:nvSpPr>
        <p:spPr>
          <a:xfrm>
            <a:off x="7772400" y="3337560"/>
            <a:ext cx="3931920" cy="2491740"/>
          </a:xfrm>
          <a:prstGeom prst="roundRect">
            <a:avLst>
              <a:gd name="adj" fmla="val 3670"/>
            </a:avLst>
          </a:prstGeom>
          <a:solidFill>
            <a:schemeClr val="bg1"/>
          </a:solidFill>
          <a:ln w="9525">
            <a:solidFill>
              <a:srgbClr val="2A2D31"/>
            </a:solidFill>
            <a:prstDash val="solid"/>
          </a:ln>
          <a:effectLst>
            <a:outerShdw sx="100000" sy="100000" kx="0" ky="0" algn="bl" rotWithShape="0" blurRad="127000" dist="38100" dir="5400000">
              <a:srgbClr val="000000">
                <a:alpha val="12000"/>
              </a:srgbClr>
            </a:outerShdw>
          </a:effectLst>
        </p:spPr>
      </p:sp>
      <p:pic>
        <p:nvPicPr>
          <p:cNvPr id="11" name="Image 1" descr="ShipmentOS shipment review with an error flagged">    </p:cNvPr>
          <p:cNvPicPr>
            <a:picLocks noChangeAspect="1"/>
          </p:cNvPicPr>
          <p:nvPr/>
        </p:nvPicPr>
        <p:blipFill>
          <a:blip r:embed="rId2"/>
          <a:stretch>
            <a:fillRect/>
          </a:stretch>
        </p:blipFill>
        <p:spPr>
          <a:xfrm>
            <a:off x="7818120" y="3383280"/>
            <a:ext cx="3840480" cy="2400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A small data error becomes an expensive surprise</a:t>
            </a:r>
            <a:endParaRPr lang="en-US" sz="3000" dirty="0"/>
          </a:p>
        </p:txBody>
      </p:sp>
      <p:sp>
        <p:nvSpPr>
          <p:cNvPr id="3" name="Shape 1"/>
          <p:cNvSpPr/>
          <p:nvPr/>
        </p:nvSpPr>
        <p:spPr>
          <a:xfrm>
            <a:off x="548640" y="1645920"/>
            <a:ext cx="2377440" cy="1737360"/>
          </a:xfrm>
          <a:prstGeom prst="roundRect">
            <a:avLst>
              <a:gd name="adj" fmla="val 7368"/>
            </a:avLst>
          </a:prstGeom>
          <a:solidFill>
            <a:srgbClr val="EFECFB"/>
          </a:solidFill>
          <a:ln/>
        </p:spPr>
      </p:sp>
      <p:sp>
        <p:nvSpPr>
          <p:cNvPr id="4" name="Text 2"/>
          <p:cNvSpPr txBox="1"/>
          <p:nvPr/>
        </p:nvSpPr>
        <p:spPr>
          <a:xfrm>
            <a:off x="731520" y="1810512"/>
            <a:ext cx="2011680" cy="64008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Incorrect shipment information</a:t>
            </a:r>
            <a:endParaRPr lang="en-US" sz="1800" dirty="0"/>
          </a:p>
        </p:txBody>
      </p:sp>
      <p:sp>
        <p:nvSpPr>
          <p:cNvPr id="5" name="Text 3"/>
          <p:cNvSpPr txBox="1"/>
          <p:nvPr/>
        </p:nvSpPr>
        <p:spPr>
          <a:xfrm>
            <a:off x="731520" y="2560320"/>
            <a:ext cx="2011680" cy="73152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e.g. a wrong quantity, missing customs code, mismatched value</a:t>
            </a:r>
            <a:endParaRPr lang="en-US" sz="1400" dirty="0"/>
          </a:p>
        </p:txBody>
      </p:sp>
      <p:sp>
        <p:nvSpPr>
          <p:cNvPr id="6" name="Shape 4"/>
          <p:cNvSpPr/>
          <p:nvPr/>
        </p:nvSpPr>
        <p:spPr>
          <a:xfrm>
            <a:off x="3063240" y="2377440"/>
            <a:ext cx="237744" cy="365760"/>
          </a:xfrm>
          <a:prstGeom prst="chevron">
            <a:avLst/>
          </a:prstGeom>
          <a:solidFill>
            <a:schemeClr val="tx1"/>
          </a:solidFill>
          <a:ln w="12700">
            <a:solidFill>
              <a:schemeClr val="tx1"/>
            </a:solidFill>
            <a:prstDash val="solid"/>
          </a:ln>
        </p:spPr>
      </p:sp>
      <p:sp>
        <p:nvSpPr>
          <p:cNvPr id="7" name="Shape 5"/>
          <p:cNvSpPr/>
          <p:nvPr/>
        </p:nvSpPr>
        <p:spPr>
          <a:xfrm>
            <a:off x="3456432" y="1645920"/>
            <a:ext cx="2377440" cy="1737360"/>
          </a:xfrm>
          <a:prstGeom prst="roundRect">
            <a:avLst>
              <a:gd name="adj" fmla="val 7368"/>
            </a:avLst>
          </a:prstGeom>
          <a:solidFill>
            <a:srgbClr val="FCF0D6"/>
          </a:solidFill>
          <a:ln/>
        </p:spPr>
      </p:sp>
      <p:sp>
        <p:nvSpPr>
          <p:cNvPr id="8" name="Text 6"/>
          <p:cNvSpPr txBox="1"/>
          <p:nvPr/>
        </p:nvSpPr>
        <p:spPr>
          <a:xfrm>
            <a:off x="3639312" y="1810512"/>
            <a:ext cx="2011680" cy="64008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Customs or warehouse issue</a:t>
            </a:r>
            <a:endParaRPr lang="en-US" sz="1800" dirty="0"/>
          </a:p>
        </p:txBody>
      </p:sp>
      <p:sp>
        <p:nvSpPr>
          <p:cNvPr id="9" name="Text 7"/>
          <p:cNvSpPr txBox="1"/>
          <p:nvPr/>
        </p:nvSpPr>
        <p:spPr>
          <a:xfrm>
            <a:off x="3639312" y="2560320"/>
            <a:ext cx="2011680" cy="73152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Goods held, or units reported missing</a:t>
            </a:r>
            <a:endParaRPr lang="en-US" sz="1400" dirty="0"/>
          </a:p>
        </p:txBody>
      </p:sp>
      <p:sp>
        <p:nvSpPr>
          <p:cNvPr id="10" name="Shape 8"/>
          <p:cNvSpPr/>
          <p:nvPr/>
        </p:nvSpPr>
        <p:spPr>
          <a:xfrm>
            <a:off x="5971032" y="2377440"/>
            <a:ext cx="237744" cy="365760"/>
          </a:xfrm>
          <a:prstGeom prst="chevron">
            <a:avLst/>
          </a:prstGeom>
          <a:solidFill>
            <a:schemeClr val="tx1"/>
          </a:solidFill>
          <a:ln w="12700">
            <a:solidFill>
              <a:schemeClr val="tx1"/>
            </a:solidFill>
            <a:prstDash val="solid"/>
          </a:ln>
        </p:spPr>
      </p:sp>
      <p:sp>
        <p:nvSpPr>
          <p:cNvPr id="11" name="Shape 9"/>
          <p:cNvSpPr/>
          <p:nvPr/>
        </p:nvSpPr>
        <p:spPr>
          <a:xfrm>
            <a:off x="6364224" y="1645920"/>
            <a:ext cx="2377440" cy="1737360"/>
          </a:xfrm>
          <a:prstGeom prst="roundRect">
            <a:avLst>
              <a:gd name="adj" fmla="val 7368"/>
            </a:avLst>
          </a:prstGeom>
          <a:solidFill>
            <a:srgbClr val="FBE4E2"/>
          </a:solidFill>
          <a:ln/>
        </p:spPr>
      </p:sp>
      <p:sp>
        <p:nvSpPr>
          <p:cNvPr id="12" name="Text 10"/>
          <p:cNvSpPr txBox="1"/>
          <p:nvPr/>
        </p:nvSpPr>
        <p:spPr>
          <a:xfrm>
            <a:off x="6547104" y="1810512"/>
            <a:ext cx="2011680" cy="64008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Delays and rework</a:t>
            </a:r>
            <a:endParaRPr lang="en-US" sz="1800" dirty="0"/>
          </a:p>
        </p:txBody>
      </p:sp>
      <p:sp>
        <p:nvSpPr>
          <p:cNvPr id="13" name="Text 11"/>
          <p:cNvSpPr txBox="1"/>
          <p:nvPr/>
        </p:nvSpPr>
        <p:spPr>
          <a:xfrm>
            <a:off x="6547104" y="2560320"/>
            <a:ext cx="2011680" cy="73152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Corrections and repeated coordination</a:t>
            </a:r>
            <a:endParaRPr lang="en-US" sz="1400" dirty="0"/>
          </a:p>
        </p:txBody>
      </p:sp>
      <p:sp>
        <p:nvSpPr>
          <p:cNvPr id="14" name="Shape 12"/>
          <p:cNvSpPr/>
          <p:nvPr/>
        </p:nvSpPr>
        <p:spPr>
          <a:xfrm>
            <a:off x="8878824" y="2377440"/>
            <a:ext cx="237744" cy="365760"/>
          </a:xfrm>
          <a:prstGeom prst="chevron">
            <a:avLst/>
          </a:prstGeom>
          <a:solidFill>
            <a:schemeClr val="tx1"/>
          </a:solidFill>
          <a:ln w="12700">
            <a:solidFill>
              <a:schemeClr val="tx1"/>
            </a:solidFill>
            <a:prstDash val="solid"/>
          </a:ln>
        </p:spPr>
      </p:sp>
      <p:sp>
        <p:nvSpPr>
          <p:cNvPr id="15" name="Shape 13"/>
          <p:cNvSpPr/>
          <p:nvPr/>
        </p:nvSpPr>
        <p:spPr>
          <a:xfrm>
            <a:off x="9272016" y="1645920"/>
            <a:ext cx="2377440" cy="1737360"/>
          </a:xfrm>
          <a:prstGeom prst="roundRect">
            <a:avLst>
              <a:gd name="adj" fmla="val 7368"/>
            </a:avLst>
          </a:prstGeom>
          <a:solidFill>
            <a:schemeClr val="tx1"/>
          </a:solidFill>
          <a:ln/>
        </p:spPr>
      </p:sp>
      <p:sp>
        <p:nvSpPr>
          <p:cNvPr id="16" name="Text 14"/>
          <p:cNvSpPr txBox="1"/>
          <p:nvPr/>
        </p:nvSpPr>
        <p:spPr>
          <a:xfrm>
            <a:off x="9454896" y="1810512"/>
            <a:ext cx="2011680" cy="640080"/>
          </a:xfrm>
          <a:prstGeom prst="rect">
            <a:avLst/>
          </a:prstGeom>
          <a:noFill/>
          <a:ln/>
        </p:spPr>
        <p:txBody>
          <a:bodyPr wrap="square" lIns="0" tIns="0" rIns="0" bIns="0" rtlCol="0" anchor="t"/>
          <a:lstStyle/>
          <a:p>
            <a:pPr algn="l" indent="0" marL="0">
              <a:buNone/>
            </a:pPr>
            <a:r>
              <a:rPr lang="en-US" sz="1800" b="1" dirty="0">
                <a:solidFill>
                  <a:schemeClr val="bg1"/>
                </a:solidFill>
                <a:latin typeface="Calibri" pitchFamily="34" charset="0"/>
                <a:ea typeface="Calibri" pitchFamily="34" charset="-122"/>
                <a:cs typeface="Calibri" pitchFamily="34" charset="-120"/>
              </a:rPr>
              <a:t>Cost and disruption</a:t>
            </a:r>
            <a:endParaRPr lang="en-US" sz="1800" dirty="0"/>
          </a:p>
        </p:txBody>
      </p:sp>
      <p:sp>
        <p:nvSpPr>
          <p:cNvPr id="17" name="Text 15"/>
          <p:cNvSpPr txBox="1"/>
          <p:nvPr/>
        </p:nvSpPr>
        <p:spPr>
          <a:xfrm>
            <a:off x="9454896" y="2560320"/>
            <a:ext cx="2011680" cy="731520"/>
          </a:xfrm>
          <a:prstGeom prst="rect">
            <a:avLst/>
          </a:prstGeom>
          <a:noFill/>
          <a:ln/>
        </p:spPr>
        <p:txBody>
          <a:bodyPr wrap="square" lIns="0" tIns="0" rIns="0" bIns="0" rtlCol="0" anchor="t"/>
          <a:lstStyle/>
          <a:p>
            <a:pPr algn="l" indent="0" marL="0">
              <a:buNone/>
            </a:pPr>
            <a:r>
              <a:rPr lang="en-US" sz="1400" dirty="0">
                <a:solidFill>
                  <a:srgbClr val="C9CCD1"/>
                </a:solidFill>
                <a:latin typeface="Calibri" pitchFamily="34" charset="0"/>
                <a:ea typeface="Calibri" pitchFamily="34" charset="-122"/>
                <a:cs typeface="Calibri" pitchFamily="34" charset="-120"/>
              </a:rPr>
              <a:t>Late stock, extra admin, an unsure seller</a:t>
            </a:r>
            <a:endParaRPr lang="en-US" sz="1400" dirty="0"/>
          </a:p>
        </p:txBody>
      </p:sp>
      <p:sp>
        <p:nvSpPr>
          <p:cNvPr id="18" name="Text 16"/>
          <p:cNvSpPr txBox="1"/>
          <p:nvPr/>
        </p:nvSpPr>
        <p:spPr>
          <a:xfrm>
            <a:off x="548640" y="3749040"/>
            <a:ext cx="54864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libri" pitchFamily="34" charset="0"/>
                <a:ea typeface="Calibri" pitchFamily="34" charset="-122"/>
                <a:cs typeface="Calibri" pitchFamily="34" charset="-120"/>
              </a:rPr>
              <a:t>What the business feels</a:t>
            </a:r>
            <a:endParaRPr lang="en-US" sz="1600" dirty="0"/>
          </a:p>
        </p:txBody>
      </p:sp>
      <p:sp>
        <p:nvSpPr>
          <p:cNvPr id="19" name="Shape 17"/>
          <p:cNvSpPr/>
          <p:nvPr/>
        </p:nvSpPr>
        <p:spPr>
          <a:xfrm>
            <a:off x="548640" y="4206240"/>
            <a:ext cx="3566160" cy="548640"/>
          </a:xfrm>
          <a:prstGeom prst="roundRect">
            <a:avLst>
              <a:gd name="adj" fmla="val 20000"/>
            </a:avLst>
          </a:prstGeom>
          <a:solidFill>
            <a:schemeClr val="bg1"/>
          </a:solidFill>
          <a:ln w="9525">
            <a:solidFill>
              <a:srgbClr val="DADCD6"/>
            </a:solidFill>
            <a:prstDash val="solid"/>
          </a:ln>
        </p:spPr>
      </p:sp>
      <p:sp>
        <p:nvSpPr>
          <p:cNvPr id="20" name="Text 18"/>
          <p:cNvSpPr txBox="1"/>
          <p:nvPr/>
        </p:nvSpPr>
        <p:spPr>
          <a:xfrm>
            <a:off x="731520" y="4206240"/>
            <a:ext cx="3200400" cy="54864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Inventory arrives later than expected</a:t>
            </a:r>
            <a:endParaRPr lang="en-US" sz="1400" dirty="0"/>
          </a:p>
        </p:txBody>
      </p:sp>
      <p:sp>
        <p:nvSpPr>
          <p:cNvPr id="21" name="Shape 19"/>
          <p:cNvSpPr/>
          <p:nvPr/>
        </p:nvSpPr>
        <p:spPr>
          <a:xfrm>
            <a:off x="4297680" y="4206240"/>
            <a:ext cx="3566160" cy="548640"/>
          </a:xfrm>
          <a:prstGeom prst="roundRect">
            <a:avLst>
              <a:gd name="adj" fmla="val 20000"/>
            </a:avLst>
          </a:prstGeom>
          <a:solidFill>
            <a:schemeClr val="bg1"/>
          </a:solidFill>
          <a:ln w="9525">
            <a:solidFill>
              <a:srgbClr val="DADCD6"/>
            </a:solidFill>
            <a:prstDash val="solid"/>
          </a:ln>
        </p:spPr>
      </p:sp>
      <p:sp>
        <p:nvSpPr>
          <p:cNvPr id="22" name="Text 20"/>
          <p:cNvSpPr txBox="1"/>
          <p:nvPr/>
        </p:nvSpPr>
        <p:spPr>
          <a:xfrm>
            <a:off x="4480560" y="4206240"/>
            <a:ext cx="3200400" cy="54864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Manual fixes and repeat emails</a:t>
            </a:r>
            <a:endParaRPr lang="en-US" sz="1400" dirty="0"/>
          </a:p>
        </p:txBody>
      </p:sp>
      <p:sp>
        <p:nvSpPr>
          <p:cNvPr id="23" name="Shape 21"/>
          <p:cNvSpPr/>
          <p:nvPr/>
        </p:nvSpPr>
        <p:spPr>
          <a:xfrm>
            <a:off x="8046720" y="4206240"/>
            <a:ext cx="3566160" cy="548640"/>
          </a:xfrm>
          <a:prstGeom prst="roundRect">
            <a:avLst>
              <a:gd name="adj" fmla="val 20000"/>
            </a:avLst>
          </a:prstGeom>
          <a:solidFill>
            <a:schemeClr val="bg1"/>
          </a:solidFill>
          <a:ln w="9525">
            <a:solidFill>
              <a:srgbClr val="DADCD6"/>
            </a:solidFill>
            <a:prstDash val="solid"/>
          </a:ln>
        </p:spPr>
      </p:sp>
      <p:sp>
        <p:nvSpPr>
          <p:cNvPr id="24" name="Text 22"/>
          <p:cNvSpPr txBox="1"/>
          <p:nvPr/>
        </p:nvSpPr>
        <p:spPr>
          <a:xfrm>
            <a:off x="8229600" y="4206240"/>
            <a:ext cx="3200400" cy="54864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More admin for the team</a:t>
            </a:r>
            <a:endParaRPr lang="en-US" sz="1400" dirty="0"/>
          </a:p>
        </p:txBody>
      </p:sp>
      <p:sp>
        <p:nvSpPr>
          <p:cNvPr id="25" name="Shape 23"/>
          <p:cNvSpPr/>
          <p:nvPr/>
        </p:nvSpPr>
        <p:spPr>
          <a:xfrm>
            <a:off x="548640" y="4892040"/>
            <a:ext cx="3566160" cy="548640"/>
          </a:xfrm>
          <a:prstGeom prst="roundRect">
            <a:avLst>
              <a:gd name="adj" fmla="val 20000"/>
            </a:avLst>
          </a:prstGeom>
          <a:solidFill>
            <a:schemeClr val="bg1"/>
          </a:solidFill>
          <a:ln w="9525">
            <a:solidFill>
              <a:srgbClr val="DADCD6"/>
            </a:solidFill>
            <a:prstDash val="solid"/>
          </a:ln>
        </p:spPr>
      </p:sp>
      <p:sp>
        <p:nvSpPr>
          <p:cNvPr id="26" name="Text 24"/>
          <p:cNvSpPr txBox="1"/>
          <p:nvPr/>
        </p:nvSpPr>
        <p:spPr>
          <a:xfrm>
            <a:off x="731520" y="4892040"/>
            <a:ext cx="3200400" cy="54864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Fulfilment and restocking disrupted</a:t>
            </a:r>
            <a:endParaRPr lang="en-US" sz="1400" dirty="0"/>
          </a:p>
        </p:txBody>
      </p:sp>
      <p:sp>
        <p:nvSpPr>
          <p:cNvPr id="27" name="Shape 25"/>
          <p:cNvSpPr/>
          <p:nvPr/>
        </p:nvSpPr>
        <p:spPr>
          <a:xfrm>
            <a:off x="4297680" y="4892040"/>
            <a:ext cx="3566160" cy="548640"/>
          </a:xfrm>
          <a:prstGeom prst="roundRect">
            <a:avLst>
              <a:gd name="adj" fmla="val 20000"/>
            </a:avLst>
          </a:prstGeom>
          <a:solidFill>
            <a:schemeClr val="bg1"/>
          </a:solidFill>
          <a:ln w="9525">
            <a:solidFill>
              <a:srgbClr val="DADCD6"/>
            </a:solidFill>
            <a:prstDash val="solid"/>
          </a:ln>
        </p:spPr>
      </p:sp>
      <p:sp>
        <p:nvSpPr>
          <p:cNvPr id="28" name="Text 26"/>
          <p:cNvSpPr txBox="1"/>
          <p:nvPr/>
        </p:nvSpPr>
        <p:spPr>
          <a:xfrm>
            <a:off x="4480560" y="4892040"/>
            <a:ext cx="3200400" cy="54864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Uncertainty for the seller</a:t>
            </a:r>
            <a:endParaRPr lang="en-US" sz="1400" dirty="0"/>
          </a:p>
        </p:txBody>
      </p:sp>
      <p:sp>
        <p:nvSpPr>
          <p:cNvPr id="29" name="Text 27"/>
          <p:cNvSpPr txBox="1"/>
          <p:nvPr/>
        </p:nvSpPr>
        <p:spPr>
          <a:xfrm>
            <a:off x="548640" y="5852160"/>
            <a:ext cx="11064240" cy="320040"/>
          </a:xfrm>
          <a:prstGeom prst="rect">
            <a:avLst/>
          </a:prstGeom>
          <a:noFill/>
          <a:ln/>
        </p:spPr>
        <p:txBody>
          <a:bodyPr wrap="square" lIns="0" tIns="0" rIns="0" bIns="0" rtlCol="0" anchor="t"/>
          <a:lstStyle/>
          <a:p>
            <a:pPr algn="l" indent="0" marL="0">
              <a:buNone/>
            </a:pPr>
            <a:r>
              <a:rPr lang="en-US" sz="1300" i="1" dirty="0">
                <a:solidFill>
                  <a:schemeClr val="accent5"/>
                </a:solidFill>
                <a:latin typeface="Calibri" pitchFamily="34" charset="0"/>
                <a:ea typeface="Calibri" pitchFamily="34" charset="-122"/>
                <a:cs typeface="Calibri" pitchFamily="34" charset="-120"/>
              </a:rPr>
              <a:t>From the hackathon brief: sellers often only find out days later, when their stock is already stuck.</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Where today's booking process breaks</a:t>
            </a:r>
            <a:endParaRPr lang="en-US" sz="3000" dirty="0"/>
          </a:p>
        </p:txBody>
      </p:sp>
      <p:sp>
        <p:nvSpPr>
          <p:cNvPr id="3" name="Shape 1"/>
          <p:cNvSpPr/>
          <p:nvPr/>
        </p:nvSpPr>
        <p:spPr>
          <a:xfrm>
            <a:off x="548640" y="1645920"/>
            <a:ext cx="1691640" cy="822960"/>
          </a:xfrm>
          <a:prstGeom prst="roundRect">
            <a:avLst>
              <a:gd name="adj" fmla="val 13333"/>
            </a:avLst>
          </a:prstGeom>
          <a:solidFill>
            <a:srgbClr val="E9EAE5"/>
          </a:solidFill>
          <a:ln/>
        </p:spPr>
      </p:sp>
      <p:sp>
        <p:nvSpPr>
          <p:cNvPr id="4" name="Text 2"/>
          <p:cNvSpPr txBox="1"/>
          <p:nvPr/>
        </p:nvSpPr>
        <p:spPr>
          <a:xfrm>
            <a:off x="658368" y="1645920"/>
            <a:ext cx="1508760" cy="822960"/>
          </a:xfrm>
          <a:prstGeom prst="rect">
            <a:avLst/>
          </a:prstGeom>
          <a:noFill/>
          <a:ln/>
        </p:spPr>
        <p:txBody>
          <a:bodyPr wrap="square" lIns="0" tIns="0" rIns="0" bIns="0" rtlCol="0" anchor="ctr"/>
          <a:lstStyle/>
          <a:p>
            <a:pPr algn="l" indent="0" marL="0">
              <a:buNone/>
            </a:pPr>
            <a:r>
              <a:rPr lang="en-US" sz="1500" b="1" dirty="0">
                <a:solidFill>
                  <a:schemeClr val="tx1"/>
                </a:solidFill>
                <a:latin typeface="Calibri" pitchFamily="34" charset="0"/>
                <a:ea typeface="Calibri" pitchFamily="34" charset="-122"/>
                <a:cs typeface="Calibri" pitchFamily="34" charset="-120"/>
              </a:rPr>
              <a:t>1  Gather information</a:t>
            </a:r>
            <a:endParaRPr lang="en-US" sz="1500" dirty="0"/>
          </a:p>
        </p:txBody>
      </p:sp>
      <p:sp>
        <p:nvSpPr>
          <p:cNvPr id="5" name="Shape 3"/>
          <p:cNvSpPr/>
          <p:nvPr/>
        </p:nvSpPr>
        <p:spPr>
          <a:xfrm>
            <a:off x="2428646" y="1645920"/>
            <a:ext cx="1691640" cy="822960"/>
          </a:xfrm>
          <a:prstGeom prst="roundRect">
            <a:avLst>
              <a:gd name="adj" fmla="val 13333"/>
            </a:avLst>
          </a:prstGeom>
          <a:solidFill>
            <a:schemeClr val="tx1"/>
          </a:solidFill>
          <a:ln/>
        </p:spPr>
      </p:sp>
      <p:sp>
        <p:nvSpPr>
          <p:cNvPr id="6" name="Text 4"/>
          <p:cNvSpPr txBox="1"/>
          <p:nvPr/>
        </p:nvSpPr>
        <p:spPr>
          <a:xfrm>
            <a:off x="2538374" y="1645920"/>
            <a:ext cx="1508760" cy="822960"/>
          </a:xfrm>
          <a:prstGeom prst="rect">
            <a:avLst/>
          </a:prstGeom>
          <a:noFill/>
          <a:ln/>
        </p:spPr>
        <p:txBody>
          <a:bodyPr wrap="square" lIns="0" tIns="0" rIns="0" bIns="0" rtlCol="0" anchor="ctr"/>
          <a:lstStyle/>
          <a:p>
            <a:pPr algn="l" indent="0" marL="0">
              <a:buNone/>
            </a:pPr>
            <a:r>
              <a:rPr lang="en-US" sz="1500" b="1" dirty="0">
                <a:solidFill>
                  <a:schemeClr val="bg1"/>
                </a:solidFill>
                <a:latin typeface="Calibri" pitchFamily="34" charset="0"/>
                <a:ea typeface="Calibri" pitchFamily="34" charset="-122"/>
                <a:cs typeface="Calibri" pitchFamily="34" charset="-120"/>
              </a:rPr>
              <a:t>2  Fill many fields</a:t>
            </a:r>
            <a:endParaRPr lang="en-US" sz="1500" dirty="0"/>
          </a:p>
        </p:txBody>
      </p:sp>
      <p:sp>
        <p:nvSpPr>
          <p:cNvPr id="7" name="Shape 5"/>
          <p:cNvSpPr/>
          <p:nvPr/>
        </p:nvSpPr>
        <p:spPr>
          <a:xfrm>
            <a:off x="4308653" y="1645920"/>
            <a:ext cx="1691640" cy="822960"/>
          </a:xfrm>
          <a:prstGeom prst="roundRect">
            <a:avLst>
              <a:gd name="adj" fmla="val 13333"/>
            </a:avLst>
          </a:prstGeom>
          <a:solidFill>
            <a:schemeClr val="tx1"/>
          </a:solidFill>
          <a:ln/>
        </p:spPr>
      </p:sp>
      <p:sp>
        <p:nvSpPr>
          <p:cNvPr id="8" name="Text 6"/>
          <p:cNvSpPr txBox="1"/>
          <p:nvPr/>
        </p:nvSpPr>
        <p:spPr>
          <a:xfrm>
            <a:off x="4418381" y="1645920"/>
            <a:ext cx="1508760" cy="822960"/>
          </a:xfrm>
          <a:prstGeom prst="rect">
            <a:avLst/>
          </a:prstGeom>
          <a:noFill/>
          <a:ln/>
        </p:spPr>
        <p:txBody>
          <a:bodyPr wrap="square" lIns="0" tIns="0" rIns="0" bIns="0" rtlCol="0" anchor="ctr"/>
          <a:lstStyle/>
          <a:p>
            <a:pPr algn="l" indent="0" marL="0">
              <a:buNone/>
            </a:pPr>
            <a:r>
              <a:rPr lang="en-US" sz="1500" b="1" dirty="0">
                <a:solidFill>
                  <a:schemeClr val="bg1"/>
                </a:solidFill>
                <a:latin typeface="Calibri" pitchFamily="34" charset="0"/>
                <a:ea typeface="Calibri" pitchFamily="34" charset="-122"/>
                <a:cs typeface="Calibri" pitchFamily="34" charset="-120"/>
              </a:rPr>
              <a:t>3  Reconcile quantities</a:t>
            </a:r>
            <a:endParaRPr lang="en-US" sz="1500" dirty="0"/>
          </a:p>
        </p:txBody>
      </p:sp>
      <p:sp>
        <p:nvSpPr>
          <p:cNvPr id="9" name="Shape 7"/>
          <p:cNvSpPr/>
          <p:nvPr/>
        </p:nvSpPr>
        <p:spPr>
          <a:xfrm>
            <a:off x="6188659" y="1645920"/>
            <a:ext cx="1691640" cy="822960"/>
          </a:xfrm>
          <a:prstGeom prst="roundRect">
            <a:avLst>
              <a:gd name="adj" fmla="val 13333"/>
            </a:avLst>
          </a:prstGeom>
          <a:solidFill>
            <a:schemeClr val="tx1"/>
          </a:solidFill>
          <a:ln/>
        </p:spPr>
      </p:sp>
      <p:sp>
        <p:nvSpPr>
          <p:cNvPr id="10" name="Text 8"/>
          <p:cNvSpPr txBox="1"/>
          <p:nvPr/>
        </p:nvSpPr>
        <p:spPr>
          <a:xfrm>
            <a:off x="6298387" y="1645920"/>
            <a:ext cx="1508760" cy="822960"/>
          </a:xfrm>
          <a:prstGeom prst="rect">
            <a:avLst/>
          </a:prstGeom>
          <a:noFill/>
          <a:ln/>
        </p:spPr>
        <p:txBody>
          <a:bodyPr wrap="square" lIns="0" tIns="0" rIns="0" bIns="0" rtlCol="0" anchor="ctr"/>
          <a:lstStyle/>
          <a:p>
            <a:pPr algn="l" indent="0" marL="0">
              <a:buNone/>
            </a:pPr>
            <a:r>
              <a:rPr lang="en-US" sz="1500" b="1" dirty="0">
                <a:solidFill>
                  <a:schemeClr val="bg1"/>
                </a:solidFill>
                <a:latin typeface="Calibri" pitchFamily="34" charset="0"/>
                <a:ea typeface="Calibri" pitchFamily="34" charset="-122"/>
                <a:cs typeface="Calibri" pitchFamily="34" charset="-120"/>
              </a:rPr>
              <a:t>4  Check documents</a:t>
            </a:r>
            <a:endParaRPr lang="en-US" sz="1500" dirty="0"/>
          </a:p>
        </p:txBody>
      </p:sp>
      <p:sp>
        <p:nvSpPr>
          <p:cNvPr id="11" name="Shape 9"/>
          <p:cNvSpPr/>
          <p:nvPr/>
        </p:nvSpPr>
        <p:spPr>
          <a:xfrm>
            <a:off x="8068666" y="1645920"/>
            <a:ext cx="1691640" cy="822960"/>
          </a:xfrm>
          <a:prstGeom prst="roundRect">
            <a:avLst>
              <a:gd name="adj" fmla="val 13333"/>
            </a:avLst>
          </a:prstGeom>
          <a:solidFill>
            <a:schemeClr val="tx1"/>
          </a:solidFill>
          <a:ln/>
        </p:spPr>
      </p:sp>
      <p:sp>
        <p:nvSpPr>
          <p:cNvPr id="12" name="Text 10"/>
          <p:cNvSpPr txBox="1"/>
          <p:nvPr/>
        </p:nvSpPr>
        <p:spPr>
          <a:xfrm>
            <a:off x="8178394" y="1645920"/>
            <a:ext cx="1508760" cy="822960"/>
          </a:xfrm>
          <a:prstGeom prst="rect">
            <a:avLst/>
          </a:prstGeom>
          <a:noFill/>
          <a:ln/>
        </p:spPr>
        <p:txBody>
          <a:bodyPr wrap="square" lIns="0" tIns="0" rIns="0" bIns="0" rtlCol="0" anchor="ctr"/>
          <a:lstStyle/>
          <a:p>
            <a:pPr algn="l" indent="0" marL="0">
              <a:buNone/>
            </a:pPr>
            <a:r>
              <a:rPr lang="en-US" sz="1500" b="1" dirty="0">
                <a:solidFill>
                  <a:schemeClr val="bg1"/>
                </a:solidFill>
                <a:latin typeface="Calibri" pitchFamily="34" charset="0"/>
                <a:ea typeface="Calibri" pitchFamily="34" charset="-122"/>
                <a:cs typeface="Calibri" pitchFamily="34" charset="-120"/>
              </a:rPr>
              <a:t>5  Compare carriers</a:t>
            </a:r>
            <a:endParaRPr lang="en-US" sz="1500" dirty="0"/>
          </a:p>
        </p:txBody>
      </p:sp>
      <p:sp>
        <p:nvSpPr>
          <p:cNvPr id="13" name="Shape 11"/>
          <p:cNvSpPr/>
          <p:nvPr/>
        </p:nvSpPr>
        <p:spPr>
          <a:xfrm>
            <a:off x="9948672" y="1645920"/>
            <a:ext cx="1691640" cy="822960"/>
          </a:xfrm>
          <a:prstGeom prst="roundRect">
            <a:avLst>
              <a:gd name="adj" fmla="val 13333"/>
            </a:avLst>
          </a:prstGeom>
          <a:solidFill>
            <a:srgbClr val="E9EAE5"/>
          </a:solidFill>
          <a:ln/>
        </p:spPr>
      </p:sp>
      <p:sp>
        <p:nvSpPr>
          <p:cNvPr id="14" name="Text 12"/>
          <p:cNvSpPr txBox="1"/>
          <p:nvPr/>
        </p:nvSpPr>
        <p:spPr>
          <a:xfrm>
            <a:off x="10058400" y="1645920"/>
            <a:ext cx="1508760" cy="822960"/>
          </a:xfrm>
          <a:prstGeom prst="rect">
            <a:avLst/>
          </a:prstGeom>
          <a:noFill/>
          <a:ln/>
        </p:spPr>
        <p:txBody>
          <a:bodyPr wrap="square" lIns="0" tIns="0" rIns="0" bIns="0" rtlCol="0" anchor="ctr"/>
          <a:lstStyle/>
          <a:p>
            <a:pPr algn="l" indent="0" marL="0">
              <a:buNone/>
            </a:pPr>
            <a:r>
              <a:rPr lang="en-US" sz="1500" b="1" dirty="0">
                <a:solidFill>
                  <a:schemeClr val="tx1"/>
                </a:solidFill>
                <a:latin typeface="Calibri" pitchFamily="34" charset="0"/>
                <a:ea typeface="Calibri" pitchFamily="34" charset="-122"/>
                <a:cs typeface="Calibri" pitchFamily="34" charset="-120"/>
              </a:rPr>
              <a:t>6  Submit</a:t>
            </a:r>
            <a:endParaRPr lang="en-US" sz="1500" dirty="0"/>
          </a:p>
        </p:txBody>
      </p:sp>
      <p:sp>
        <p:nvSpPr>
          <p:cNvPr id="15" name="Shape 13"/>
          <p:cNvSpPr/>
          <p:nvPr/>
        </p:nvSpPr>
        <p:spPr>
          <a:xfrm>
            <a:off x="3274466" y="2468880"/>
            <a:ext cx="0" cy="365760"/>
          </a:xfrm>
          <a:prstGeom prst="line">
            <a:avLst/>
          </a:prstGeom>
          <a:noFill/>
          <a:ln w="19050">
            <a:solidFill>
              <a:schemeClr val="accent3"/>
            </a:solidFill>
            <a:prstDash val="dash"/>
          </a:ln>
        </p:spPr>
      </p:sp>
      <p:sp>
        <p:nvSpPr>
          <p:cNvPr id="16" name="Shape 14"/>
          <p:cNvSpPr/>
          <p:nvPr/>
        </p:nvSpPr>
        <p:spPr>
          <a:xfrm>
            <a:off x="2382926" y="2834640"/>
            <a:ext cx="1783080" cy="1417320"/>
          </a:xfrm>
          <a:prstGeom prst="roundRect">
            <a:avLst>
              <a:gd name="adj" fmla="val 7742"/>
            </a:avLst>
          </a:prstGeom>
          <a:solidFill>
            <a:srgbClr val="FBE4E2"/>
          </a:solidFill>
          <a:ln/>
        </p:spPr>
      </p:sp>
      <p:sp>
        <p:nvSpPr>
          <p:cNvPr id="17" name="Text 15"/>
          <p:cNvSpPr txBox="1"/>
          <p:nvPr/>
        </p:nvSpPr>
        <p:spPr>
          <a:xfrm>
            <a:off x="2520086" y="2926080"/>
            <a:ext cx="1600200" cy="1280160"/>
          </a:xfrm>
          <a:prstGeom prst="rect">
            <a:avLst/>
          </a:prstGeom>
          <a:noFill/>
          <a:ln/>
        </p:spPr>
        <p:txBody>
          <a:bodyPr wrap="square" lIns="0" tIns="0" rIns="0" bIns="0" rtlCol="0" anchor="t"/>
          <a:lstStyle/>
          <a:p>
            <a:pPr algn="l" indent="0" marL="0">
              <a:buNone/>
            </a:pPr>
            <a:r>
              <a:rPr lang="en-US" sz="1400" dirty="0">
                <a:solidFill>
                  <a:srgbClr val="7A1F1F"/>
                </a:solidFill>
                <a:latin typeface="Calibri" pitchFamily="34" charset="0"/>
                <a:ea typeface="Calibri" pitchFamily="34" charset="-122"/>
                <a:cs typeface="Calibri" pitchFamily="34" charset="-120"/>
              </a:rPr>
              <a:t>Dozens of linked details, easy to miss one</a:t>
            </a:r>
            <a:endParaRPr lang="en-US" sz="1400" dirty="0"/>
          </a:p>
        </p:txBody>
      </p:sp>
      <p:sp>
        <p:nvSpPr>
          <p:cNvPr id="18" name="Shape 16"/>
          <p:cNvSpPr/>
          <p:nvPr/>
        </p:nvSpPr>
        <p:spPr>
          <a:xfrm>
            <a:off x="5154473" y="2468880"/>
            <a:ext cx="0" cy="365760"/>
          </a:xfrm>
          <a:prstGeom prst="line">
            <a:avLst/>
          </a:prstGeom>
          <a:noFill/>
          <a:ln w="19050">
            <a:solidFill>
              <a:schemeClr val="accent3"/>
            </a:solidFill>
            <a:prstDash val="dash"/>
          </a:ln>
        </p:spPr>
      </p:sp>
      <p:sp>
        <p:nvSpPr>
          <p:cNvPr id="19" name="Shape 17"/>
          <p:cNvSpPr/>
          <p:nvPr/>
        </p:nvSpPr>
        <p:spPr>
          <a:xfrm>
            <a:off x="4262933" y="2834640"/>
            <a:ext cx="1783080" cy="1417320"/>
          </a:xfrm>
          <a:prstGeom prst="roundRect">
            <a:avLst>
              <a:gd name="adj" fmla="val 7742"/>
            </a:avLst>
          </a:prstGeom>
          <a:solidFill>
            <a:srgbClr val="FBE4E2"/>
          </a:solidFill>
          <a:ln/>
        </p:spPr>
      </p:sp>
      <p:sp>
        <p:nvSpPr>
          <p:cNvPr id="20" name="Text 18"/>
          <p:cNvSpPr txBox="1"/>
          <p:nvPr/>
        </p:nvSpPr>
        <p:spPr>
          <a:xfrm>
            <a:off x="4400093" y="2926080"/>
            <a:ext cx="1600200" cy="1280160"/>
          </a:xfrm>
          <a:prstGeom prst="rect">
            <a:avLst/>
          </a:prstGeom>
          <a:noFill/>
          <a:ln/>
        </p:spPr>
        <p:txBody>
          <a:bodyPr wrap="square" lIns="0" tIns="0" rIns="0" bIns="0" rtlCol="0" anchor="t"/>
          <a:lstStyle/>
          <a:p>
            <a:pPr algn="l" indent="0" marL="0">
              <a:buNone/>
            </a:pPr>
            <a:r>
              <a:rPr lang="en-US" sz="1400" dirty="0">
                <a:solidFill>
                  <a:srgbClr val="7A1F1F"/>
                </a:solidFill>
                <a:latin typeface="Calibri" pitchFamily="34" charset="0"/>
                <a:ea typeface="Calibri" pitchFamily="34" charset="-122"/>
                <a:cs typeface="Calibri" pitchFamily="34" charset="-120"/>
              </a:rPr>
              <a:t>Units, cartons and totals must all agree</a:t>
            </a:r>
            <a:endParaRPr lang="en-US" sz="1400" dirty="0"/>
          </a:p>
        </p:txBody>
      </p:sp>
      <p:sp>
        <p:nvSpPr>
          <p:cNvPr id="21" name="Shape 19"/>
          <p:cNvSpPr/>
          <p:nvPr/>
        </p:nvSpPr>
        <p:spPr>
          <a:xfrm>
            <a:off x="7034479" y="2468880"/>
            <a:ext cx="0" cy="365760"/>
          </a:xfrm>
          <a:prstGeom prst="line">
            <a:avLst/>
          </a:prstGeom>
          <a:noFill/>
          <a:ln w="19050">
            <a:solidFill>
              <a:schemeClr val="accent3"/>
            </a:solidFill>
            <a:prstDash val="dash"/>
          </a:ln>
        </p:spPr>
      </p:sp>
      <p:sp>
        <p:nvSpPr>
          <p:cNvPr id="22" name="Shape 20"/>
          <p:cNvSpPr/>
          <p:nvPr/>
        </p:nvSpPr>
        <p:spPr>
          <a:xfrm>
            <a:off x="6142939" y="2834640"/>
            <a:ext cx="1783080" cy="1417320"/>
          </a:xfrm>
          <a:prstGeom prst="roundRect">
            <a:avLst>
              <a:gd name="adj" fmla="val 7742"/>
            </a:avLst>
          </a:prstGeom>
          <a:solidFill>
            <a:srgbClr val="FBE4E2"/>
          </a:solidFill>
          <a:ln/>
        </p:spPr>
      </p:sp>
      <p:sp>
        <p:nvSpPr>
          <p:cNvPr id="23" name="Text 21"/>
          <p:cNvSpPr txBox="1"/>
          <p:nvPr/>
        </p:nvSpPr>
        <p:spPr>
          <a:xfrm>
            <a:off x="6280099" y="2926080"/>
            <a:ext cx="1600200" cy="1280160"/>
          </a:xfrm>
          <a:prstGeom prst="rect">
            <a:avLst/>
          </a:prstGeom>
          <a:noFill/>
          <a:ln/>
        </p:spPr>
        <p:txBody>
          <a:bodyPr wrap="square" lIns="0" tIns="0" rIns="0" bIns="0" rtlCol="0" anchor="t"/>
          <a:lstStyle/>
          <a:p>
            <a:pPr algn="l" indent="0" marL="0">
              <a:buNone/>
            </a:pPr>
            <a:r>
              <a:rPr lang="en-US" sz="1400" dirty="0">
                <a:solidFill>
                  <a:srgbClr val="7A1F1F"/>
                </a:solidFill>
                <a:latin typeface="Calibri" pitchFamily="34" charset="0"/>
                <a:ea typeface="Calibri" pitchFamily="34" charset="-122"/>
                <a:cs typeface="Calibri" pitchFamily="34" charset="-120"/>
              </a:rPr>
              <a:t>Customs codes and country of origin must be right</a:t>
            </a:r>
            <a:endParaRPr lang="en-US" sz="1400" dirty="0"/>
          </a:p>
        </p:txBody>
      </p:sp>
      <p:sp>
        <p:nvSpPr>
          <p:cNvPr id="24" name="Shape 22"/>
          <p:cNvSpPr/>
          <p:nvPr/>
        </p:nvSpPr>
        <p:spPr>
          <a:xfrm>
            <a:off x="8914486" y="2468880"/>
            <a:ext cx="0" cy="365760"/>
          </a:xfrm>
          <a:prstGeom prst="line">
            <a:avLst/>
          </a:prstGeom>
          <a:noFill/>
          <a:ln w="19050">
            <a:solidFill>
              <a:schemeClr val="accent3"/>
            </a:solidFill>
            <a:prstDash val="dash"/>
          </a:ln>
        </p:spPr>
      </p:sp>
      <p:sp>
        <p:nvSpPr>
          <p:cNvPr id="25" name="Shape 23"/>
          <p:cNvSpPr/>
          <p:nvPr/>
        </p:nvSpPr>
        <p:spPr>
          <a:xfrm>
            <a:off x="8022946" y="2834640"/>
            <a:ext cx="1783080" cy="1417320"/>
          </a:xfrm>
          <a:prstGeom prst="roundRect">
            <a:avLst>
              <a:gd name="adj" fmla="val 7742"/>
            </a:avLst>
          </a:prstGeom>
          <a:solidFill>
            <a:srgbClr val="FBE4E2"/>
          </a:solidFill>
          <a:ln/>
        </p:spPr>
      </p:sp>
      <p:sp>
        <p:nvSpPr>
          <p:cNvPr id="26" name="Text 24"/>
          <p:cNvSpPr txBox="1"/>
          <p:nvPr/>
        </p:nvSpPr>
        <p:spPr>
          <a:xfrm>
            <a:off x="8160106" y="2926080"/>
            <a:ext cx="1600200" cy="1280160"/>
          </a:xfrm>
          <a:prstGeom prst="rect">
            <a:avLst/>
          </a:prstGeom>
          <a:noFill/>
          <a:ln/>
        </p:spPr>
        <p:txBody>
          <a:bodyPr wrap="square" lIns="0" tIns="0" rIns="0" bIns="0" rtlCol="0" anchor="t"/>
          <a:lstStyle/>
          <a:p>
            <a:pPr algn="l" indent="0" marL="0">
              <a:buNone/>
            </a:pPr>
            <a:r>
              <a:rPr lang="en-US" sz="1400" dirty="0">
                <a:solidFill>
                  <a:srgbClr val="7A1F1F"/>
                </a:solidFill>
                <a:latin typeface="Calibri" pitchFamily="34" charset="0"/>
                <a:ea typeface="Calibri" pitchFamily="34" charset="-122"/>
                <a:cs typeface="Calibri" pitchFamily="34" charset="-120"/>
              </a:rPr>
              <a:t>Cost, speed and reliability pull different ways</a:t>
            </a:r>
            <a:endParaRPr lang="en-US" sz="1400" dirty="0"/>
          </a:p>
        </p:txBody>
      </p:sp>
      <p:sp>
        <p:nvSpPr>
          <p:cNvPr id="27" name="Shape 25"/>
          <p:cNvSpPr/>
          <p:nvPr/>
        </p:nvSpPr>
        <p:spPr>
          <a:xfrm>
            <a:off x="548640" y="4663440"/>
            <a:ext cx="11091672" cy="1097280"/>
          </a:xfrm>
          <a:prstGeom prst="roundRect">
            <a:avLst>
              <a:gd name="adj" fmla="val 11667"/>
            </a:avLst>
          </a:prstGeom>
          <a:solidFill>
            <a:schemeClr val="tx1"/>
          </a:solidFill>
          <a:ln/>
        </p:spPr>
      </p:sp>
      <p:sp>
        <p:nvSpPr>
          <p:cNvPr id="28" name="Text 26"/>
          <p:cNvSpPr txBox="1"/>
          <p:nvPr/>
        </p:nvSpPr>
        <p:spPr>
          <a:xfrm>
            <a:off x="868680" y="4663440"/>
            <a:ext cx="10424160" cy="1097280"/>
          </a:xfrm>
          <a:prstGeom prst="rect">
            <a:avLst/>
          </a:prstGeom>
          <a:noFill/>
          <a:ln/>
        </p:spPr>
        <p:txBody>
          <a:bodyPr wrap="square" lIns="0" tIns="0" rIns="0" bIns="0" rtlCol="0" anchor="ctr"/>
          <a:lstStyle/>
          <a:p>
            <a:pPr algn="l" indent="0" marL="0">
              <a:buNone/>
            </a:pPr>
            <a:r>
              <a:rPr lang="en-US" sz="2200" b="1" dirty="0">
                <a:solidFill>
                  <a:schemeClr val="bg1"/>
                </a:solidFill>
                <a:latin typeface="Calibri" pitchFamily="34" charset="0"/>
                <a:ea typeface="Calibri" pitchFamily="34" charset="-122"/>
                <a:cs typeface="Calibri" pitchFamily="34" charset="-120"/>
              </a:rPr>
              <a:t>And nothing tells the seller something is wrong until the shipment is already moving.</a:t>
            </a:r>
            <a:endParaRPr lang="en-US" sz="2200" dirty="0"/>
          </a:p>
        </p:txBody>
      </p:sp>
      <p:sp>
        <p:nvSpPr>
          <p:cNvPr id="29" name="Text 27"/>
          <p:cNvSpPr txBox="1"/>
          <p:nvPr/>
        </p:nvSpPr>
        <p:spPr>
          <a:xfrm>
            <a:off x="548640" y="5897880"/>
            <a:ext cx="10972800" cy="274320"/>
          </a:xfrm>
          <a:prstGeom prst="rect">
            <a:avLst/>
          </a:prstGeom>
          <a:noFill/>
          <a:ln/>
        </p:spPr>
        <p:txBody>
          <a:bodyPr wrap="square" lIns="0" tIns="0" rIns="0" bIns="0" rtlCol="0" anchor="t"/>
          <a:lstStyle/>
          <a:p>
            <a:pPr algn="l" indent="0" marL="0">
              <a:buNone/>
            </a:pPr>
            <a:r>
              <a:rPr lang="en-US" sz="1300" dirty="0">
                <a:solidFill>
                  <a:schemeClr val="accent5"/>
                </a:solidFill>
                <a:latin typeface="Calibri" pitchFamily="34" charset="0"/>
                <a:ea typeface="Calibri" pitchFamily="34" charset="-122"/>
                <a:cs typeface="Calibri" pitchFamily="34" charset="-120"/>
              </a:rPr>
              <a:t>Hardest for smaller sellers without a dedicated logistics team.</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One platform, two simple ways to start</a:t>
            </a:r>
            <a:endParaRPr lang="en-US" sz="3000" dirty="0"/>
          </a:p>
        </p:txBody>
      </p:sp>
      <p:sp>
        <p:nvSpPr>
          <p:cNvPr id="3" name="Shape 1"/>
          <p:cNvSpPr/>
          <p:nvPr/>
        </p:nvSpPr>
        <p:spPr>
          <a:xfrm>
            <a:off x="548640" y="1600200"/>
            <a:ext cx="3931920" cy="1874520"/>
          </a:xfrm>
          <a:prstGeom prst="roundRect">
            <a:avLst>
              <a:gd name="adj" fmla="val 5854"/>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sp>
        <p:nvSpPr>
          <p:cNvPr id="4" name="Shape 2"/>
          <p:cNvSpPr/>
          <p:nvPr/>
        </p:nvSpPr>
        <p:spPr>
          <a:xfrm>
            <a:off x="777240" y="1828800"/>
            <a:ext cx="548640" cy="548640"/>
          </a:xfrm>
          <a:prstGeom prst="roundRect">
            <a:avLst>
              <a:gd name="adj" fmla="val 50000"/>
            </a:avLst>
          </a:prstGeom>
          <a:solidFill>
            <a:schemeClr val="tx1"/>
          </a:solidFill>
          <a:ln/>
        </p:spPr>
      </p:sp>
      <p:pic>
        <p:nvPicPr>
          <p:cNvPr id="5" name="Image 0" descr="chat icon">    </p:cNvPr>
          <p:cNvPicPr>
            <a:picLocks noChangeAspect="1"/>
          </p:cNvPicPr>
          <p:nvPr/>
        </p:nvPicPr>
        <p:blipFill>
          <a:blip r:embed="rId1"/>
          <a:stretch>
            <a:fillRect/>
          </a:stretch>
        </p:blipFill>
        <p:spPr>
          <a:xfrm>
            <a:off x="914400" y="1965960"/>
            <a:ext cx="274320" cy="274320"/>
          </a:xfrm>
          <a:prstGeom prst="rect">
            <a:avLst/>
          </a:prstGeom>
        </p:spPr>
      </p:pic>
      <p:sp>
        <p:nvSpPr>
          <p:cNvPr id="6" name="Text 3"/>
          <p:cNvSpPr txBox="1"/>
          <p:nvPr/>
        </p:nvSpPr>
        <p:spPr>
          <a:xfrm>
            <a:off x="1508760" y="1828800"/>
            <a:ext cx="2834640" cy="548640"/>
          </a:xfrm>
          <a:prstGeom prst="rect">
            <a:avLst/>
          </a:prstGeom>
          <a:noFill/>
          <a:ln/>
        </p:spPr>
        <p:txBody>
          <a:bodyPr wrap="square" lIns="0" tIns="0" rIns="0" bIns="0" rtlCol="0" anchor="ctr"/>
          <a:lstStyle/>
          <a:p>
            <a:pPr algn="l" indent="0" marL="0">
              <a:buNone/>
            </a:pPr>
            <a:r>
              <a:rPr lang="en-US" sz="2000" b="1" dirty="0">
                <a:solidFill>
                  <a:schemeClr val="tx1"/>
                </a:solidFill>
                <a:latin typeface="Calibri" pitchFamily="34" charset="0"/>
                <a:ea typeface="Calibri" pitchFamily="34" charset="-122"/>
                <a:cs typeface="Calibri" pitchFamily="34" charset="-120"/>
              </a:rPr>
              <a:t>Talk to ShipmentOS</a:t>
            </a:r>
            <a:endParaRPr lang="en-US" sz="2000" dirty="0"/>
          </a:p>
        </p:txBody>
      </p:sp>
      <p:sp>
        <p:nvSpPr>
          <p:cNvPr id="7" name="Text 4"/>
          <p:cNvSpPr txBox="1"/>
          <p:nvPr/>
        </p:nvSpPr>
        <p:spPr>
          <a:xfrm>
            <a:off x="777240" y="2514600"/>
            <a:ext cx="3520440" cy="868680"/>
          </a:xfrm>
          <a:prstGeom prst="rect">
            <a:avLst/>
          </a:prstGeom>
          <a:noFill/>
          <a:ln/>
        </p:spPr>
        <p:txBody>
          <a:bodyPr wrap="square" lIns="0" tIns="0" rIns="0" bIns="0" rtlCol="0" anchor="t"/>
          <a:lstStyle/>
          <a:p>
            <a:pPr algn="l" indent="0" marL="0">
              <a:buNone/>
            </a:pPr>
            <a:r>
              <a:rPr lang="en-US" sz="1500" dirty="0">
                <a:solidFill>
                  <a:srgbClr val="3A3D42"/>
                </a:solidFill>
                <a:latin typeface="Calibri" pitchFamily="34" charset="0"/>
                <a:ea typeface="Calibri" pitchFamily="34" charset="-122"/>
                <a:cs typeface="Calibri" pitchFamily="34" charset="-120"/>
              </a:rPr>
              <a:t>Describe a shipment naturally and answer a few follow-up questions.</a:t>
            </a:r>
            <a:endParaRPr lang="en-US" sz="1500" dirty="0"/>
          </a:p>
        </p:txBody>
      </p:sp>
      <p:sp>
        <p:nvSpPr>
          <p:cNvPr id="8" name="Shape 5"/>
          <p:cNvSpPr/>
          <p:nvPr/>
        </p:nvSpPr>
        <p:spPr>
          <a:xfrm>
            <a:off x="548640" y="3703320"/>
            <a:ext cx="3931920" cy="1874520"/>
          </a:xfrm>
          <a:prstGeom prst="roundRect">
            <a:avLst>
              <a:gd name="adj" fmla="val 5854"/>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sp>
        <p:nvSpPr>
          <p:cNvPr id="9" name="Shape 6"/>
          <p:cNvSpPr/>
          <p:nvPr/>
        </p:nvSpPr>
        <p:spPr>
          <a:xfrm>
            <a:off x="777240" y="3931920"/>
            <a:ext cx="548640" cy="548640"/>
          </a:xfrm>
          <a:prstGeom prst="roundRect">
            <a:avLst>
              <a:gd name="adj" fmla="val 50000"/>
            </a:avLst>
          </a:prstGeom>
          <a:solidFill>
            <a:schemeClr val="tx1"/>
          </a:solidFill>
          <a:ln/>
        </p:spPr>
      </p:sp>
      <p:pic>
        <p:nvPicPr>
          <p:cNvPr id="10" name="Image 1" descr="excel icon">    </p:cNvPr>
          <p:cNvPicPr>
            <a:picLocks noChangeAspect="1"/>
          </p:cNvPicPr>
          <p:nvPr/>
        </p:nvPicPr>
        <p:blipFill>
          <a:blip r:embed="rId2"/>
          <a:stretch>
            <a:fillRect/>
          </a:stretch>
        </p:blipFill>
        <p:spPr>
          <a:xfrm>
            <a:off x="914400" y="4069080"/>
            <a:ext cx="274320" cy="274320"/>
          </a:xfrm>
          <a:prstGeom prst="rect">
            <a:avLst/>
          </a:prstGeom>
        </p:spPr>
      </p:pic>
      <p:sp>
        <p:nvSpPr>
          <p:cNvPr id="11" name="Text 7"/>
          <p:cNvSpPr txBox="1"/>
          <p:nvPr/>
        </p:nvSpPr>
        <p:spPr>
          <a:xfrm>
            <a:off x="1508760" y="3931920"/>
            <a:ext cx="2834640" cy="548640"/>
          </a:xfrm>
          <a:prstGeom prst="rect">
            <a:avLst/>
          </a:prstGeom>
          <a:noFill/>
          <a:ln/>
        </p:spPr>
        <p:txBody>
          <a:bodyPr wrap="square" lIns="0" tIns="0" rIns="0" bIns="0" rtlCol="0" anchor="ctr"/>
          <a:lstStyle/>
          <a:p>
            <a:pPr algn="l" indent="0" marL="0">
              <a:buNone/>
            </a:pPr>
            <a:r>
              <a:rPr lang="en-US" sz="2000" b="1" dirty="0">
                <a:solidFill>
                  <a:schemeClr val="tx1"/>
                </a:solidFill>
                <a:latin typeface="Calibri" pitchFamily="34" charset="0"/>
                <a:ea typeface="Calibri" pitchFamily="34" charset="-122"/>
                <a:cs typeface="Calibri" pitchFamily="34" charset="-120"/>
              </a:rPr>
              <a:t>Upload your shipments</a:t>
            </a:r>
            <a:endParaRPr lang="en-US" sz="2000" dirty="0"/>
          </a:p>
        </p:txBody>
      </p:sp>
      <p:sp>
        <p:nvSpPr>
          <p:cNvPr id="12" name="Text 8"/>
          <p:cNvSpPr txBox="1"/>
          <p:nvPr/>
        </p:nvSpPr>
        <p:spPr>
          <a:xfrm>
            <a:off x="777240" y="4617720"/>
            <a:ext cx="3520440" cy="868680"/>
          </a:xfrm>
          <a:prstGeom prst="rect">
            <a:avLst/>
          </a:prstGeom>
          <a:noFill/>
          <a:ln/>
        </p:spPr>
        <p:txBody>
          <a:bodyPr wrap="square" lIns="0" tIns="0" rIns="0" bIns="0" rtlCol="0" anchor="t"/>
          <a:lstStyle/>
          <a:p>
            <a:pPr algn="l" indent="0" marL="0">
              <a:buNone/>
            </a:pPr>
            <a:r>
              <a:rPr lang="en-US" sz="1500" dirty="0">
                <a:solidFill>
                  <a:srgbClr val="3A3D42"/>
                </a:solidFill>
                <a:latin typeface="Calibri" pitchFamily="34" charset="0"/>
                <a:ea typeface="Calibri" pitchFamily="34" charset="-122"/>
                <a:cs typeface="Calibri" pitchFamily="34" charset="-120"/>
              </a:rPr>
              <a:t>Drop in your spreadsheet and check every booking at once.</a:t>
            </a:r>
            <a:endParaRPr lang="en-US" sz="1500" dirty="0"/>
          </a:p>
        </p:txBody>
      </p:sp>
      <p:sp>
        <p:nvSpPr>
          <p:cNvPr id="13" name="Shape 9"/>
          <p:cNvSpPr/>
          <p:nvPr/>
        </p:nvSpPr>
        <p:spPr>
          <a:xfrm>
            <a:off x="4526280" y="2560320"/>
            <a:ext cx="960120" cy="1005840"/>
          </a:xfrm>
          <a:prstGeom prst="line">
            <a:avLst/>
          </a:prstGeom>
          <a:noFill/>
          <a:ln w="25400">
            <a:solidFill>
              <a:schemeClr val="tx1"/>
            </a:solidFill>
            <a:prstDash val="solid"/>
            <a:tailEnd type="triangle"/>
          </a:ln>
        </p:spPr>
      </p:sp>
      <p:sp>
        <p:nvSpPr>
          <p:cNvPr id="14" name="Shape 10"/>
          <p:cNvSpPr/>
          <p:nvPr/>
        </p:nvSpPr>
        <p:spPr>
          <a:xfrm flipV="1">
            <a:off x="4526280" y="3749040"/>
            <a:ext cx="960120" cy="914400"/>
          </a:xfrm>
          <a:prstGeom prst="line">
            <a:avLst/>
          </a:prstGeom>
          <a:noFill/>
          <a:ln w="25400">
            <a:solidFill>
              <a:schemeClr val="tx1"/>
            </a:solidFill>
            <a:prstDash val="solid"/>
            <a:tailEnd type="triangle"/>
          </a:ln>
        </p:spPr>
      </p:sp>
      <p:sp>
        <p:nvSpPr>
          <p:cNvPr id="15" name="Shape 11"/>
          <p:cNvSpPr/>
          <p:nvPr/>
        </p:nvSpPr>
        <p:spPr>
          <a:xfrm>
            <a:off x="5577840" y="1600200"/>
            <a:ext cx="6062472" cy="3977640"/>
          </a:xfrm>
          <a:prstGeom prst="roundRect">
            <a:avLst>
              <a:gd name="adj" fmla="val 3678"/>
            </a:avLst>
          </a:prstGeom>
          <a:solidFill>
            <a:srgbClr val="EFECFB"/>
          </a:solidFill>
          <a:ln w="12700">
            <a:solidFill>
              <a:schemeClr val="accent2"/>
            </a:solidFill>
            <a:prstDash val="solid"/>
          </a:ln>
        </p:spPr>
      </p:sp>
      <p:sp>
        <p:nvSpPr>
          <p:cNvPr id="16" name="Text 12"/>
          <p:cNvSpPr txBox="1"/>
          <p:nvPr/>
        </p:nvSpPr>
        <p:spPr>
          <a:xfrm>
            <a:off x="5852160" y="1810512"/>
            <a:ext cx="5486400" cy="274320"/>
          </a:xfrm>
          <a:prstGeom prst="rect">
            <a:avLst/>
          </a:prstGeom>
          <a:noFill/>
          <a:ln/>
        </p:spPr>
        <p:txBody>
          <a:bodyPr wrap="square" lIns="0" tIns="0" rIns="0" bIns="0" rtlCol="0" anchor="t"/>
          <a:lstStyle/>
          <a:p>
            <a:pPr algn="l" indent="0" marL="0">
              <a:buNone/>
            </a:pPr>
            <a:r>
              <a:rPr lang="en-US" sz="1200" b="1" spc="150" kern="0" dirty="0">
                <a:solidFill>
                  <a:srgbClr val="4B3FA0"/>
                </a:solidFill>
                <a:latin typeface="Calibri" pitchFamily="34" charset="0"/>
                <a:ea typeface="Calibri" pitchFamily="34" charset="-122"/>
                <a:cs typeface="Calibri" pitchFamily="34" charset="-120"/>
              </a:rPr>
              <a:t>THE SAME OUTCOME EITHER WAY</a:t>
            </a:r>
            <a:endParaRPr lang="en-US" sz="1200" dirty="0"/>
          </a:p>
        </p:txBody>
      </p:sp>
      <p:sp>
        <p:nvSpPr>
          <p:cNvPr id="17" name="Shape 13"/>
          <p:cNvSpPr/>
          <p:nvPr/>
        </p:nvSpPr>
        <p:spPr>
          <a:xfrm>
            <a:off x="5852160" y="2286000"/>
            <a:ext cx="5513832" cy="932688"/>
          </a:xfrm>
          <a:prstGeom prst="roundRect">
            <a:avLst>
              <a:gd name="adj" fmla="val 11765"/>
            </a:avLst>
          </a:prstGeom>
          <a:solidFill>
            <a:schemeClr val="bg1"/>
          </a:solidFill>
          <a:ln/>
          <a:effectLst>
            <a:outerShdw sx="100000" sy="100000" kx="0" ky="0" algn="bl" rotWithShape="0" blurRad="127000" dist="38100" dir="5400000">
              <a:srgbClr val="000000">
                <a:alpha val="12000"/>
              </a:srgbClr>
            </a:outerShdw>
          </a:effectLst>
        </p:spPr>
      </p:sp>
      <p:sp>
        <p:nvSpPr>
          <p:cNvPr id="18" name="Shape 14"/>
          <p:cNvSpPr/>
          <p:nvPr/>
        </p:nvSpPr>
        <p:spPr>
          <a:xfrm>
            <a:off x="6035040" y="2505456"/>
            <a:ext cx="493776" cy="493776"/>
          </a:xfrm>
          <a:prstGeom prst="roundRect">
            <a:avLst>
              <a:gd name="adj" fmla="val 50000"/>
            </a:avLst>
          </a:prstGeom>
          <a:solidFill>
            <a:schemeClr val="tx1"/>
          </a:solidFill>
          <a:ln/>
        </p:spPr>
      </p:sp>
      <p:pic>
        <p:nvPicPr>
          <p:cNvPr id="19" name="Image 2" descr="check icon">    </p:cNvPr>
          <p:cNvPicPr>
            <a:picLocks noChangeAspect="1"/>
          </p:cNvPicPr>
          <p:nvPr/>
        </p:nvPicPr>
        <p:blipFill>
          <a:blip r:embed="rId3"/>
          <a:stretch>
            <a:fillRect/>
          </a:stretch>
        </p:blipFill>
        <p:spPr>
          <a:xfrm>
            <a:off x="6144768" y="2615184"/>
            <a:ext cx="274320" cy="274320"/>
          </a:xfrm>
          <a:prstGeom prst="rect">
            <a:avLst/>
          </a:prstGeom>
        </p:spPr>
      </p:pic>
      <p:sp>
        <p:nvSpPr>
          <p:cNvPr id="20" name="Text 15"/>
          <p:cNvSpPr txBox="1"/>
          <p:nvPr/>
        </p:nvSpPr>
        <p:spPr>
          <a:xfrm>
            <a:off x="6720840" y="2414016"/>
            <a:ext cx="448056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A clear shipment review</a:t>
            </a:r>
            <a:endParaRPr lang="en-US" sz="1800" dirty="0"/>
          </a:p>
        </p:txBody>
      </p:sp>
      <p:sp>
        <p:nvSpPr>
          <p:cNvPr id="21" name="Text 16"/>
          <p:cNvSpPr txBox="1"/>
          <p:nvPr/>
        </p:nvSpPr>
        <p:spPr>
          <a:xfrm>
            <a:off x="6720840" y="2788920"/>
            <a:ext cx="4480560" cy="32004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Ready, or needs attention</a:t>
            </a:r>
            <a:endParaRPr lang="en-US" sz="1400" dirty="0"/>
          </a:p>
        </p:txBody>
      </p:sp>
      <p:sp>
        <p:nvSpPr>
          <p:cNvPr id="22" name="Shape 17"/>
          <p:cNvSpPr/>
          <p:nvPr/>
        </p:nvSpPr>
        <p:spPr>
          <a:xfrm>
            <a:off x="5852160" y="3364992"/>
            <a:ext cx="5513832" cy="932688"/>
          </a:xfrm>
          <a:prstGeom prst="roundRect">
            <a:avLst>
              <a:gd name="adj" fmla="val 11765"/>
            </a:avLst>
          </a:prstGeom>
          <a:solidFill>
            <a:schemeClr val="bg1"/>
          </a:solidFill>
          <a:ln/>
          <a:effectLst>
            <a:outerShdw sx="100000" sy="100000" kx="0" ky="0" algn="bl" rotWithShape="0" blurRad="127000" dist="38100" dir="5400000">
              <a:srgbClr val="000000">
                <a:alpha val="12000"/>
              </a:srgbClr>
            </a:outerShdw>
          </a:effectLst>
        </p:spPr>
      </p:sp>
      <p:sp>
        <p:nvSpPr>
          <p:cNvPr id="23" name="Shape 18"/>
          <p:cNvSpPr/>
          <p:nvPr/>
        </p:nvSpPr>
        <p:spPr>
          <a:xfrm>
            <a:off x="6035040" y="3584448"/>
            <a:ext cx="493776" cy="493776"/>
          </a:xfrm>
          <a:prstGeom prst="roundRect">
            <a:avLst>
              <a:gd name="adj" fmla="val 50000"/>
            </a:avLst>
          </a:prstGeom>
          <a:solidFill>
            <a:schemeClr val="tx1"/>
          </a:solidFill>
          <a:ln/>
        </p:spPr>
      </p:sp>
      <p:pic>
        <p:nvPicPr>
          <p:cNvPr id="24" name="Image 3" descr="shield icon">    </p:cNvPr>
          <p:cNvPicPr>
            <a:picLocks noChangeAspect="1"/>
          </p:cNvPicPr>
          <p:nvPr/>
        </p:nvPicPr>
        <p:blipFill>
          <a:blip r:embed="rId4"/>
          <a:stretch>
            <a:fillRect/>
          </a:stretch>
        </p:blipFill>
        <p:spPr>
          <a:xfrm>
            <a:off x="6144768" y="3694176"/>
            <a:ext cx="274320" cy="274320"/>
          </a:xfrm>
          <a:prstGeom prst="rect">
            <a:avLst/>
          </a:prstGeom>
        </p:spPr>
      </p:pic>
      <p:sp>
        <p:nvSpPr>
          <p:cNvPr id="25" name="Text 19"/>
          <p:cNvSpPr txBox="1"/>
          <p:nvPr/>
        </p:nvSpPr>
        <p:spPr>
          <a:xfrm>
            <a:off x="6720840" y="3493008"/>
            <a:ext cx="448056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Specific corrections</a:t>
            </a:r>
            <a:endParaRPr lang="en-US" sz="1800" dirty="0"/>
          </a:p>
        </p:txBody>
      </p:sp>
      <p:sp>
        <p:nvSpPr>
          <p:cNvPr id="26" name="Text 20"/>
          <p:cNvSpPr txBox="1"/>
          <p:nvPr/>
        </p:nvSpPr>
        <p:spPr>
          <a:xfrm>
            <a:off x="6720840" y="3867912"/>
            <a:ext cx="4480560" cy="32004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What is wrong and how to fix it</a:t>
            </a:r>
            <a:endParaRPr lang="en-US" sz="1400" dirty="0"/>
          </a:p>
        </p:txBody>
      </p:sp>
      <p:sp>
        <p:nvSpPr>
          <p:cNvPr id="27" name="Shape 21"/>
          <p:cNvSpPr/>
          <p:nvPr/>
        </p:nvSpPr>
        <p:spPr>
          <a:xfrm>
            <a:off x="5852160" y="4443984"/>
            <a:ext cx="5513832" cy="932688"/>
          </a:xfrm>
          <a:prstGeom prst="roundRect">
            <a:avLst>
              <a:gd name="adj" fmla="val 11765"/>
            </a:avLst>
          </a:prstGeom>
          <a:solidFill>
            <a:schemeClr val="bg1"/>
          </a:solidFill>
          <a:ln/>
          <a:effectLst>
            <a:outerShdw sx="100000" sy="100000" kx="0" ky="0" algn="bl" rotWithShape="0" blurRad="127000" dist="38100" dir="5400000">
              <a:srgbClr val="000000">
                <a:alpha val="12000"/>
              </a:srgbClr>
            </a:outerShdw>
          </a:effectLst>
        </p:spPr>
      </p:sp>
      <p:sp>
        <p:nvSpPr>
          <p:cNvPr id="28" name="Shape 22"/>
          <p:cNvSpPr/>
          <p:nvPr/>
        </p:nvSpPr>
        <p:spPr>
          <a:xfrm>
            <a:off x="6035040" y="4663440"/>
            <a:ext cx="493776" cy="493776"/>
          </a:xfrm>
          <a:prstGeom prst="roundRect">
            <a:avLst>
              <a:gd name="adj" fmla="val 50000"/>
            </a:avLst>
          </a:prstGeom>
          <a:solidFill>
            <a:schemeClr val="tx1"/>
          </a:solidFill>
          <a:ln/>
        </p:spPr>
      </p:sp>
      <p:pic>
        <p:nvPicPr>
          <p:cNvPr id="29" name="Image 4" descr="truck icon">    </p:cNvPr>
          <p:cNvPicPr>
            <a:picLocks noChangeAspect="1"/>
          </p:cNvPicPr>
          <p:nvPr/>
        </p:nvPicPr>
        <p:blipFill>
          <a:blip r:embed="rId5"/>
          <a:stretch>
            <a:fillRect/>
          </a:stretch>
        </p:blipFill>
        <p:spPr>
          <a:xfrm>
            <a:off x="6144768" y="4773168"/>
            <a:ext cx="274320" cy="274320"/>
          </a:xfrm>
          <a:prstGeom prst="rect">
            <a:avLst/>
          </a:prstGeom>
        </p:spPr>
      </p:pic>
      <p:sp>
        <p:nvSpPr>
          <p:cNvPr id="30" name="Text 23"/>
          <p:cNvSpPr txBox="1"/>
          <p:nvPr/>
        </p:nvSpPr>
        <p:spPr>
          <a:xfrm>
            <a:off x="6720840" y="4572000"/>
            <a:ext cx="448056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Recommended shipping option</a:t>
            </a:r>
            <a:endParaRPr lang="en-US" sz="1800" dirty="0"/>
          </a:p>
        </p:txBody>
      </p:sp>
      <p:sp>
        <p:nvSpPr>
          <p:cNvPr id="31" name="Text 24"/>
          <p:cNvSpPr txBox="1"/>
          <p:nvPr/>
        </p:nvSpPr>
        <p:spPr>
          <a:xfrm>
            <a:off x="6720840" y="4946904"/>
            <a:ext cx="4480560" cy="320040"/>
          </a:xfrm>
          <a:prstGeom prst="rect">
            <a:avLst/>
          </a:prstGeom>
          <a:noFill/>
          <a:ln/>
        </p:spPr>
        <p:txBody>
          <a:bodyPr wrap="square" lIns="0" tIns="0" rIns="0" bIns="0" rtlCol="0" anchor="t"/>
          <a:lstStyle/>
          <a:p>
            <a:pPr algn="l" indent="0" marL="0">
              <a:buNone/>
            </a:pPr>
            <a:r>
              <a:rPr lang="en-US" sz="1400" dirty="0">
                <a:solidFill>
                  <a:srgbClr val="3A3D42"/>
                </a:solidFill>
                <a:latin typeface="Calibri" pitchFamily="34" charset="0"/>
                <a:ea typeface="Calibri" pitchFamily="34" charset="-122"/>
                <a:cs typeface="Calibri" pitchFamily="34" charset="-120"/>
              </a:rPr>
              <a:t>Matched to your priority</a:t>
            </a:r>
            <a:endParaRPr lang="en-US" sz="1400" dirty="0"/>
          </a:p>
        </p:txBody>
      </p:sp>
      <p:sp>
        <p:nvSpPr>
          <p:cNvPr id="32" name="Shape 25"/>
          <p:cNvSpPr/>
          <p:nvPr/>
        </p:nvSpPr>
        <p:spPr>
          <a:xfrm>
            <a:off x="548640" y="5760720"/>
            <a:ext cx="11091672" cy="502920"/>
          </a:xfrm>
          <a:prstGeom prst="roundRect">
            <a:avLst>
              <a:gd name="adj" fmla="val 21818"/>
            </a:avLst>
          </a:prstGeom>
          <a:solidFill>
            <a:schemeClr val="tx1"/>
          </a:solidFill>
          <a:ln/>
        </p:spPr>
      </p:sp>
      <p:sp>
        <p:nvSpPr>
          <p:cNvPr id="33" name="Text 26"/>
          <p:cNvSpPr txBox="1"/>
          <p:nvPr/>
        </p:nvSpPr>
        <p:spPr>
          <a:xfrm>
            <a:off x="822960" y="5760720"/>
            <a:ext cx="10515600" cy="50292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Pick either route. You never need to do both.</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From a simple conversation to a complete booking</a:t>
            </a:r>
            <a:endParaRPr lang="en-US" sz="3000" dirty="0"/>
          </a:p>
        </p:txBody>
      </p:sp>
      <p:sp>
        <p:nvSpPr>
          <p:cNvPr id="3" name="Shape 1"/>
          <p:cNvSpPr/>
          <p:nvPr/>
        </p:nvSpPr>
        <p:spPr>
          <a:xfrm>
            <a:off x="548640" y="1554480"/>
            <a:ext cx="5166360" cy="3264408"/>
          </a:xfrm>
          <a:prstGeom prst="roundRect">
            <a:avLst>
              <a:gd name="adj" fmla="val 2801"/>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pic>
        <p:nvPicPr>
          <p:cNvPr id="4" name="Image 0" descr="Seller describes a shipment and is asked only for missing details">    </p:cNvPr>
          <p:cNvPicPr>
            <a:picLocks noChangeAspect="1"/>
          </p:cNvPicPr>
          <p:nvPr/>
        </p:nvPicPr>
        <p:blipFill>
          <a:blip r:embed="rId1"/>
          <a:stretch>
            <a:fillRect/>
          </a:stretch>
        </p:blipFill>
        <p:spPr>
          <a:xfrm>
            <a:off x="594360" y="1600200"/>
            <a:ext cx="5074920" cy="3172968"/>
          </a:xfrm>
          <a:prstGeom prst="rect">
            <a:avLst/>
          </a:prstGeom>
        </p:spPr>
      </p:pic>
      <p:sp>
        <p:nvSpPr>
          <p:cNvPr id="5" name="Shape 2"/>
          <p:cNvSpPr/>
          <p:nvPr/>
        </p:nvSpPr>
        <p:spPr>
          <a:xfrm>
            <a:off x="6537960" y="1554480"/>
            <a:ext cx="5166360" cy="3264408"/>
          </a:xfrm>
          <a:prstGeom prst="roundRect">
            <a:avLst>
              <a:gd name="adj" fmla="val 2801"/>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pic>
        <p:nvPicPr>
          <p:cNvPr id="6" name="Image 1" descr="Seller changes 3 pallets to 4 and the price updates">    </p:cNvPr>
          <p:cNvPicPr>
            <a:picLocks noChangeAspect="1"/>
          </p:cNvPicPr>
          <p:nvPr/>
        </p:nvPicPr>
        <p:blipFill>
          <a:blip r:embed="rId2"/>
          <a:stretch>
            <a:fillRect/>
          </a:stretch>
        </p:blipFill>
        <p:spPr>
          <a:xfrm>
            <a:off x="6583680" y="1600200"/>
            <a:ext cx="5074920" cy="3172968"/>
          </a:xfrm>
          <a:prstGeom prst="rect">
            <a:avLst/>
          </a:prstGeom>
        </p:spPr>
      </p:pic>
      <p:sp>
        <p:nvSpPr>
          <p:cNvPr id="7" name="Text 3"/>
          <p:cNvSpPr txBox="1"/>
          <p:nvPr/>
        </p:nvSpPr>
        <p:spPr>
          <a:xfrm>
            <a:off x="594360" y="4892040"/>
            <a:ext cx="5074920" cy="548640"/>
          </a:xfrm>
          <a:prstGeom prst="rect">
            <a:avLst/>
          </a:prstGeom>
          <a:noFill/>
          <a:ln/>
        </p:spPr>
        <p:txBody>
          <a:bodyPr wrap="square" lIns="0" tIns="0" rIns="0" bIns="0" rtlCol="0" anchor="t"/>
          <a:lstStyle/>
          <a:p>
            <a:pPr algn="l" indent="0" marL="0">
              <a:buNone/>
            </a:pPr>
            <a:r>
              <a:rPr lang="en-US" sz="1400" i="1" dirty="0">
                <a:solidFill>
                  <a:srgbClr val="3A3D42"/>
                </a:solidFill>
                <a:latin typeface="Calibri" pitchFamily="34" charset="0"/>
                <a:ea typeface="Calibri" pitchFamily="34" charset="-122"/>
                <a:cs typeface="Calibri" pitchFamily="34" charset="-120"/>
              </a:rPr>
              <a:t>“3 pallets of ceramic mugs, Manchester to a warehouse in Frankfurt…”</a:t>
            </a:r>
            <a:endParaRPr lang="en-US" sz="1400" dirty="0"/>
          </a:p>
        </p:txBody>
      </p:sp>
      <p:sp>
        <p:nvSpPr>
          <p:cNvPr id="8" name="Text 4"/>
          <p:cNvSpPr txBox="1"/>
          <p:nvPr/>
        </p:nvSpPr>
        <p:spPr>
          <a:xfrm>
            <a:off x="6583680" y="4892040"/>
            <a:ext cx="5074920" cy="548640"/>
          </a:xfrm>
          <a:prstGeom prst="rect">
            <a:avLst/>
          </a:prstGeom>
          <a:noFill/>
          <a:ln/>
        </p:spPr>
        <p:txBody>
          <a:bodyPr wrap="square" lIns="0" tIns="0" rIns="0" bIns="0" rtlCol="0" anchor="t"/>
          <a:lstStyle/>
          <a:p>
            <a:pPr algn="l" indent="0" marL="0">
              <a:buNone/>
            </a:pPr>
            <a:r>
              <a:rPr lang="en-US" sz="1400" i="1" dirty="0">
                <a:solidFill>
                  <a:srgbClr val="3A3D42"/>
                </a:solidFill>
                <a:latin typeface="Calibri" pitchFamily="34" charset="0"/>
                <a:ea typeface="Calibri" pitchFamily="34" charset="-122"/>
                <a:cs typeface="Calibri" pitchFamily="34" charset="-120"/>
              </a:rPr>
              <a:t>“Actually, make that 4 pallets.”  Price updates £540 → £720. Nothing is re-asked.</a:t>
            </a:r>
            <a:endParaRPr lang="en-US" sz="1400" dirty="0"/>
          </a:p>
        </p:txBody>
      </p:sp>
      <p:sp>
        <p:nvSpPr>
          <p:cNvPr id="9" name="Shape 5"/>
          <p:cNvSpPr/>
          <p:nvPr/>
        </p:nvSpPr>
        <p:spPr>
          <a:xfrm>
            <a:off x="5943600" y="2926080"/>
            <a:ext cx="365760" cy="548640"/>
          </a:xfrm>
          <a:prstGeom prst="chevron">
            <a:avLst/>
          </a:prstGeom>
          <a:solidFill>
            <a:schemeClr val="accent1"/>
          </a:solidFill>
          <a:ln w="12700">
            <a:solidFill>
              <a:schemeClr val="accent1"/>
            </a:solidFill>
            <a:prstDash val="solid"/>
          </a:ln>
        </p:spPr>
      </p:sp>
      <p:sp>
        <p:nvSpPr>
          <p:cNvPr id="10" name="Shape 6"/>
          <p:cNvSpPr/>
          <p:nvPr/>
        </p:nvSpPr>
        <p:spPr>
          <a:xfrm>
            <a:off x="548640" y="5577840"/>
            <a:ext cx="11091672" cy="640080"/>
          </a:xfrm>
          <a:prstGeom prst="roundRect">
            <a:avLst>
              <a:gd name="adj" fmla="val 17143"/>
            </a:avLst>
          </a:prstGeom>
          <a:solidFill>
            <a:schemeClr val="tx1"/>
          </a:solidFill>
          <a:ln/>
        </p:spPr>
      </p:sp>
      <p:sp>
        <p:nvSpPr>
          <p:cNvPr id="11" name="Text 7"/>
          <p:cNvSpPr txBox="1"/>
          <p:nvPr/>
        </p:nvSpPr>
        <p:spPr>
          <a:xfrm>
            <a:off x="822960" y="5577840"/>
            <a:ext cx="10515600" cy="640080"/>
          </a:xfrm>
          <a:prstGeom prst="rect">
            <a:avLst/>
          </a:prstGeom>
          <a:noFill/>
          <a:ln/>
        </p:spPr>
        <p:txBody>
          <a:bodyPr wrap="square" lIns="0" tIns="0" rIns="0" bIns="0" rtlCol="0" anchor="ctr"/>
          <a:lstStyle/>
          <a:p>
            <a:pPr algn="l" indent="0" marL="0">
              <a:buNone/>
            </a:pPr>
            <a:r>
              <a:rPr lang="en-US" sz="2000" b="1" dirty="0">
                <a:solidFill>
                  <a:schemeClr val="accent1"/>
                </a:solidFill>
                <a:latin typeface="Calibri" pitchFamily="34" charset="0"/>
                <a:ea typeface="Calibri" pitchFamily="34" charset="-122"/>
                <a:cs typeface="Calibri" pitchFamily="34" charset="-120"/>
              </a:rPr>
              <a:t>Less form-filling. More guidance.</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Find the mistake while it's still easy to fix</a:t>
            </a:r>
            <a:endParaRPr lang="en-US" sz="3000" dirty="0"/>
          </a:p>
        </p:txBody>
      </p:sp>
      <p:sp>
        <p:nvSpPr>
          <p:cNvPr id="3" name="Shape 1"/>
          <p:cNvSpPr/>
          <p:nvPr/>
        </p:nvSpPr>
        <p:spPr>
          <a:xfrm>
            <a:off x="548640" y="1554480"/>
            <a:ext cx="5577840" cy="3840480"/>
          </a:xfrm>
          <a:prstGeom prst="roundRect">
            <a:avLst>
              <a:gd name="adj" fmla="val 2857"/>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sp>
        <p:nvSpPr>
          <p:cNvPr id="4" name="Shape 2"/>
          <p:cNvSpPr/>
          <p:nvPr/>
        </p:nvSpPr>
        <p:spPr>
          <a:xfrm>
            <a:off x="777240" y="1737360"/>
            <a:ext cx="2103120" cy="274320"/>
          </a:xfrm>
          <a:prstGeom prst="roundRect">
            <a:avLst>
              <a:gd name="adj" fmla="val 50000"/>
            </a:avLst>
          </a:prstGeom>
          <a:solidFill>
            <a:srgbClr val="FBE4E2"/>
          </a:solidFill>
          <a:ln/>
        </p:spPr>
      </p:sp>
      <p:sp>
        <p:nvSpPr>
          <p:cNvPr id="5" name="Text 3"/>
          <p:cNvSpPr txBox="1"/>
          <p:nvPr/>
        </p:nvSpPr>
        <p:spPr>
          <a:xfrm>
            <a:off x="777240" y="1737360"/>
            <a:ext cx="2103120" cy="274320"/>
          </a:xfrm>
          <a:prstGeom prst="rect">
            <a:avLst/>
          </a:prstGeom>
          <a:noFill/>
          <a:ln/>
        </p:spPr>
        <p:txBody>
          <a:bodyPr wrap="square" lIns="0" tIns="0" rIns="0" bIns="0" rtlCol="0" anchor="ctr"/>
          <a:lstStyle/>
          <a:p>
            <a:pPr algn="ctr" indent="0" marL="0">
              <a:buNone/>
            </a:pPr>
            <a:r>
              <a:rPr lang="en-US" sz="1100" b="1" dirty="0">
                <a:solidFill>
                  <a:srgbClr val="A12B2B"/>
                </a:solidFill>
                <a:latin typeface="Calibri" pitchFamily="34" charset="0"/>
                <a:ea typeface="Calibri" pitchFamily="34" charset="-122"/>
                <a:cs typeface="Calibri" pitchFamily="34" charset="-120"/>
              </a:rPr>
              <a:t>RED: fix before dispatch</a:t>
            </a:r>
            <a:endParaRPr lang="en-US" sz="1100" dirty="0"/>
          </a:p>
        </p:txBody>
      </p:sp>
      <p:sp>
        <p:nvSpPr>
          <p:cNvPr id="6" name="Shape 4"/>
          <p:cNvSpPr/>
          <p:nvPr/>
        </p:nvSpPr>
        <p:spPr>
          <a:xfrm>
            <a:off x="3017520" y="1737360"/>
            <a:ext cx="1737360" cy="274320"/>
          </a:xfrm>
          <a:prstGeom prst="roundRect">
            <a:avLst>
              <a:gd name="adj" fmla="val 50000"/>
            </a:avLst>
          </a:prstGeom>
          <a:solidFill>
            <a:srgbClr val="FCF0D6"/>
          </a:solidFill>
          <a:ln/>
        </p:spPr>
      </p:sp>
      <p:sp>
        <p:nvSpPr>
          <p:cNvPr id="7" name="Text 5"/>
          <p:cNvSpPr txBox="1"/>
          <p:nvPr/>
        </p:nvSpPr>
        <p:spPr>
          <a:xfrm>
            <a:off x="3017520" y="1737360"/>
            <a:ext cx="1737360" cy="274320"/>
          </a:xfrm>
          <a:prstGeom prst="rect">
            <a:avLst/>
          </a:prstGeom>
          <a:noFill/>
          <a:ln/>
        </p:spPr>
        <p:txBody>
          <a:bodyPr wrap="square" lIns="0" tIns="0" rIns="0" bIns="0" rtlCol="0" anchor="ctr"/>
          <a:lstStyle/>
          <a:p>
            <a:pPr algn="ctr" indent="0" marL="0">
              <a:buNone/>
            </a:pPr>
            <a:r>
              <a:rPr lang="en-US" sz="1100" b="1" dirty="0">
                <a:solidFill>
                  <a:srgbClr val="8A5A00"/>
                </a:solidFill>
                <a:latin typeface="Calibri" pitchFamily="34" charset="0"/>
                <a:ea typeface="Calibri" pitchFamily="34" charset="-122"/>
                <a:cs typeface="Calibri" pitchFamily="34" charset="-120"/>
              </a:rPr>
              <a:t>AMBER: check this</a:t>
            </a:r>
            <a:endParaRPr lang="en-US" sz="1100" dirty="0"/>
          </a:p>
        </p:txBody>
      </p:sp>
      <p:sp>
        <p:nvSpPr>
          <p:cNvPr id="8" name="Text 6"/>
          <p:cNvSpPr txBox="1"/>
          <p:nvPr/>
        </p:nvSpPr>
        <p:spPr>
          <a:xfrm>
            <a:off x="777240" y="2194560"/>
            <a:ext cx="512064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Quantities do not add up</a:t>
            </a:r>
            <a:endParaRPr lang="en-US" sz="1800" dirty="0"/>
          </a:p>
        </p:txBody>
      </p:sp>
      <p:sp>
        <p:nvSpPr>
          <p:cNvPr id="9" name="Shape 7"/>
          <p:cNvSpPr/>
          <p:nvPr/>
        </p:nvSpPr>
        <p:spPr>
          <a:xfrm>
            <a:off x="777240" y="2697480"/>
            <a:ext cx="1600200" cy="1051560"/>
          </a:xfrm>
          <a:prstGeom prst="roundRect">
            <a:avLst>
              <a:gd name="adj" fmla="val 8696"/>
            </a:avLst>
          </a:prstGeom>
          <a:solidFill>
            <a:srgbClr val="EEF5CF"/>
          </a:solidFill>
          <a:ln/>
        </p:spPr>
      </p:sp>
      <p:sp>
        <p:nvSpPr>
          <p:cNvPr id="10" name="Text 8"/>
          <p:cNvSpPr txBox="1"/>
          <p:nvPr/>
        </p:nvSpPr>
        <p:spPr>
          <a:xfrm>
            <a:off x="777240" y="2743200"/>
            <a:ext cx="1600200" cy="502920"/>
          </a:xfrm>
          <a:prstGeom prst="rect">
            <a:avLst/>
          </a:prstGeom>
          <a:noFill/>
          <a:ln/>
        </p:spPr>
        <p:txBody>
          <a:bodyPr wrap="square" lIns="0" tIns="0" rIns="0" bIns="0" rtlCol="0" anchor="t"/>
          <a:lstStyle/>
          <a:p>
            <a:pPr algn="ctr" indent="0" marL="0">
              <a:buNone/>
            </a:pPr>
            <a:r>
              <a:rPr lang="en-US" sz="3200" b="1" dirty="0">
                <a:solidFill>
                  <a:schemeClr val="tx1"/>
                </a:solidFill>
                <a:latin typeface="Calibri" pitchFamily="34" charset="0"/>
                <a:ea typeface="Calibri" pitchFamily="34" charset="-122"/>
                <a:cs typeface="Calibri" pitchFamily="34" charset="-120"/>
              </a:rPr>
              <a:t>1,080</a:t>
            </a:r>
            <a:endParaRPr lang="en-US" sz="3200" dirty="0"/>
          </a:p>
        </p:txBody>
      </p:sp>
      <p:sp>
        <p:nvSpPr>
          <p:cNvPr id="11" name="Text 9"/>
          <p:cNvSpPr txBox="1"/>
          <p:nvPr/>
        </p:nvSpPr>
        <p:spPr>
          <a:xfrm>
            <a:off x="777240" y="3310128"/>
            <a:ext cx="1600200" cy="274320"/>
          </a:xfrm>
          <a:prstGeom prst="rect">
            <a:avLst/>
          </a:prstGeom>
          <a:noFill/>
          <a:ln/>
        </p:spPr>
        <p:txBody>
          <a:bodyPr wrap="square" lIns="0" tIns="0" rIns="0" bIns="0" rtlCol="0" anchor="t"/>
          <a:lstStyle/>
          <a:p>
            <a:pPr algn="ctr" indent="0" marL="0">
              <a:buNone/>
            </a:pPr>
            <a:r>
              <a:rPr lang="en-US" sz="1200" dirty="0">
                <a:solidFill>
                  <a:srgbClr val="3A3D42"/>
                </a:solidFill>
                <a:latin typeface="Calibri" pitchFamily="34" charset="0"/>
                <a:ea typeface="Calibri" pitchFamily="34" charset="-122"/>
                <a:cs typeface="Calibri" pitchFamily="34" charset="-120"/>
              </a:rPr>
              <a:t>units declared</a:t>
            </a:r>
            <a:endParaRPr lang="en-US" sz="1200" dirty="0"/>
          </a:p>
        </p:txBody>
      </p:sp>
      <p:sp>
        <p:nvSpPr>
          <p:cNvPr id="12" name="Text 10"/>
          <p:cNvSpPr txBox="1"/>
          <p:nvPr/>
        </p:nvSpPr>
        <p:spPr>
          <a:xfrm>
            <a:off x="2377440" y="2926080"/>
            <a:ext cx="411480" cy="548640"/>
          </a:xfrm>
          <a:prstGeom prst="rect">
            <a:avLst/>
          </a:prstGeom>
          <a:noFill/>
          <a:ln/>
        </p:spPr>
        <p:txBody>
          <a:bodyPr wrap="square" lIns="0" tIns="0" rIns="0" bIns="0" rtlCol="0" anchor="t"/>
          <a:lstStyle/>
          <a:p>
            <a:pPr algn="ctr" indent="0" marL="0">
              <a:buNone/>
            </a:pPr>
            <a:r>
              <a:rPr lang="en-US" sz="2800" b="1" dirty="0">
                <a:solidFill>
                  <a:schemeClr val="accent3"/>
                </a:solidFill>
                <a:latin typeface="Calibri" pitchFamily="34" charset="0"/>
                <a:ea typeface="Calibri" pitchFamily="34" charset="-122"/>
                <a:cs typeface="Calibri" pitchFamily="34" charset="-120"/>
              </a:rPr>
              <a:t>≠</a:t>
            </a:r>
            <a:endParaRPr lang="en-US" sz="2800" dirty="0"/>
          </a:p>
        </p:txBody>
      </p:sp>
      <p:sp>
        <p:nvSpPr>
          <p:cNvPr id="13" name="Shape 11"/>
          <p:cNvSpPr/>
          <p:nvPr/>
        </p:nvSpPr>
        <p:spPr>
          <a:xfrm>
            <a:off x="2788920" y="2697480"/>
            <a:ext cx="1600200" cy="1051560"/>
          </a:xfrm>
          <a:prstGeom prst="roundRect">
            <a:avLst>
              <a:gd name="adj" fmla="val 8696"/>
            </a:avLst>
          </a:prstGeom>
          <a:solidFill>
            <a:srgbClr val="FBE4E2"/>
          </a:solidFill>
          <a:ln/>
        </p:spPr>
      </p:sp>
      <p:sp>
        <p:nvSpPr>
          <p:cNvPr id="14" name="Text 12"/>
          <p:cNvSpPr txBox="1"/>
          <p:nvPr/>
        </p:nvSpPr>
        <p:spPr>
          <a:xfrm>
            <a:off x="2788920" y="2743200"/>
            <a:ext cx="1600200" cy="502920"/>
          </a:xfrm>
          <a:prstGeom prst="rect">
            <a:avLst/>
          </a:prstGeom>
          <a:noFill/>
          <a:ln/>
        </p:spPr>
        <p:txBody>
          <a:bodyPr wrap="square" lIns="0" tIns="0" rIns="0" bIns="0" rtlCol="0" anchor="t"/>
          <a:lstStyle/>
          <a:p>
            <a:pPr algn="ctr" indent="0" marL="0">
              <a:buNone/>
            </a:pPr>
            <a:r>
              <a:rPr lang="en-US" sz="3200" b="1" dirty="0">
                <a:solidFill>
                  <a:srgbClr val="A12B2B"/>
                </a:solidFill>
                <a:latin typeface="Calibri" pitchFamily="34" charset="0"/>
                <a:ea typeface="Calibri" pitchFamily="34" charset="-122"/>
                <a:cs typeface="Calibri" pitchFamily="34" charset="-120"/>
              </a:rPr>
              <a:t>960</a:t>
            </a:r>
            <a:endParaRPr lang="en-US" sz="3200" dirty="0"/>
          </a:p>
        </p:txBody>
      </p:sp>
      <p:sp>
        <p:nvSpPr>
          <p:cNvPr id="15" name="Text 13"/>
          <p:cNvSpPr txBox="1"/>
          <p:nvPr/>
        </p:nvSpPr>
        <p:spPr>
          <a:xfrm>
            <a:off x="2788920" y="3310128"/>
            <a:ext cx="1600200" cy="274320"/>
          </a:xfrm>
          <a:prstGeom prst="rect">
            <a:avLst/>
          </a:prstGeom>
          <a:noFill/>
          <a:ln/>
        </p:spPr>
        <p:txBody>
          <a:bodyPr wrap="square" lIns="0" tIns="0" rIns="0" bIns="0" rtlCol="0" anchor="t"/>
          <a:lstStyle/>
          <a:p>
            <a:pPr algn="ctr" indent="0" marL="0">
              <a:buNone/>
            </a:pPr>
            <a:r>
              <a:rPr lang="en-US" sz="1200" dirty="0">
                <a:solidFill>
                  <a:srgbClr val="3A3D42"/>
                </a:solidFill>
                <a:latin typeface="Calibri" pitchFamily="34" charset="0"/>
                <a:ea typeface="Calibri" pitchFamily="34" charset="-122"/>
                <a:cs typeface="Calibri" pitchFamily="34" charset="-120"/>
              </a:rPr>
              <a:t>12 per carton × 80</a:t>
            </a:r>
            <a:endParaRPr lang="en-US" sz="1200" dirty="0"/>
          </a:p>
        </p:txBody>
      </p:sp>
      <p:sp>
        <p:nvSpPr>
          <p:cNvPr id="16" name="Shape 14"/>
          <p:cNvSpPr/>
          <p:nvPr/>
        </p:nvSpPr>
        <p:spPr>
          <a:xfrm>
            <a:off x="4526280" y="2697480"/>
            <a:ext cx="1417320" cy="1051560"/>
          </a:xfrm>
          <a:prstGeom prst="roundRect">
            <a:avLst>
              <a:gd name="adj" fmla="val 8696"/>
            </a:avLst>
          </a:prstGeom>
          <a:solidFill>
            <a:schemeClr val="tx1"/>
          </a:solidFill>
          <a:ln/>
        </p:spPr>
      </p:sp>
      <p:sp>
        <p:nvSpPr>
          <p:cNvPr id="17" name="Text 15"/>
          <p:cNvSpPr txBox="1"/>
          <p:nvPr/>
        </p:nvSpPr>
        <p:spPr>
          <a:xfrm>
            <a:off x="4526280" y="2743200"/>
            <a:ext cx="1417320" cy="502920"/>
          </a:xfrm>
          <a:prstGeom prst="rect">
            <a:avLst/>
          </a:prstGeom>
          <a:noFill/>
          <a:ln/>
        </p:spPr>
        <p:txBody>
          <a:bodyPr wrap="square" lIns="0" tIns="0" rIns="0" bIns="0" rtlCol="0" anchor="t"/>
          <a:lstStyle/>
          <a:p>
            <a:pPr algn="ctr" indent="0" marL="0">
              <a:buNone/>
            </a:pPr>
            <a:r>
              <a:rPr lang="en-US" sz="3200" b="1" dirty="0">
                <a:solidFill>
                  <a:schemeClr val="accent1"/>
                </a:solidFill>
                <a:latin typeface="Calibri" pitchFamily="34" charset="0"/>
                <a:ea typeface="Calibri" pitchFamily="34" charset="-122"/>
                <a:cs typeface="Calibri" pitchFamily="34" charset="-120"/>
              </a:rPr>
              <a:t>120</a:t>
            </a:r>
            <a:endParaRPr lang="en-US" sz="3200" dirty="0"/>
          </a:p>
        </p:txBody>
      </p:sp>
      <p:sp>
        <p:nvSpPr>
          <p:cNvPr id="18" name="Text 16"/>
          <p:cNvSpPr txBox="1"/>
          <p:nvPr/>
        </p:nvSpPr>
        <p:spPr>
          <a:xfrm>
            <a:off x="4526280" y="3310128"/>
            <a:ext cx="1417320" cy="274320"/>
          </a:xfrm>
          <a:prstGeom prst="rect">
            <a:avLst/>
          </a:prstGeom>
          <a:noFill/>
          <a:ln/>
        </p:spPr>
        <p:txBody>
          <a:bodyPr wrap="square" lIns="0" tIns="0" rIns="0" bIns="0" rtlCol="0" anchor="t"/>
          <a:lstStyle/>
          <a:p>
            <a:pPr algn="ctr" indent="0" marL="0">
              <a:buNone/>
            </a:pPr>
            <a:r>
              <a:rPr lang="en-US" sz="1200" dirty="0">
                <a:solidFill>
                  <a:srgbClr val="C9CCD1"/>
                </a:solidFill>
                <a:latin typeface="Calibri" pitchFamily="34" charset="0"/>
                <a:ea typeface="Calibri" pitchFamily="34" charset="-122"/>
                <a:cs typeface="Calibri" pitchFamily="34" charset="-120"/>
              </a:rPr>
              <a:t>units unaccounted</a:t>
            </a:r>
            <a:endParaRPr lang="en-US" sz="1200" dirty="0"/>
          </a:p>
        </p:txBody>
      </p:sp>
      <p:sp>
        <p:nvSpPr>
          <p:cNvPr id="19" name="Text 17"/>
          <p:cNvSpPr txBox="1"/>
          <p:nvPr/>
        </p:nvSpPr>
        <p:spPr>
          <a:xfrm>
            <a:off x="777240" y="3977640"/>
            <a:ext cx="5120640" cy="731520"/>
          </a:xfrm>
          <a:prstGeom prst="rect">
            <a:avLst/>
          </a:prstGeom>
          <a:noFill/>
          <a:ln/>
        </p:spPr>
        <p:txBody>
          <a:bodyPr wrap="square" lIns="0" tIns="0" rIns="0" bIns="0" rtlCol="0" anchor="t"/>
          <a:lstStyle/>
          <a:p>
            <a:pPr algn="l" indent="0" marL="0">
              <a:buNone/>
            </a:pPr>
            <a:r>
              <a:rPr lang="en-US" sz="1500" b="1" dirty="0">
                <a:solidFill>
                  <a:schemeClr val="tx1"/>
                </a:solidFill>
                <a:latin typeface="Calibri" pitchFamily="34" charset="0"/>
                <a:ea typeface="Calibri" pitchFamily="34" charset="-122"/>
                <a:cs typeface="Calibri" pitchFamily="34" charset="-120"/>
              </a:rPr>
              <a:t>The fix, in plain words: </a:t>
            </a:r>
            <a:pPr algn="l" indent="0" marL="0">
              <a:buNone/>
            </a:pPr>
            <a:r>
              <a:rPr lang="en-US" sz="1500" dirty="0">
                <a:solidFill>
                  <a:schemeClr val="tx1"/>
                </a:solidFill>
                <a:latin typeface="Calibri" pitchFamily="34" charset="0"/>
                <a:ea typeface="Calibri" pitchFamily="34" charset="-122"/>
                <a:cs typeface="Calibri" pitchFamily="34" charset="-120"/>
              </a:rPr>
              <a:t>change cartons to 90, or the quantity to 960, after checking the stock.</a:t>
            </a:r>
            <a:endParaRPr lang="en-US" sz="1500" dirty="0"/>
          </a:p>
        </p:txBody>
      </p:sp>
      <p:sp>
        <p:nvSpPr>
          <p:cNvPr id="20" name="Text 18"/>
          <p:cNvSpPr txBox="1"/>
          <p:nvPr/>
        </p:nvSpPr>
        <p:spPr>
          <a:xfrm>
            <a:off x="777240" y="4754880"/>
            <a:ext cx="5120640" cy="457200"/>
          </a:xfrm>
          <a:prstGeom prst="rect">
            <a:avLst/>
          </a:prstGeom>
          <a:noFill/>
          <a:ln/>
        </p:spPr>
        <p:txBody>
          <a:bodyPr wrap="square" lIns="0" tIns="0" rIns="0" bIns="0" rtlCol="0" anchor="t"/>
          <a:lstStyle/>
          <a:p>
            <a:pPr algn="l" indent="0" marL="0">
              <a:buNone/>
            </a:pPr>
            <a:r>
              <a:rPr lang="en-US" sz="1400" dirty="0">
                <a:solidFill>
                  <a:schemeClr val="accent5"/>
                </a:solidFill>
                <a:latin typeface="Calibri" pitchFamily="34" charset="0"/>
                <a:ea typeface="Calibri" pitchFamily="34" charset="-122"/>
                <a:cs typeface="Calibri" pitchFamily="34" charset="-120"/>
              </a:rPr>
              <a:t>You get a recommendation, not just an error message.</a:t>
            </a:r>
            <a:endParaRPr lang="en-US" sz="1400" dirty="0"/>
          </a:p>
        </p:txBody>
      </p:sp>
      <p:sp>
        <p:nvSpPr>
          <p:cNvPr id="21" name="Text 19"/>
          <p:cNvSpPr txBox="1"/>
          <p:nvPr/>
        </p:nvSpPr>
        <p:spPr>
          <a:xfrm>
            <a:off x="6492240" y="1554480"/>
            <a:ext cx="512064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Choose shipping by what matters most</a:t>
            </a:r>
            <a:endParaRPr lang="en-US" sz="1800" dirty="0"/>
          </a:p>
        </p:txBody>
      </p:sp>
      <p:sp>
        <p:nvSpPr>
          <p:cNvPr id="22" name="Shape 20"/>
          <p:cNvSpPr/>
          <p:nvPr/>
        </p:nvSpPr>
        <p:spPr>
          <a:xfrm>
            <a:off x="6492240" y="1965960"/>
            <a:ext cx="5120640" cy="3268980"/>
          </a:xfrm>
          <a:prstGeom prst="roundRect">
            <a:avLst>
              <a:gd name="adj" fmla="val 2797"/>
            </a:avLst>
          </a:prstGeom>
          <a:solidFill>
            <a:schemeClr val="bg1"/>
          </a:solidFill>
          <a:ln w="9525">
            <a:solidFill>
              <a:srgbClr val="DADCD6"/>
            </a:solidFill>
            <a:prstDash val="solid"/>
          </a:ln>
          <a:effectLst>
            <a:outerShdw sx="100000" sy="100000" kx="0" ky="0" algn="bl" rotWithShape="0" blurRad="127000" dist="38100" dir="5400000">
              <a:srgbClr val="000000">
                <a:alpha val="12000"/>
              </a:srgbClr>
            </a:outerShdw>
          </a:effectLst>
        </p:spPr>
      </p:sp>
      <p:pic>
        <p:nvPicPr>
          <p:cNvPr id="23" name="Image 0" descr="Carrier options with price, days and reliability">    </p:cNvPr>
          <p:cNvPicPr>
            <a:picLocks noChangeAspect="1"/>
          </p:cNvPicPr>
          <p:nvPr/>
        </p:nvPicPr>
        <p:blipFill>
          <a:blip r:embed="rId1"/>
          <a:stretch>
            <a:fillRect/>
          </a:stretch>
        </p:blipFill>
        <p:spPr>
          <a:xfrm>
            <a:off x="6537960" y="2011680"/>
            <a:ext cx="5029200" cy="3177540"/>
          </a:xfrm>
          <a:prstGeom prst="rect">
            <a:avLst/>
          </a:prstGeom>
        </p:spPr>
      </p:pic>
      <p:sp>
        <p:nvSpPr>
          <p:cNvPr id="24" name="Shape 21"/>
          <p:cNvSpPr/>
          <p:nvPr/>
        </p:nvSpPr>
        <p:spPr>
          <a:xfrm>
            <a:off x="6537960" y="5349240"/>
            <a:ext cx="1188720" cy="365760"/>
          </a:xfrm>
          <a:prstGeom prst="roundRect">
            <a:avLst>
              <a:gd name="adj" fmla="val 50000"/>
            </a:avLst>
          </a:prstGeom>
          <a:solidFill>
            <a:schemeClr val="accent1"/>
          </a:solidFill>
          <a:ln/>
        </p:spPr>
      </p:sp>
      <p:sp>
        <p:nvSpPr>
          <p:cNvPr id="25" name="Text 22"/>
          <p:cNvSpPr txBox="1"/>
          <p:nvPr/>
        </p:nvSpPr>
        <p:spPr>
          <a:xfrm>
            <a:off x="6537960" y="5349240"/>
            <a:ext cx="118872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Cheapest</a:t>
            </a:r>
            <a:endParaRPr lang="en-US" sz="1300" dirty="0"/>
          </a:p>
        </p:txBody>
      </p:sp>
      <p:sp>
        <p:nvSpPr>
          <p:cNvPr id="26" name="Shape 23"/>
          <p:cNvSpPr/>
          <p:nvPr/>
        </p:nvSpPr>
        <p:spPr>
          <a:xfrm>
            <a:off x="7818120" y="5349240"/>
            <a:ext cx="1188720" cy="365760"/>
          </a:xfrm>
          <a:prstGeom prst="roundRect">
            <a:avLst>
              <a:gd name="adj" fmla="val 50000"/>
            </a:avLst>
          </a:prstGeom>
          <a:solidFill>
            <a:schemeClr val="accent1"/>
          </a:solidFill>
          <a:ln/>
        </p:spPr>
      </p:sp>
      <p:sp>
        <p:nvSpPr>
          <p:cNvPr id="27" name="Text 24"/>
          <p:cNvSpPr txBox="1"/>
          <p:nvPr/>
        </p:nvSpPr>
        <p:spPr>
          <a:xfrm>
            <a:off x="7818120" y="5349240"/>
            <a:ext cx="118872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Fastest</a:t>
            </a:r>
            <a:endParaRPr lang="en-US" sz="1300" dirty="0"/>
          </a:p>
        </p:txBody>
      </p:sp>
      <p:sp>
        <p:nvSpPr>
          <p:cNvPr id="28" name="Shape 25"/>
          <p:cNvSpPr/>
          <p:nvPr/>
        </p:nvSpPr>
        <p:spPr>
          <a:xfrm>
            <a:off x="9098280" y="5349240"/>
            <a:ext cx="1188720" cy="365760"/>
          </a:xfrm>
          <a:prstGeom prst="roundRect">
            <a:avLst>
              <a:gd name="adj" fmla="val 50000"/>
            </a:avLst>
          </a:prstGeom>
          <a:solidFill>
            <a:schemeClr val="accent1"/>
          </a:solidFill>
          <a:ln/>
        </p:spPr>
      </p:sp>
      <p:sp>
        <p:nvSpPr>
          <p:cNvPr id="29" name="Text 26"/>
          <p:cNvSpPr txBox="1"/>
          <p:nvPr/>
        </p:nvSpPr>
        <p:spPr>
          <a:xfrm>
            <a:off x="9098280" y="5349240"/>
            <a:ext cx="118872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Most reliable</a:t>
            </a:r>
            <a:endParaRPr lang="en-US" sz="1300" dirty="0"/>
          </a:p>
        </p:txBody>
      </p:sp>
      <p:sp>
        <p:nvSpPr>
          <p:cNvPr id="30" name="Shape 27"/>
          <p:cNvSpPr/>
          <p:nvPr/>
        </p:nvSpPr>
        <p:spPr>
          <a:xfrm>
            <a:off x="10378440" y="5349240"/>
            <a:ext cx="1188720" cy="365760"/>
          </a:xfrm>
          <a:prstGeom prst="roundRect">
            <a:avLst>
              <a:gd name="adj" fmla="val 50000"/>
            </a:avLst>
          </a:prstGeom>
          <a:solidFill>
            <a:schemeClr val="accent1"/>
          </a:solidFill>
          <a:ln/>
        </p:spPr>
      </p:sp>
      <p:sp>
        <p:nvSpPr>
          <p:cNvPr id="31" name="Text 28"/>
          <p:cNvSpPr txBox="1"/>
          <p:nvPr/>
        </p:nvSpPr>
        <p:spPr>
          <a:xfrm>
            <a:off x="10378440" y="5349240"/>
            <a:ext cx="118872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Balanced</a:t>
            </a:r>
            <a:endParaRPr lang="en-US" sz="1300" dirty="0"/>
          </a:p>
        </p:txBody>
      </p:sp>
      <p:sp>
        <p:nvSpPr>
          <p:cNvPr id="32" name="Text 29"/>
          <p:cNvSpPr txBox="1"/>
          <p:nvPr/>
        </p:nvSpPr>
        <p:spPr>
          <a:xfrm>
            <a:off x="548640" y="5897880"/>
            <a:ext cx="7315200" cy="274320"/>
          </a:xfrm>
          <a:prstGeom prst="rect">
            <a:avLst/>
          </a:prstGeom>
          <a:noFill/>
          <a:ln/>
        </p:spPr>
        <p:txBody>
          <a:bodyPr wrap="square" lIns="0" tIns="0" rIns="0" bIns="0" rtlCol="0" anchor="t"/>
          <a:lstStyle/>
          <a:p>
            <a:pPr algn="l" indent="0" marL="0">
              <a:buNone/>
            </a:pPr>
            <a:r>
              <a:rPr lang="en-US" sz="1100" dirty="0">
                <a:solidFill>
                  <a:schemeClr val="accent5"/>
                </a:solidFill>
                <a:latin typeface="Calibri" pitchFamily="34" charset="0"/>
                <a:ea typeface="Calibri" pitchFamily="34" charset="-122"/>
                <a:cs typeface="Calibri" pitchFamily="34" charset="-120"/>
              </a:rPr>
              <a:t>Example values from the hackathon sample data.</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914400"/>
          </a:xfrm>
          <a:prstGeom prst="rect">
            <a:avLst/>
          </a:prstGeom>
          <a:noFill/>
          <a:ln/>
        </p:spPr>
        <p:txBody>
          <a:bodyPr wrap="square" lIns="0" tIns="0" rIns="0" bIns="0" rtlCol="0" anchor="t"/>
          <a:lstStyle/>
          <a:p>
            <a:pPr algn="l" indent="0" marL="0">
              <a:buNone/>
            </a:pPr>
            <a:r>
              <a:rPr lang="en-US" sz="3000" b="1" dirty="0">
                <a:solidFill>
                  <a:schemeClr val="tx1"/>
                </a:solidFill>
                <a:latin typeface="Calibri" pitchFamily="34" charset="0"/>
                <a:ea typeface="Calibri" pitchFamily="34" charset="-122"/>
                <a:cs typeface="Calibri" pitchFamily="34" charset="-120"/>
              </a:rPr>
              <a:t>What changes for the business?</a:t>
            </a:r>
            <a:endParaRPr lang="en-US" sz="3000" dirty="0"/>
          </a:p>
        </p:txBody>
      </p:sp>
      <p:sp>
        <p:nvSpPr>
          <p:cNvPr id="3" name="Text 1"/>
          <p:cNvSpPr txBox="1"/>
          <p:nvPr/>
        </p:nvSpPr>
        <p:spPr>
          <a:xfrm>
            <a:off x="548640" y="1463040"/>
            <a:ext cx="530352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latin typeface="Calibri" pitchFamily="34" charset="0"/>
                <a:ea typeface="Calibri" pitchFamily="34" charset="-122"/>
                <a:cs typeface="Calibri" pitchFamily="34" charset="-120"/>
              </a:rPr>
              <a:t>BEFORE</a:t>
            </a:r>
            <a:endParaRPr lang="en-US" sz="1200" dirty="0"/>
          </a:p>
        </p:txBody>
      </p:sp>
      <p:sp>
        <p:nvSpPr>
          <p:cNvPr id="4" name="Shape 2"/>
          <p:cNvSpPr/>
          <p:nvPr/>
        </p:nvSpPr>
        <p:spPr>
          <a:xfrm>
            <a:off x="6309360" y="1463040"/>
            <a:ext cx="1737360" cy="274320"/>
          </a:xfrm>
          <a:prstGeom prst="roundRect">
            <a:avLst>
              <a:gd name="adj" fmla="val 50000"/>
            </a:avLst>
          </a:prstGeom>
          <a:solidFill>
            <a:schemeClr val="accent1"/>
          </a:solidFill>
          <a:ln/>
        </p:spPr>
      </p:sp>
      <p:sp>
        <p:nvSpPr>
          <p:cNvPr id="5" name="Text 3"/>
          <p:cNvSpPr txBox="1"/>
          <p:nvPr/>
        </p:nvSpPr>
        <p:spPr>
          <a:xfrm>
            <a:off x="6309360" y="1463040"/>
            <a:ext cx="1737360" cy="274320"/>
          </a:xfrm>
          <a:prstGeom prst="rect">
            <a:avLst/>
          </a:prstGeom>
          <a:noFill/>
          <a:ln/>
        </p:spPr>
        <p:txBody>
          <a:bodyPr wrap="square" lIns="0" tIns="0" rIns="0" bIns="0" rtlCol="0" anchor="ctr"/>
          <a:lstStyle/>
          <a:p>
            <a:pPr algn="ctr" indent="0" marL="0">
              <a:buNone/>
            </a:pPr>
            <a:r>
              <a:rPr lang="en-US" sz="1100" b="1" spc="100" kern="0" dirty="0">
                <a:solidFill>
                  <a:schemeClr val="tx1"/>
                </a:solidFill>
                <a:latin typeface="Calibri" pitchFamily="34" charset="0"/>
                <a:ea typeface="Calibri" pitchFamily="34" charset="-122"/>
                <a:cs typeface="Calibri" pitchFamily="34" charset="-120"/>
              </a:rPr>
              <a:t>WITH SHIPMENTOS</a:t>
            </a:r>
            <a:endParaRPr lang="en-US" sz="1100" dirty="0"/>
          </a:p>
        </p:txBody>
      </p:sp>
      <p:sp>
        <p:nvSpPr>
          <p:cNvPr id="6" name="Shape 4"/>
          <p:cNvSpPr/>
          <p:nvPr/>
        </p:nvSpPr>
        <p:spPr>
          <a:xfrm>
            <a:off x="548640" y="1874520"/>
            <a:ext cx="5394960" cy="457200"/>
          </a:xfrm>
          <a:prstGeom prst="roundRect">
            <a:avLst>
              <a:gd name="adj" fmla="val 20000"/>
            </a:avLst>
          </a:prstGeom>
          <a:solidFill>
            <a:srgbClr val="E9EAE5"/>
          </a:solidFill>
          <a:ln/>
        </p:spPr>
      </p:sp>
      <p:sp>
        <p:nvSpPr>
          <p:cNvPr id="7" name="Text 5"/>
          <p:cNvSpPr txBox="1"/>
          <p:nvPr/>
        </p:nvSpPr>
        <p:spPr>
          <a:xfrm>
            <a:off x="731520" y="1874520"/>
            <a:ext cx="5029200" cy="457200"/>
          </a:xfrm>
          <a:prstGeom prst="rect">
            <a:avLst/>
          </a:prstGeom>
          <a:noFill/>
          <a:ln/>
        </p:spPr>
        <p:txBody>
          <a:bodyPr wrap="square" lIns="0" tIns="0" rIns="0" bIns="0" rtlCol="0" anchor="ctr"/>
          <a:lstStyle/>
          <a:p>
            <a:pPr algn="l" indent="0" marL="0">
              <a:buNone/>
            </a:pPr>
            <a:r>
              <a:rPr lang="en-US" sz="1500" dirty="0">
                <a:solidFill>
                  <a:srgbClr val="4A4E54"/>
                </a:solidFill>
                <a:latin typeface="Calibri" pitchFamily="34" charset="0"/>
                <a:ea typeface="Calibri" pitchFamily="34" charset="-122"/>
                <a:cs typeface="Calibri" pitchFamily="34" charset="-120"/>
              </a:rPr>
              <a:t>Manual booking effort</a:t>
            </a:r>
            <a:endParaRPr lang="en-US" sz="1500" dirty="0"/>
          </a:p>
        </p:txBody>
      </p:sp>
      <p:sp>
        <p:nvSpPr>
          <p:cNvPr id="8" name="Shape 6"/>
          <p:cNvSpPr/>
          <p:nvPr/>
        </p:nvSpPr>
        <p:spPr>
          <a:xfrm>
            <a:off x="6016752" y="1965960"/>
            <a:ext cx="182880" cy="274320"/>
          </a:xfrm>
          <a:prstGeom prst="chevron">
            <a:avLst/>
          </a:prstGeom>
          <a:solidFill>
            <a:schemeClr val="accent1"/>
          </a:solidFill>
          <a:ln w="12700">
            <a:solidFill>
              <a:schemeClr val="accent1"/>
            </a:solidFill>
            <a:prstDash val="solid"/>
          </a:ln>
        </p:spPr>
      </p:sp>
      <p:sp>
        <p:nvSpPr>
          <p:cNvPr id="9" name="Shape 7"/>
          <p:cNvSpPr/>
          <p:nvPr/>
        </p:nvSpPr>
        <p:spPr>
          <a:xfrm>
            <a:off x="6309360" y="1874520"/>
            <a:ext cx="5330952" cy="457200"/>
          </a:xfrm>
          <a:prstGeom prst="roundRect">
            <a:avLst>
              <a:gd name="adj" fmla="val 20000"/>
            </a:avLst>
          </a:prstGeom>
          <a:solidFill>
            <a:schemeClr val="bg1"/>
          </a:solidFill>
          <a:ln w="19050">
            <a:solidFill>
              <a:schemeClr val="accent1"/>
            </a:solidFill>
            <a:prstDash val="solid"/>
          </a:ln>
        </p:spPr>
      </p:sp>
      <p:sp>
        <p:nvSpPr>
          <p:cNvPr id="10" name="Text 8"/>
          <p:cNvSpPr txBox="1"/>
          <p:nvPr/>
        </p:nvSpPr>
        <p:spPr>
          <a:xfrm>
            <a:off x="6492240" y="1874520"/>
            <a:ext cx="4937760" cy="457200"/>
          </a:xfrm>
          <a:prstGeom prst="rect">
            <a:avLst/>
          </a:prstGeom>
          <a:noFill/>
          <a:ln/>
        </p:spPr>
        <p:txBody>
          <a:bodyPr wrap="square" lIns="0" tIns="0" rIns="0" bIns="0" rtlCol="0" anchor="ctr"/>
          <a:lstStyle/>
          <a:p>
            <a:pPr algn="l" indent="0" marL="0">
              <a:buNone/>
            </a:pPr>
            <a:r>
              <a:rPr lang="en-US" sz="1500" b="1" dirty="0">
                <a:solidFill>
                  <a:schemeClr val="tx1"/>
                </a:solidFill>
                <a:latin typeface="Calibri" pitchFamily="34" charset="0"/>
                <a:ea typeface="Calibri" pitchFamily="34" charset="-122"/>
                <a:cs typeface="Calibri" pitchFamily="34" charset="-120"/>
              </a:rPr>
              <a:t>Guided booking creation</a:t>
            </a:r>
            <a:endParaRPr lang="en-US" sz="1500" dirty="0"/>
          </a:p>
        </p:txBody>
      </p:sp>
      <p:sp>
        <p:nvSpPr>
          <p:cNvPr id="11" name="Shape 9"/>
          <p:cNvSpPr/>
          <p:nvPr/>
        </p:nvSpPr>
        <p:spPr>
          <a:xfrm>
            <a:off x="548640" y="2404872"/>
            <a:ext cx="5394960" cy="457200"/>
          </a:xfrm>
          <a:prstGeom prst="roundRect">
            <a:avLst>
              <a:gd name="adj" fmla="val 20000"/>
            </a:avLst>
          </a:prstGeom>
          <a:solidFill>
            <a:srgbClr val="E9EAE5"/>
          </a:solidFill>
          <a:ln/>
        </p:spPr>
      </p:sp>
      <p:sp>
        <p:nvSpPr>
          <p:cNvPr id="12" name="Text 10"/>
          <p:cNvSpPr txBox="1"/>
          <p:nvPr/>
        </p:nvSpPr>
        <p:spPr>
          <a:xfrm>
            <a:off x="731520" y="2404872"/>
            <a:ext cx="5029200" cy="457200"/>
          </a:xfrm>
          <a:prstGeom prst="rect">
            <a:avLst/>
          </a:prstGeom>
          <a:noFill/>
          <a:ln/>
        </p:spPr>
        <p:txBody>
          <a:bodyPr wrap="square" lIns="0" tIns="0" rIns="0" bIns="0" rtlCol="0" anchor="ctr"/>
          <a:lstStyle/>
          <a:p>
            <a:pPr algn="l" indent="0" marL="0">
              <a:buNone/>
            </a:pPr>
            <a:r>
              <a:rPr lang="en-US" sz="1500" dirty="0">
                <a:solidFill>
                  <a:srgbClr val="4A4E54"/>
                </a:solidFill>
                <a:latin typeface="Calibri" pitchFamily="34" charset="0"/>
                <a:ea typeface="Calibri" pitchFamily="34" charset="-122"/>
                <a:cs typeface="Calibri" pitchFamily="34" charset="-120"/>
              </a:rPr>
              <a:t>Confusing information requirements</a:t>
            </a:r>
            <a:endParaRPr lang="en-US" sz="1500" dirty="0"/>
          </a:p>
        </p:txBody>
      </p:sp>
      <p:sp>
        <p:nvSpPr>
          <p:cNvPr id="13" name="Shape 11"/>
          <p:cNvSpPr/>
          <p:nvPr/>
        </p:nvSpPr>
        <p:spPr>
          <a:xfrm>
            <a:off x="6016752" y="2496312"/>
            <a:ext cx="182880" cy="274320"/>
          </a:xfrm>
          <a:prstGeom prst="chevron">
            <a:avLst/>
          </a:prstGeom>
          <a:solidFill>
            <a:schemeClr val="accent1"/>
          </a:solidFill>
          <a:ln w="12700">
            <a:solidFill>
              <a:schemeClr val="accent1"/>
            </a:solidFill>
            <a:prstDash val="solid"/>
          </a:ln>
        </p:spPr>
      </p:sp>
      <p:sp>
        <p:nvSpPr>
          <p:cNvPr id="14" name="Shape 12"/>
          <p:cNvSpPr/>
          <p:nvPr/>
        </p:nvSpPr>
        <p:spPr>
          <a:xfrm>
            <a:off x="6309360" y="2404872"/>
            <a:ext cx="5330952" cy="457200"/>
          </a:xfrm>
          <a:prstGeom prst="roundRect">
            <a:avLst>
              <a:gd name="adj" fmla="val 20000"/>
            </a:avLst>
          </a:prstGeom>
          <a:solidFill>
            <a:schemeClr val="bg1"/>
          </a:solidFill>
          <a:ln w="19050">
            <a:solidFill>
              <a:schemeClr val="accent1"/>
            </a:solidFill>
            <a:prstDash val="solid"/>
          </a:ln>
        </p:spPr>
      </p:sp>
      <p:sp>
        <p:nvSpPr>
          <p:cNvPr id="15" name="Text 13"/>
          <p:cNvSpPr txBox="1"/>
          <p:nvPr/>
        </p:nvSpPr>
        <p:spPr>
          <a:xfrm>
            <a:off x="6492240" y="2404872"/>
            <a:ext cx="4937760" cy="457200"/>
          </a:xfrm>
          <a:prstGeom prst="rect">
            <a:avLst/>
          </a:prstGeom>
          <a:noFill/>
          <a:ln/>
        </p:spPr>
        <p:txBody>
          <a:bodyPr wrap="square" lIns="0" tIns="0" rIns="0" bIns="0" rtlCol="0" anchor="ctr"/>
          <a:lstStyle/>
          <a:p>
            <a:pPr algn="l" indent="0" marL="0">
              <a:buNone/>
            </a:pPr>
            <a:r>
              <a:rPr lang="en-US" sz="1500" b="1" dirty="0">
                <a:solidFill>
                  <a:schemeClr val="tx1"/>
                </a:solidFill>
                <a:latin typeface="Calibri" pitchFamily="34" charset="0"/>
                <a:ea typeface="Calibri" pitchFamily="34" charset="-122"/>
                <a:cs typeface="Calibri" pitchFamily="34" charset="-120"/>
              </a:rPr>
              <a:t>Clear requirements</a:t>
            </a:r>
            <a:endParaRPr lang="en-US" sz="1500" dirty="0"/>
          </a:p>
        </p:txBody>
      </p:sp>
      <p:sp>
        <p:nvSpPr>
          <p:cNvPr id="16" name="Shape 14"/>
          <p:cNvSpPr/>
          <p:nvPr/>
        </p:nvSpPr>
        <p:spPr>
          <a:xfrm>
            <a:off x="548640" y="2935224"/>
            <a:ext cx="5394960" cy="457200"/>
          </a:xfrm>
          <a:prstGeom prst="roundRect">
            <a:avLst>
              <a:gd name="adj" fmla="val 20000"/>
            </a:avLst>
          </a:prstGeom>
          <a:solidFill>
            <a:srgbClr val="E9EAE5"/>
          </a:solidFill>
          <a:ln/>
        </p:spPr>
      </p:sp>
      <p:sp>
        <p:nvSpPr>
          <p:cNvPr id="17" name="Text 15"/>
          <p:cNvSpPr txBox="1"/>
          <p:nvPr/>
        </p:nvSpPr>
        <p:spPr>
          <a:xfrm>
            <a:off x="731520" y="2935224"/>
            <a:ext cx="5029200" cy="457200"/>
          </a:xfrm>
          <a:prstGeom prst="rect">
            <a:avLst/>
          </a:prstGeom>
          <a:noFill/>
          <a:ln/>
        </p:spPr>
        <p:txBody>
          <a:bodyPr wrap="square" lIns="0" tIns="0" rIns="0" bIns="0" rtlCol="0" anchor="ctr"/>
          <a:lstStyle/>
          <a:p>
            <a:pPr algn="l" indent="0" marL="0">
              <a:buNone/>
            </a:pPr>
            <a:r>
              <a:rPr lang="en-US" sz="1500" dirty="0">
                <a:solidFill>
                  <a:srgbClr val="4A4E54"/>
                </a:solidFill>
                <a:latin typeface="Calibri" pitchFamily="34" charset="0"/>
                <a:ea typeface="Calibri" pitchFamily="34" charset="-122"/>
                <a:cs typeface="Calibri" pitchFamily="34" charset="-120"/>
              </a:rPr>
              <a:t>Errors found late</a:t>
            </a:r>
            <a:endParaRPr lang="en-US" sz="1500" dirty="0"/>
          </a:p>
        </p:txBody>
      </p:sp>
      <p:sp>
        <p:nvSpPr>
          <p:cNvPr id="18" name="Shape 16"/>
          <p:cNvSpPr/>
          <p:nvPr/>
        </p:nvSpPr>
        <p:spPr>
          <a:xfrm>
            <a:off x="6016752" y="3026664"/>
            <a:ext cx="182880" cy="274320"/>
          </a:xfrm>
          <a:prstGeom prst="chevron">
            <a:avLst/>
          </a:prstGeom>
          <a:solidFill>
            <a:schemeClr val="accent1"/>
          </a:solidFill>
          <a:ln w="12700">
            <a:solidFill>
              <a:schemeClr val="accent1"/>
            </a:solidFill>
            <a:prstDash val="solid"/>
          </a:ln>
        </p:spPr>
      </p:sp>
      <p:sp>
        <p:nvSpPr>
          <p:cNvPr id="19" name="Shape 17"/>
          <p:cNvSpPr/>
          <p:nvPr/>
        </p:nvSpPr>
        <p:spPr>
          <a:xfrm>
            <a:off x="6309360" y="2935224"/>
            <a:ext cx="5330952" cy="457200"/>
          </a:xfrm>
          <a:prstGeom prst="roundRect">
            <a:avLst>
              <a:gd name="adj" fmla="val 20000"/>
            </a:avLst>
          </a:prstGeom>
          <a:solidFill>
            <a:schemeClr val="bg1"/>
          </a:solidFill>
          <a:ln w="19050">
            <a:solidFill>
              <a:schemeClr val="accent1"/>
            </a:solidFill>
            <a:prstDash val="solid"/>
          </a:ln>
        </p:spPr>
      </p:sp>
      <p:sp>
        <p:nvSpPr>
          <p:cNvPr id="20" name="Text 18"/>
          <p:cNvSpPr txBox="1"/>
          <p:nvPr/>
        </p:nvSpPr>
        <p:spPr>
          <a:xfrm>
            <a:off x="6492240" y="2935224"/>
            <a:ext cx="4937760" cy="457200"/>
          </a:xfrm>
          <a:prstGeom prst="rect">
            <a:avLst/>
          </a:prstGeom>
          <a:noFill/>
          <a:ln/>
        </p:spPr>
        <p:txBody>
          <a:bodyPr wrap="square" lIns="0" tIns="0" rIns="0" bIns="0" rtlCol="0" anchor="ctr"/>
          <a:lstStyle/>
          <a:p>
            <a:pPr algn="l" indent="0" marL="0">
              <a:buNone/>
            </a:pPr>
            <a:r>
              <a:rPr lang="en-US" sz="1500" b="1" dirty="0">
                <a:solidFill>
                  <a:schemeClr val="tx1"/>
                </a:solidFill>
                <a:latin typeface="Calibri" pitchFamily="34" charset="0"/>
                <a:ea typeface="Calibri" pitchFamily="34" charset="-122"/>
                <a:cs typeface="Calibri" pitchFamily="34" charset="-120"/>
              </a:rPr>
              <a:t>Issues found early</a:t>
            </a:r>
            <a:endParaRPr lang="en-US" sz="1500" dirty="0"/>
          </a:p>
        </p:txBody>
      </p:sp>
      <p:sp>
        <p:nvSpPr>
          <p:cNvPr id="21" name="Shape 19"/>
          <p:cNvSpPr/>
          <p:nvPr/>
        </p:nvSpPr>
        <p:spPr>
          <a:xfrm>
            <a:off x="548640" y="3465576"/>
            <a:ext cx="5394960" cy="457200"/>
          </a:xfrm>
          <a:prstGeom prst="roundRect">
            <a:avLst>
              <a:gd name="adj" fmla="val 20000"/>
            </a:avLst>
          </a:prstGeom>
          <a:solidFill>
            <a:srgbClr val="E9EAE5"/>
          </a:solidFill>
          <a:ln/>
        </p:spPr>
      </p:sp>
      <p:sp>
        <p:nvSpPr>
          <p:cNvPr id="22" name="Text 20"/>
          <p:cNvSpPr txBox="1"/>
          <p:nvPr/>
        </p:nvSpPr>
        <p:spPr>
          <a:xfrm>
            <a:off x="731520" y="3465576"/>
            <a:ext cx="5029200" cy="457200"/>
          </a:xfrm>
          <a:prstGeom prst="rect">
            <a:avLst/>
          </a:prstGeom>
          <a:noFill/>
          <a:ln/>
        </p:spPr>
        <p:txBody>
          <a:bodyPr wrap="square" lIns="0" tIns="0" rIns="0" bIns="0" rtlCol="0" anchor="ctr"/>
          <a:lstStyle/>
          <a:p>
            <a:pPr algn="l" indent="0" marL="0">
              <a:buNone/>
            </a:pPr>
            <a:r>
              <a:rPr lang="en-US" sz="1500" dirty="0">
                <a:solidFill>
                  <a:srgbClr val="4A4E54"/>
                </a:solidFill>
                <a:latin typeface="Calibri" pitchFamily="34" charset="0"/>
                <a:ea typeface="Calibri" pitchFamily="34" charset="-122"/>
                <a:cs typeface="Calibri" pitchFamily="34" charset="-120"/>
              </a:rPr>
              <a:t>Repeated clarifications</a:t>
            </a:r>
            <a:endParaRPr lang="en-US" sz="1500" dirty="0"/>
          </a:p>
        </p:txBody>
      </p:sp>
      <p:sp>
        <p:nvSpPr>
          <p:cNvPr id="23" name="Shape 21"/>
          <p:cNvSpPr/>
          <p:nvPr/>
        </p:nvSpPr>
        <p:spPr>
          <a:xfrm>
            <a:off x="6016752" y="3557016"/>
            <a:ext cx="182880" cy="274320"/>
          </a:xfrm>
          <a:prstGeom prst="chevron">
            <a:avLst/>
          </a:prstGeom>
          <a:solidFill>
            <a:schemeClr val="accent1"/>
          </a:solidFill>
          <a:ln w="12700">
            <a:solidFill>
              <a:schemeClr val="accent1"/>
            </a:solidFill>
            <a:prstDash val="solid"/>
          </a:ln>
        </p:spPr>
      </p:sp>
      <p:sp>
        <p:nvSpPr>
          <p:cNvPr id="24" name="Shape 22"/>
          <p:cNvSpPr/>
          <p:nvPr/>
        </p:nvSpPr>
        <p:spPr>
          <a:xfrm>
            <a:off x="6309360" y="3465576"/>
            <a:ext cx="5330952" cy="457200"/>
          </a:xfrm>
          <a:prstGeom prst="roundRect">
            <a:avLst>
              <a:gd name="adj" fmla="val 20000"/>
            </a:avLst>
          </a:prstGeom>
          <a:solidFill>
            <a:schemeClr val="bg1"/>
          </a:solidFill>
          <a:ln w="19050">
            <a:solidFill>
              <a:schemeClr val="accent1"/>
            </a:solidFill>
            <a:prstDash val="solid"/>
          </a:ln>
        </p:spPr>
      </p:sp>
      <p:sp>
        <p:nvSpPr>
          <p:cNvPr id="25" name="Text 23"/>
          <p:cNvSpPr txBox="1"/>
          <p:nvPr/>
        </p:nvSpPr>
        <p:spPr>
          <a:xfrm>
            <a:off x="6492240" y="3465576"/>
            <a:ext cx="4937760" cy="457200"/>
          </a:xfrm>
          <a:prstGeom prst="rect">
            <a:avLst/>
          </a:prstGeom>
          <a:noFill/>
          <a:ln/>
        </p:spPr>
        <p:txBody>
          <a:bodyPr wrap="square" lIns="0" tIns="0" rIns="0" bIns="0" rtlCol="0" anchor="ctr"/>
          <a:lstStyle/>
          <a:p>
            <a:pPr algn="l" indent="0" marL="0">
              <a:buNone/>
            </a:pPr>
            <a:r>
              <a:rPr lang="en-US" sz="1500" b="1" dirty="0">
                <a:solidFill>
                  <a:schemeClr val="tx1"/>
                </a:solidFill>
                <a:latin typeface="Calibri" pitchFamily="34" charset="0"/>
                <a:ea typeface="Calibri" pitchFamily="34" charset="-122"/>
                <a:cs typeface="Calibri" pitchFamily="34" charset="-120"/>
              </a:rPr>
              <a:t>Specific correction steps</a:t>
            </a:r>
            <a:endParaRPr lang="en-US" sz="1500" dirty="0"/>
          </a:p>
        </p:txBody>
      </p:sp>
      <p:sp>
        <p:nvSpPr>
          <p:cNvPr id="26" name="Shape 24"/>
          <p:cNvSpPr/>
          <p:nvPr/>
        </p:nvSpPr>
        <p:spPr>
          <a:xfrm>
            <a:off x="548640" y="3995928"/>
            <a:ext cx="5394960" cy="457200"/>
          </a:xfrm>
          <a:prstGeom prst="roundRect">
            <a:avLst>
              <a:gd name="adj" fmla="val 20000"/>
            </a:avLst>
          </a:prstGeom>
          <a:solidFill>
            <a:srgbClr val="E9EAE5"/>
          </a:solidFill>
          <a:ln/>
        </p:spPr>
      </p:sp>
      <p:sp>
        <p:nvSpPr>
          <p:cNvPr id="27" name="Text 25"/>
          <p:cNvSpPr txBox="1"/>
          <p:nvPr/>
        </p:nvSpPr>
        <p:spPr>
          <a:xfrm>
            <a:off x="731520" y="3995928"/>
            <a:ext cx="5029200" cy="457200"/>
          </a:xfrm>
          <a:prstGeom prst="rect">
            <a:avLst/>
          </a:prstGeom>
          <a:noFill/>
          <a:ln/>
        </p:spPr>
        <p:txBody>
          <a:bodyPr wrap="square" lIns="0" tIns="0" rIns="0" bIns="0" rtlCol="0" anchor="ctr"/>
          <a:lstStyle/>
          <a:p>
            <a:pPr algn="l" indent="0" marL="0">
              <a:buNone/>
            </a:pPr>
            <a:r>
              <a:rPr lang="en-US" sz="1500" dirty="0">
                <a:solidFill>
                  <a:srgbClr val="4A4E54"/>
                </a:solidFill>
                <a:latin typeface="Calibri" pitchFamily="34" charset="0"/>
                <a:ea typeface="Calibri" pitchFamily="34" charset="-122"/>
                <a:cs typeface="Calibri" pitchFamily="34" charset="-120"/>
              </a:rPr>
              <a:t>Slow carrier comparison</a:t>
            </a:r>
            <a:endParaRPr lang="en-US" sz="1500" dirty="0"/>
          </a:p>
        </p:txBody>
      </p:sp>
      <p:sp>
        <p:nvSpPr>
          <p:cNvPr id="28" name="Shape 26"/>
          <p:cNvSpPr/>
          <p:nvPr/>
        </p:nvSpPr>
        <p:spPr>
          <a:xfrm>
            <a:off x="6016752" y="4087368"/>
            <a:ext cx="182880" cy="274320"/>
          </a:xfrm>
          <a:prstGeom prst="chevron">
            <a:avLst/>
          </a:prstGeom>
          <a:solidFill>
            <a:schemeClr val="accent1"/>
          </a:solidFill>
          <a:ln w="12700">
            <a:solidFill>
              <a:schemeClr val="accent1"/>
            </a:solidFill>
            <a:prstDash val="solid"/>
          </a:ln>
        </p:spPr>
      </p:sp>
      <p:sp>
        <p:nvSpPr>
          <p:cNvPr id="29" name="Shape 27"/>
          <p:cNvSpPr/>
          <p:nvPr/>
        </p:nvSpPr>
        <p:spPr>
          <a:xfrm>
            <a:off x="6309360" y="3995928"/>
            <a:ext cx="5330952" cy="457200"/>
          </a:xfrm>
          <a:prstGeom prst="roundRect">
            <a:avLst>
              <a:gd name="adj" fmla="val 20000"/>
            </a:avLst>
          </a:prstGeom>
          <a:solidFill>
            <a:schemeClr val="bg1"/>
          </a:solidFill>
          <a:ln w="19050">
            <a:solidFill>
              <a:schemeClr val="accent1"/>
            </a:solidFill>
            <a:prstDash val="solid"/>
          </a:ln>
        </p:spPr>
      </p:sp>
      <p:sp>
        <p:nvSpPr>
          <p:cNvPr id="30" name="Text 28"/>
          <p:cNvSpPr txBox="1"/>
          <p:nvPr/>
        </p:nvSpPr>
        <p:spPr>
          <a:xfrm>
            <a:off x="6492240" y="3995928"/>
            <a:ext cx="4937760" cy="457200"/>
          </a:xfrm>
          <a:prstGeom prst="rect">
            <a:avLst/>
          </a:prstGeom>
          <a:noFill/>
          <a:ln/>
        </p:spPr>
        <p:txBody>
          <a:bodyPr wrap="square" lIns="0" tIns="0" rIns="0" bIns="0" rtlCol="0" anchor="ctr"/>
          <a:lstStyle/>
          <a:p>
            <a:pPr algn="l" indent="0" marL="0">
              <a:buNone/>
            </a:pPr>
            <a:r>
              <a:rPr lang="en-US" sz="1500" b="1" dirty="0">
                <a:solidFill>
                  <a:schemeClr val="tx1"/>
                </a:solidFill>
                <a:latin typeface="Calibri" pitchFamily="34" charset="0"/>
                <a:ea typeface="Calibri" pitchFamily="34" charset="-122"/>
                <a:cs typeface="Calibri" pitchFamily="34" charset="-120"/>
              </a:rPr>
              <a:t>Priority-based carrier pick</a:t>
            </a:r>
            <a:endParaRPr lang="en-US" sz="1500" dirty="0"/>
          </a:p>
        </p:txBody>
      </p:sp>
      <p:sp>
        <p:nvSpPr>
          <p:cNvPr id="31" name="Shape 29"/>
          <p:cNvSpPr/>
          <p:nvPr/>
        </p:nvSpPr>
        <p:spPr>
          <a:xfrm>
            <a:off x="548640" y="4526280"/>
            <a:ext cx="5394960" cy="457200"/>
          </a:xfrm>
          <a:prstGeom prst="roundRect">
            <a:avLst>
              <a:gd name="adj" fmla="val 20000"/>
            </a:avLst>
          </a:prstGeom>
          <a:solidFill>
            <a:srgbClr val="E9EAE5"/>
          </a:solidFill>
          <a:ln/>
        </p:spPr>
      </p:sp>
      <p:sp>
        <p:nvSpPr>
          <p:cNvPr id="32" name="Text 30"/>
          <p:cNvSpPr txBox="1"/>
          <p:nvPr/>
        </p:nvSpPr>
        <p:spPr>
          <a:xfrm>
            <a:off x="731520" y="4526280"/>
            <a:ext cx="5029200" cy="457200"/>
          </a:xfrm>
          <a:prstGeom prst="rect">
            <a:avLst/>
          </a:prstGeom>
          <a:noFill/>
          <a:ln/>
        </p:spPr>
        <p:txBody>
          <a:bodyPr wrap="square" lIns="0" tIns="0" rIns="0" bIns="0" rtlCol="0" anchor="ctr"/>
          <a:lstStyle/>
          <a:p>
            <a:pPr algn="l" indent="0" marL="0">
              <a:buNone/>
            </a:pPr>
            <a:r>
              <a:rPr lang="en-US" sz="1500" dirty="0">
                <a:solidFill>
                  <a:srgbClr val="4A4E54"/>
                </a:solidFill>
                <a:latin typeface="Calibri" pitchFamily="34" charset="0"/>
                <a:ea typeface="Calibri" pitchFamily="34" charset="-122"/>
                <a:cs typeface="Calibri" pitchFamily="34" charset="-120"/>
              </a:rPr>
              <a:t>Disconnected records</a:t>
            </a:r>
            <a:endParaRPr lang="en-US" sz="1500" dirty="0"/>
          </a:p>
        </p:txBody>
      </p:sp>
      <p:sp>
        <p:nvSpPr>
          <p:cNvPr id="33" name="Shape 31"/>
          <p:cNvSpPr/>
          <p:nvPr/>
        </p:nvSpPr>
        <p:spPr>
          <a:xfrm>
            <a:off x="6016752" y="4617720"/>
            <a:ext cx="182880" cy="274320"/>
          </a:xfrm>
          <a:prstGeom prst="chevron">
            <a:avLst/>
          </a:prstGeom>
          <a:solidFill>
            <a:schemeClr val="accent1"/>
          </a:solidFill>
          <a:ln w="12700">
            <a:solidFill>
              <a:schemeClr val="accent1"/>
            </a:solidFill>
            <a:prstDash val="solid"/>
          </a:ln>
        </p:spPr>
      </p:sp>
      <p:sp>
        <p:nvSpPr>
          <p:cNvPr id="34" name="Shape 32"/>
          <p:cNvSpPr/>
          <p:nvPr/>
        </p:nvSpPr>
        <p:spPr>
          <a:xfrm>
            <a:off x="6309360" y="4526280"/>
            <a:ext cx="5330952" cy="457200"/>
          </a:xfrm>
          <a:prstGeom prst="roundRect">
            <a:avLst>
              <a:gd name="adj" fmla="val 20000"/>
            </a:avLst>
          </a:prstGeom>
          <a:solidFill>
            <a:schemeClr val="bg1"/>
          </a:solidFill>
          <a:ln w="19050">
            <a:solidFill>
              <a:schemeClr val="accent1"/>
            </a:solidFill>
            <a:prstDash val="solid"/>
          </a:ln>
        </p:spPr>
      </p:sp>
      <p:sp>
        <p:nvSpPr>
          <p:cNvPr id="35" name="Text 33"/>
          <p:cNvSpPr txBox="1"/>
          <p:nvPr/>
        </p:nvSpPr>
        <p:spPr>
          <a:xfrm>
            <a:off x="6492240" y="4526280"/>
            <a:ext cx="4937760" cy="457200"/>
          </a:xfrm>
          <a:prstGeom prst="rect">
            <a:avLst/>
          </a:prstGeom>
          <a:noFill/>
          <a:ln/>
        </p:spPr>
        <p:txBody>
          <a:bodyPr wrap="square" lIns="0" tIns="0" rIns="0" bIns="0" rtlCol="0" anchor="ctr"/>
          <a:lstStyle/>
          <a:p>
            <a:pPr algn="l" indent="0" marL="0">
              <a:buNone/>
            </a:pPr>
            <a:r>
              <a:rPr lang="en-US" sz="1500" b="1" dirty="0">
                <a:solidFill>
                  <a:schemeClr val="tx1"/>
                </a:solidFill>
                <a:latin typeface="Calibri" pitchFamily="34" charset="0"/>
                <a:ea typeface="Calibri" pitchFamily="34" charset="-122"/>
                <a:cs typeface="Calibri" pitchFamily="34" charset="-120"/>
              </a:rPr>
              <a:t>One organised booking list</a:t>
            </a:r>
            <a:endParaRPr lang="en-US" sz="1500" dirty="0"/>
          </a:p>
        </p:txBody>
      </p:sp>
      <p:sp>
        <p:nvSpPr>
          <p:cNvPr id="36" name="Shape 34"/>
          <p:cNvSpPr/>
          <p:nvPr/>
        </p:nvSpPr>
        <p:spPr>
          <a:xfrm>
            <a:off x="548640" y="5166360"/>
            <a:ext cx="3566160" cy="914400"/>
          </a:xfrm>
          <a:prstGeom prst="roundRect">
            <a:avLst>
              <a:gd name="adj" fmla="val 12000"/>
            </a:avLst>
          </a:prstGeom>
          <a:solidFill>
            <a:schemeClr val="tx1"/>
          </a:solidFill>
          <a:ln/>
        </p:spPr>
      </p:sp>
      <p:pic>
        <p:nvPicPr>
          <p:cNvPr id="37" name="Image 0" descr="bolt icon">    </p:cNvPr>
          <p:cNvPicPr>
            <a:picLocks noChangeAspect="1"/>
          </p:cNvPicPr>
          <p:nvPr/>
        </p:nvPicPr>
        <p:blipFill>
          <a:blip r:embed="rId1"/>
          <a:stretch>
            <a:fillRect/>
          </a:stretch>
        </p:blipFill>
        <p:spPr>
          <a:xfrm>
            <a:off x="731520" y="5440680"/>
            <a:ext cx="365760" cy="365760"/>
          </a:xfrm>
          <a:prstGeom prst="rect">
            <a:avLst/>
          </a:prstGeom>
        </p:spPr>
      </p:pic>
      <p:sp>
        <p:nvSpPr>
          <p:cNvPr id="38" name="Text 35"/>
          <p:cNvSpPr txBox="1"/>
          <p:nvPr/>
        </p:nvSpPr>
        <p:spPr>
          <a:xfrm>
            <a:off x="1280160" y="5257800"/>
            <a:ext cx="2743200" cy="320040"/>
          </a:xfrm>
          <a:prstGeom prst="rect">
            <a:avLst/>
          </a:prstGeom>
          <a:noFill/>
          <a:ln/>
        </p:spPr>
        <p:txBody>
          <a:bodyPr wrap="square" lIns="0" tIns="0" rIns="0" bIns="0" rtlCol="0" anchor="t"/>
          <a:lstStyle/>
          <a:p>
            <a:pPr algn="l" indent="0" marL="0">
              <a:buNone/>
            </a:pPr>
            <a:r>
              <a:rPr lang="en-US" sz="1600" b="1" dirty="0">
                <a:solidFill>
                  <a:schemeClr val="bg1"/>
                </a:solidFill>
                <a:latin typeface="Calibri" pitchFamily="34" charset="0"/>
                <a:ea typeface="Calibri" pitchFamily="34" charset="-122"/>
                <a:cs typeface="Calibri" pitchFamily="34" charset="-120"/>
              </a:rPr>
              <a:t>Operational efficiency</a:t>
            </a:r>
            <a:endParaRPr lang="en-US" sz="1600" dirty="0"/>
          </a:p>
        </p:txBody>
      </p:sp>
      <p:sp>
        <p:nvSpPr>
          <p:cNvPr id="39" name="Text 36"/>
          <p:cNvSpPr txBox="1"/>
          <p:nvPr/>
        </p:nvSpPr>
        <p:spPr>
          <a:xfrm>
            <a:off x="1280160" y="5596128"/>
            <a:ext cx="2743200" cy="411480"/>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Simpler workflows, less repeat admin</a:t>
            </a:r>
            <a:endParaRPr lang="en-US" sz="1200" dirty="0"/>
          </a:p>
        </p:txBody>
      </p:sp>
      <p:sp>
        <p:nvSpPr>
          <p:cNvPr id="40" name="Shape 37"/>
          <p:cNvSpPr/>
          <p:nvPr/>
        </p:nvSpPr>
        <p:spPr>
          <a:xfrm>
            <a:off x="4311396" y="5166360"/>
            <a:ext cx="3566160" cy="914400"/>
          </a:xfrm>
          <a:prstGeom prst="roundRect">
            <a:avLst>
              <a:gd name="adj" fmla="val 12000"/>
            </a:avLst>
          </a:prstGeom>
          <a:solidFill>
            <a:schemeClr val="tx1"/>
          </a:solidFill>
          <a:ln/>
        </p:spPr>
      </p:sp>
      <p:pic>
        <p:nvPicPr>
          <p:cNvPr id="41" name="Image 1" descr="shield icon">    </p:cNvPr>
          <p:cNvPicPr>
            <a:picLocks noChangeAspect="1"/>
          </p:cNvPicPr>
          <p:nvPr/>
        </p:nvPicPr>
        <p:blipFill>
          <a:blip r:embed="rId2"/>
          <a:stretch>
            <a:fillRect/>
          </a:stretch>
        </p:blipFill>
        <p:spPr>
          <a:xfrm>
            <a:off x="4494276" y="5440680"/>
            <a:ext cx="365760" cy="365760"/>
          </a:xfrm>
          <a:prstGeom prst="rect">
            <a:avLst/>
          </a:prstGeom>
        </p:spPr>
      </p:pic>
      <p:sp>
        <p:nvSpPr>
          <p:cNvPr id="42" name="Text 38"/>
          <p:cNvSpPr txBox="1"/>
          <p:nvPr/>
        </p:nvSpPr>
        <p:spPr>
          <a:xfrm>
            <a:off x="5042916" y="5257800"/>
            <a:ext cx="2743200" cy="320040"/>
          </a:xfrm>
          <a:prstGeom prst="rect">
            <a:avLst/>
          </a:prstGeom>
          <a:noFill/>
          <a:ln/>
        </p:spPr>
        <p:txBody>
          <a:bodyPr wrap="square" lIns="0" tIns="0" rIns="0" bIns="0" rtlCol="0" anchor="t"/>
          <a:lstStyle/>
          <a:p>
            <a:pPr algn="l" indent="0" marL="0">
              <a:buNone/>
            </a:pPr>
            <a:r>
              <a:rPr lang="en-US" sz="1600" b="1" dirty="0">
                <a:solidFill>
                  <a:schemeClr val="bg1"/>
                </a:solidFill>
                <a:latin typeface="Calibri" pitchFamily="34" charset="0"/>
                <a:ea typeface="Calibri" pitchFamily="34" charset="-122"/>
                <a:cs typeface="Calibri" pitchFamily="34" charset="-120"/>
              </a:rPr>
              <a:t>Risk reduction</a:t>
            </a:r>
            <a:endParaRPr lang="en-US" sz="1600" dirty="0"/>
          </a:p>
        </p:txBody>
      </p:sp>
      <p:sp>
        <p:nvSpPr>
          <p:cNvPr id="43" name="Text 39"/>
          <p:cNvSpPr txBox="1"/>
          <p:nvPr/>
        </p:nvSpPr>
        <p:spPr>
          <a:xfrm>
            <a:off x="5042916" y="5596128"/>
            <a:ext cx="2743200" cy="411480"/>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Inconsistencies caught before dispatch</a:t>
            </a:r>
            <a:endParaRPr lang="en-US" sz="1200" dirty="0"/>
          </a:p>
        </p:txBody>
      </p:sp>
      <p:sp>
        <p:nvSpPr>
          <p:cNvPr id="44" name="Shape 40"/>
          <p:cNvSpPr/>
          <p:nvPr/>
        </p:nvSpPr>
        <p:spPr>
          <a:xfrm>
            <a:off x="8074152" y="5166360"/>
            <a:ext cx="3566160" cy="914400"/>
          </a:xfrm>
          <a:prstGeom prst="roundRect">
            <a:avLst>
              <a:gd name="adj" fmla="val 12000"/>
            </a:avLst>
          </a:prstGeom>
          <a:solidFill>
            <a:schemeClr val="tx1"/>
          </a:solidFill>
          <a:ln/>
        </p:spPr>
      </p:sp>
      <p:pic>
        <p:nvPicPr>
          <p:cNvPr id="45" name="Image 2" descr="scale icon">    </p:cNvPr>
          <p:cNvPicPr>
            <a:picLocks noChangeAspect="1"/>
          </p:cNvPicPr>
          <p:nvPr/>
        </p:nvPicPr>
        <p:blipFill>
          <a:blip r:embed="rId3"/>
          <a:stretch>
            <a:fillRect/>
          </a:stretch>
        </p:blipFill>
        <p:spPr>
          <a:xfrm>
            <a:off x="8257032" y="5440680"/>
            <a:ext cx="365760" cy="365760"/>
          </a:xfrm>
          <a:prstGeom prst="rect">
            <a:avLst/>
          </a:prstGeom>
        </p:spPr>
      </p:pic>
      <p:sp>
        <p:nvSpPr>
          <p:cNvPr id="46" name="Text 41"/>
          <p:cNvSpPr txBox="1"/>
          <p:nvPr/>
        </p:nvSpPr>
        <p:spPr>
          <a:xfrm>
            <a:off x="8805672" y="5257800"/>
            <a:ext cx="2743200" cy="320040"/>
          </a:xfrm>
          <a:prstGeom prst="rect">
            <a:avLst/>
          </a:prstGeom>
          <a:noFill/>
          <a:ln/>
        </p:spPr>
        <p:txBody>
          <a:bodyPr wrap="square" lIns="0" tIns="0" rIns="0" bIns="0" rtlCol="0" anchor="t"/>
          <a:lstStyle/>
          <a:p>
            <a:pPr algn="l" indent="0" marL="0">
              <a:buNone/>
            </a:pPr>
            <a:r>
              <a:rPr lang="en-US" sz="1600" b="1" dirty="0">
                <a:solidFill>
                  <a:schemeClr val="bg1"/>
                </a:solidFill>
                <a:latin typeface="Calibri" pitchFamily="34" charset="0"/>
                <a:ea typeface="Calibri" pitchFamily="34" charset="-122"/>
                <a:cs typeface="Calibri" pitchFamily="34" charset="-120"/>
              </a:rPr>
              <a:t>Better decisions</a:t>
            </a:r>
            <a:endParaRPr lang="en-US" sz="1600" dirty="0"/>
          </a:p>
        </p:txBody>
      </p:sp>
      <p:sp>
        <p:nvSpPr>
          <p:cNvPr id="47" name="Text 42"/>
          <p:cNvSpPr txBox="1"/>
          <p:nvPr/>
        </p:nvSpPr>
        <p:spPr>
          <a:xfrm>
            <a:off x="8805672" y="5596128"/>
            <a:ext cx="2743200" cy="411480"/>
          </a:xfrm>
          <a:prstGeom prst="rect">
            <a:avLst/>
          </a:prstGeom>
          <a:noFill/>
          <a:ln/>
        </p:spPr>
        <p:txBody>
          <a:bodyPr wrap="square" lIns="0" tIns="0" rIns="0" bIns="0" rtlCol="0" anchor="t"/>
          <a:lstStyle/>
          <a:p>
            <a:pPr algn="l" indent="0" marL="0">
              <a:buNone/>
            </a:pPr>
            <a:r>
              <a:rPr lang="en-US" sz="1200" dirty="0">
                <a:solidFill>
                  <a:srgbClr val="C9CCD1"/>
                </a:solidFill>
                <a:latin typeface="Calibri" pitchFamily="34" charset="0"/>
                <a:ea typeface="Calibri" pitchFamily="34" charset="-122"/>
                <a:cs typeface="Calibri" pitchFamily="34" charset="-120"/>
              </a:rPr>
              <a:t>Clear options with reasons</a:t>
            </a:r>
            <a:endParaRPr lang="en-US" sz="1200" dirty="0"/>
          </a:p>
        </p:txBody>
      </p:sp>
      <p:sp>
        <p:nvSpPr>
          <p:cNvPr id="48" name="Text 43"/>
          <p:cNvSpPr txBox="1"/>
          <p:nvPr/>
        </p:nvSpPr>
        <p:spPr>
          <a:xfrm>
            <a:off x="548640" y="6144768"/>
            <a:ext cx="5486400" cy="228600"/>
          </a:xfrm>
          <a:prstGeom prst="rect">
            <a:avLst/>
          </a:prstGeom>
          <a:noFill/>
          <a:ln/>
        </p:spPr>
        <p:txBody>
          <a:bodyPr wrap="square" lIns="0" tIns="0" rIns="0" bIns="0" rtlCol="0" anchor="t"/>
          <a:lstStyle/>
          <a:p>
            <a:pPr algn="l" indent="0" marL="0">
              <a:buNone/>
            </a:pPr>
            <a:r>
              <a:rPr lang="en-US" sz="1100" dirty="0">
                <a:solidFill>
                  <a:schemeClr val="accent5"/>
                </a:solidFill>
                <a:latin typeface="Calibri" pitchFamily="34" charset="0"/>
                <a:ea typeface="Calibri" pitchFamily="34" charset="-122"/>
                <a:cs typeface="Calibri" pitchFamily="34" charset="-120"/>
              </a:rPr>
              <a:t>Expected benefits, not measured results.</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7132320" cy="914400"/>
          </a:xfrm>
          <a:prstGeom prst="rect">
            <a:avLst/>
          </a:prstGeom>
          <a:noFill/>
          <a:ln/>
        </p:spPr>
        <p:txBody>
          <a:bodyPr wrap="square" lIns="0" tIns="0" rIns="0" bIns="0" rtlCol="0" anchor="t"/>
          <a:lstStyle/>
          <a:p>
            <a:pPr algn="l" indent="0" marL="0">
              <a:buNone/>
            </a:pPr>
            <a:r>
              <a:rPr lang="en-US" sz="3000" b="1" dirty="0">
                <a:solidFill>
                  <a:schemeClr val="bg1"/>
                </a:solidFill>
                <a:latin typeface="Calibri" pitchFamily="34" charset="0"/>
                <a:ea typeface="Calibri" pitchFamily="34" charset="-122"/>
                <a:cs typeface="Calibri" pitchFamily="34" charset="-120"/>
              </a:rPr>
              <a:t>From booking complexity to shipment clarity</a:t>
            </a:r>
            <a:endParaRPr lang="en-US" sz="3000" dirty="0"/>
          </a:p>
        </p:txBody>
      </p:sp>
      <p:sp>
        <p:nvSpPr>
          <p:cNvPr id="3" name="Text 1"/>
          <p:cNvSpPr txBox="1"/>
          <p:nvPr/>
        </p:nvSpPr>
        <p:spPr>
          <a:xfrm>
            <a:off x="640080" y="1417320"/>
            <a:ext cx="3657600" cy="228600"/>
          </a:xfrm>
          <a:prstGeom prst="rect">
            <a:avLst/>
          </a:prstGeom>
          <a:noFill/>
          <a:ln/>
        </p:spPr>
        <p:txBody>
          <a:bodyPr wrap="square" lIns="0" tIns="0" rIns="0" bIns="0" rtlCol="0" anchor="t"/>
          <a:lstStyle/>
          <a:p>
            <a:pPr algn="l" indent="0" marL="0">
              <a:buNone/>
            </a:pPr>
            <a:r>
              <a:rPr lang="en-US" sz="1100" b="1" spc="150" kern="0" dirty="0">
                <a:solidFill>
                  <a:schemeClr val="accent1"/>
                </a:solidFill>
                <a:latin typeface="Calibri" pitchFamily="34" charset="0"/>
                <a:ea typeface="Calibri" pitchFamily="34" charset="-122"/>
                <a:cs typeface="Calibri" pitchFamily="34" charset="-120"/>
              </a:rPr>
              <a:t>WORKING TODAY, NO LOGIN</a:t>
            </a:r>
            <a:endParaRPr lang="en-US" sz="1100" dirty="0"/>
          </a:p>
        </p:txBody>
      </p:sp>
      <p:sp>
        <p:nvSpPr>
          <p:cNvPr id="4" name="Text 2"/>
          <p:cNvSpPr txBox="1"/>
          <p:nvPr/>
        </p:nvSpPr>
        <p:spPr>
          <a:xfrm>
            <a:off x="640080" y="1691640"/>
            <a:ext cx="6766560" cy="457200"/>
          </a:xfrm>
          <a:prstGeom prst="rect">
            <a:avLst/>
          </a:prstGeom>
          <a:noFill/>
          <a:ln/>
        </p:spPr>
        <p:txBody>
          <a:bodyPr wrap="square" lIns="0" tIns="0" rIns="0" bIns="0" rtlCol="0" anchor="t"/>
          <a:lstStyle/>
          <a:p>
            <a:pPr algn="l" indent="0" marL="0">
              <a:buNone/>
            </a:pPr>
            <a:r>
              <a:rPr lang="en-US" sz="2600" b="1" dirty="0">
                <a:solidFill>
                  <a:schemeClr val="bg1"/>
                </a:solidFill>
                <a:latin typeface="Calibri" pitchFamily="34" charset="0"/>
                <a:ea typeface="Calibri" pitchFamily="34" charset="-122"/>
                <a:cs typeface="Calibri" pitchFamily="34" charset="-120"/>
              </a:rPr>
              <a:t>shipmentos-preflight.vercel.app</a:t>
            </a:r>
            <a:endParaRPr lang="en-US" sz="2600" dirty="0"/>
          </a:p>
        </p:txBody>
      </p:sp>
      <p:sp>
        <p:nvSpPr>
          <p:cNvPr id="5" name="Text 3"/>
          <p:cNvSpPr txBox="1"/>
          <p:nvPr/>
        </p:nvSpPr>
        <p:spPr>
          <a:xfrm>
            <a:off x="640080" y="2423160"/>
            <a:ext cx="3657600" cy="228600"/>
          </a:xfrm>
          <a:prstGeom prst="rect">
            <a:avLst/>
          </a:prstGeom>
          <a:noFill/>
          <a:ln/>
        </p:spPr>
        <p:txBody>
          <a:bodyPr wrap="square" lIns="0" tIns="0" rIns="0" bIns="0" rtlCol="0" anchor="t"/>
          <a:lstStyle/>
          <a:p>
            <a:pPr algn="l" indent="0" marL="0">
              <a:buNone/>
            </a:pPr>
            <a:r>
              <a:rPr lang="en-US" sz="1100" b="1" spc="150" kern="0" dirty="0">
                <a:solidFill>
                  <a:schemeClr val="accent1"/>
                </a:solidFill>
                <a:latin typeface="Calibri" pitchFamily="34" charset="0"/>
                <a:ea typeface="Calibri" pitchFamily="34" charset="-122"/>
                <a:cs typeface="Calibri" pitchFamily="34" charset="-120"/>
              </a:rPr>
              <a:t>WHAT YOU CAN DO NOW</a:t>
            </a:r>
            <a:endParaRPr lang="en-US" sz="1100" dirty="0"/>
          </a:p>
        </p:txBody>
      </p:sp>
      <p:sp>
        <p:nvSpPr>
          <p:cNvPr id="6" name="Shape 4"/>
          <p:cNvSpPr/>
          <p:nvPr/>
        </p:nvSpPr>
        <p:spPr>
          <a:xfrm>
            <a:off x="640080" y="2724912"/>
            <a:ext cx="3017520" cy="347472"/>
          </a:xfrm>
          <a:prstGeom prst="roundRect">
            <a:avLst>
              <a:gd name="adj" fmla="val 50000"/>
            </a:avLst>
          </a:prstGeom>
          <a:solidFill>
            <a:srgbClr val="2A2D31"/>
          </a:solidFill>
          <a:ln/>
        </p:spPr>
      </p:sp>
      <p:sp>
        <p:nvSpPr>
          <p:cNvPr id="7" name="Text 5"/>
          <p:cNvSpPr txBox="1"/>
          <p:nvPr/>
        </p:nvSpPr>
        <p:spPr>
          <a:xfrm>
            <a:off x="640080" y="2724912"/>
            <a:ext cx="3017520" cy="347472"/>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Book by conversation</a:t>
            </a:r>
            <a:endParaRPr lang="en-US" sz="1300" dirty="0"/>
          </a:p>
        </p:txBody>
      </p:sp>
      <p:sp>
        <p:nvSpPr>
          <p:cNvPr id="8" name="Shape 6"/>
          <p:cNvSpPr/>
          <p:nvPr/>
        </p:nvSpPr>
        <p:spPr>
          <a:xfrm>
            <a:off x="3840480" y="2724912"/>
            <a:ext cx="3017520" cy="347472"/>
          </a:xfrm>
          <a:prstGeom prst="roundRect">
            <a:avLst>
              <a:gd name="adj" fmla="val 50000"/>
            </a:avLst>
          </a:prstGeom>
          <a:solidFill>
            <a:srgbClr val="2A2D31"/>
          </a:solidFill>
          <a:ln/>
        </p:spPr>
      </p:sp>
      <p:sp>
        <p:nvSpPr>
          <p:cNvPr id="9" name="Text 7"/>
          <p:cNvSpPr txBox="1"/>
          <p:nvPr/>
        </p:nvSpPr>
        <p:spPr>
          <a:xfrm>
            <a:off x="3840480" y="2724912"/>
            <a:ext cx="3017520" cy="347472"/>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Change details mid-chat</a:t>
            </a:r>
            <a:endParaRPr lang="en-US" sz="1300" dirty="0"/>
          </a:p>
        </p:txBody>
      </p:sp>
      <p:sp>
        <p:nvSpPr>
          <p:cNvPr id="10" name="Shape 8"/>
          <p:cNvSpPr/>
          <p:nvPr/>
        </p:nvSpPr>
        <p:spPr>
          <a:xfrm>
            <a:off x="640080" y="3163824"/>
            <a:ext cx="3017520" cy="347472"/>
          </a:xfrm>
          <a:prstGeom prst="roundRect">
            <a:avLst>
              <a:gd name="adj" fmla="val 50000"/>
            </a:avLst>
          </a:prstGeom>
          <a:solidFill>
            <a:srgbClr val="2A2D31"/>
          </a:solidFill>
          <a:ln/>
        </p:spPr>
      </p:sp>
      <p:sp>
        <p:nvSpPr>
          <p:cNvPr id="11" name="Text 9"/>
          <p:cNvSpPr txBox="1"/>
          <p:nvPr/>
        </p:nvSpPr>
        <p:spPr>
          <a:xfrm>
            <a:off x="640080" y="3163824"/>
            <a:ext cx="3017520" cy="347472"/>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Check a whole spreadsheet</a:t>
            </a:r>
            <a:endParaRPr lang="en-US" sz="1300" dirty="0"/>
          </a:p>
        </p:txBody>
      </p:sp>
      <p:sp>
        <p:nvSpPr>
          <p:cNvPr id="12" name="Shape 10"/>
          <p:cNvSpPr/>
          <p:nvPr/>
        </p:nvSpPr>
        <p:spPr>
          <a:xfrm>
            <a:off x="3840480" y="3163824"/>
            <a:ext cx="3017520" cy="347472"/>
          </a:xfrm>
          <a:prstGeom prst="roundRect">
            <a:avLst>
              <a:gd name="adj" fmla="val 50000"/>
            </a:avLst>
          </a:prstGeom>
          <a:solidFill>
            <a:srgbClr val="2A2D31"/>
          </a:solidFill>
          <a:ln/>
        </p:spPr>
      </p:sp>
      <p:sp>
        <p:nvSpPr>
          <p:cNvPr id="13" name="Text 11"/>
          <p:cNvSpPr txBox="1"/>
          <p:nvPr/>
        </p:nvSpPr>
        <p:spPr>
          <a:xfrm>
            <a:off x="3840480" y="3163824"/>
            <a:ext cx="3017520" cy="347472"/>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Red / Amber issue flags</a:t>
            </a:r>
            <a:endParaRPr lang="en-US" sz="1300" dirty="0"/>
          </a:p>
        </p:txBody>
      </p:sp>
      <p:sp>
        <p:nvSpPr>
          <p:cNvPr id="14" name="Shape 12"/>
          <p:cNvSpPr/>
          <p:nvPr/>
        </p:nvSpPr>
        <p:spPr>
          <a:xfrm>
            <a:off x="640080" y="3602736"/>
            <a:ext cx="3017520" cy="347472"/>
          </a:xfrm>
          <a:prstGeom prst="roundRect">
            <a:avLst>
              <a:gd name="adj" fmla="val 50000"/>
            </a:avLst>
          </a:prstGeom>
          <a:solidFill>
            <a:srgbClr val="2A2D31"/>
          </a:solidFill>
          <a:ln/>
        </p:spPr>
      </p:sp>
      <p:sp>
        <p:nvSpPr>
          <p:cNvPr id="15" name="Text 13"/>
          <p:cNvSpPr txBox="1"/>
          <p:nvPr/>
        </p:nvSpPr>
        <p:spPr>
          <a:xfrm>
            <a:off x="640080" y="3602736"/>
            <a:ext cx="3017520" cy="347472"/>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Carrier pick by priority</a:t>
            </a:r>
            <a:endParaRPr lang="en-US" sz="1300" dirty="0"/>
          </a:p>
        </p:txBody>
      </p:sp>
      <p:sp>
        <p:nvSpPr>
          <p:cNvPr id="16" name="Shape 14"/>
          <p:cNvSpPr/>
          <p:nvPr/>
        </p:nvSpPr>
        <p:spPr>
          <a:xfrm>
            <a:off x="3840480" y="3602736"/>
            <a:ext cx="3017520" cy="347472"/>
          </a:xfrm>
          <a:prstGeom prst="roundRect">
            <a:avLst>
              <a:gd name="adj" fmla="val 50000"/>
            </a:avLst>
          </a:prstGeom>
          <a:solidFill>
            <a:srgbClr val="2A2D31"/>
          </a:solidFill>
          <a:ln/>
        </p:spPr>
      </p:sp>
      <p:sp>
        <p:nvSpPr>
          <p:cNvPr id="17" name="Text 15"/>
          <p:cNvSpPr txBox="1"/>
          <p:nvPr/>
        </p:nvSpPr>
        <p:spPr>
          <a:xfrm>
            <a:off x="3840480" y="3602736"/>
            <a:ext cx="3017520" cy="347472"/>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Revisit past bookings</a:t>
            </a:r>
            <a:endParaRPr lang="en-US" sz="1300" dirty="0"/>
          </a:p>
        </p:txBody>
      </p:sp>
      <p:sp>
        <p:nvSpPr>
          <p:cNvPr id="18" name="Text 16"/>
          <p:cNvSpPr txBox="1"/>
          <p:nvPr/>
        </p:nvSpPr>
        <p:spPr>
          <a:xfrm>
            <a:off x="640080" y="4206240"/>
            <a:ext cx="5486400" cy="228600"/>
          </a:xfrm>
          <a:prstGeom prst="rect">
            <a:avLst/>
          </a:prstGeom>
          <a:noFill/>
          <a:ln/>
        </p:spPr>
        <p:txBody>
          <a:bodyPr wrap="square" lIns="0" tIns="0" rIns="0" bIns="0" rtlCol="0" anchor="t"/>
          <a:lstStyle/>
          <a:p>
            <a:pPr algn="l" indent="0" marL="0">
              <a:buNone/>
            </a:pPr>
            <a:r>
              <a:rPr lang="en-US" sz="1100" b="1" spc="150" kern="0" dirty="0">
                <a:solidFill>
                  <a:schemeClr val="accent2"/>
                </a:solidFill>
                <a:latin typeface="Calibri" pitchFamily="34" charset="0"/>
                <a:ea typeface="Calibri" pitchFamily="34" charset="-122"/>
                <a:cs typeface="Calibri" pitchFamily="34" charset="-120"/>
              </a:rPr>
              <a:t>FUTURE OPPORTUNITIES (NOT BUILT YET)</a:t>
            </a:r>
            <a:endParaRPr lang="en-US" sz="1100" dirty="0"/>
          </a:p>
        </p:txBody>
      </p:sp>
      <p:sp>
        <p:nvSpPr>
          <p:cNvPr id="19" name="Shape 17"/>
          <p:cNvSpPr/>
          <p:nvPr/>
        </p:nvSpPr>
        <p:spPr>
          <a:xfrm>
            <a:off x="640080" y="4507992"/>
            <a:ext cx="3017520" cy="347472"/>
          </a:xfrm>
          <a:prstGeom prst="roundRect">
            <a:avLst>
              <a:gd name="adj" fmla="val 50000"/>
            </a:avLst>
          </a:prstGeom>
          <a:noFill/>
          <a:ln w="12700">
            <a:solidFill>
              <a:schemeClr val="accent2"/>
            </a:solidFill>
            <a:prstDash val="dash"/>
          </a:ln>
        </p:spPr>
      </p:sp>
      <p:sp>
        <p:nvSpPr>
          <p:cNvPr id="20" name="Text 18"/>
          <p:cNvSpPr txBox="1"/>
          <p:nvPr/>
        </p:nvSpPr>
        <p:spPr>
          <a:xfrm>
            <a:off x="640080" y="4507992"/>
            <a:ext cx="3017520" cy="347472"/>
          </a:xfrm>
          <a:prstGeom prst="rect">
            <a:avLst/>
          </a:prstGeom>
          <a:noFill/>
          <a:ln/>
        </p:spPr>
        <p:txBody>
          <a:bodyPr wrap="square" lIns="0" tIns="0" rIns="0" bIns="0" rtlCol="0" anchor="ctr"/>
          <a:lstStyle/>
          <a:p>
            <a:pPr algn="ctr" indent="0" marL="0">
              <a:buNone/>
            </a:pPr>
            <a:r>
              <a:rPr lang="en-US" sz="1300" dirty="0">
                <a:solidFill>
                  <a:schemeClr val="accent2"/>
                </a:solidFill>
                <a:latin typeface="Calibri" pitchFamily="34" charset="0"/>
                <a:ea typeface="Calibri" pitchFamily="34" charset="-122"/>
                <a:cs typeface="Calibri" pitchFamily="34" charset="-120"/>
              </a:rPr>
              <a:t>Real carrier connections</a:t>
            </a:r>
            <a:endParaRPr lang="en-US" sz="1300" dirty="0"/>
          </a:p>
        </p:txBody>
      </p:sp>
      <p:sp>
        <p:nvSpPr>
          <p:cNvPr id="21" name="Shape 19"/>
          <p:cNvSpPr/>
          <p:nvPr/>
        </p:nvSpPr>
        <p:spPr>
          <a:xfrm>
            <a:off x="3840480" y="4507992"/>
            <a:ext cx="3017520" cy="347472"/>
          </a:xfrm>
          <a:prstGeom prst="roundRect">
            <a:avLst>
              <a:gd name="adj" fmla="val 50000"/>
            </a:avLst>
          </a:prstGeom>
          <a:noFill/>
          <a:ln w="12700">
            <a:solidFill>
              <a:schemeClr val="accent2"/>
            </a:solidFill>
            <a:prstDash val="dash"/>
          </a:ln>
        </p:spPr>
      </p:sp>
      <p:sp>
        <p:nvSpPr>
          <p:cNvPr id="22" name="Text 20"/>
          <p:cNvSpPr txBox="1"/>
          <p:nvPr/>
        </p:nvSpPr>
        <p:spPr>
          <a:xfrm>
            <a:off x="3840480" y="4507992"/>
            <a:ext cx="3017520" cy="347472"/>
          </a:xfrm>
          <a:prstGeom prst="rect">
            <a:avLst/>
          </a:prstGeom>
          <a:noFill/>
          <a:ln/>
        </p:spPr>
        <p:txBody>
          <a:bodyPr wrap="square" lIns="0" tIns="0" rIns="0" bIns="0" rtlCol="0" anchor="ctr"/>
          <a:lstStyle/>
          <a:p>
            <a:pPr algn="ctr" indent="0" marL="0">
              <a:buNone/>
            </a:pPr>
            <a:r>
              <a:rPr lang="en-US" sz="1300" dirty="0">
                <a:solidFill>
                  <a:schemeClr val="accent2"/>
                </a:solidFill>
                <a:latin typeface="Calibri" pitchFamily="34" charset="0"/>
                <a:ea typeface="Calibri" pitchFamily="34" charset="-122"/>
                <a:cs typeface="Calibri" pitchFamily="34" charset="-120"/>
              </a:rPr>
              <a:t>Automated documents</a:t>
            </a:r>
            <a:endParaRPr lang="en-US" sz="1300" dirty="0"/>
          </a:p>
        </p:txBody>
      </p:sp>
      <p:sp>
        <p:nvSpPr>
          <p:cNvPr id="23" name="Shape 21"/>
          <p:cNvSpPr/>
          <p:nvPr/>
        </p:nvSpPr>
        <p:spPr>
          <a:xfrm>
            <a:off x="640080" y="4946904"/>
            <a:ext cx="3017520" cy="347472"/>
          </a:xfrm>
          <a:prstGeom prst="roundRect">
            <a:avLst>
              <a:gd name="adj" fmla="val 50000"/>
            </a:avLst>
          </a:prstGeom>
          <a:noFill/>
          <a:ln w="12700">
            <a:solidFill>
              <a:schemeClr val="accent2"/>
            </a:solidFill>
            <a:prstDash val="dash"/>
          </a:ln>
        </p:spPr>
      </p:sp>
      <p:sp>
        <p:nvSpPr>
          <p:cNvPr id="24" name="Text 22"/>
          <p:cNvSpPr txBox="1"/>
          <p:nvPr/>
        </p:nvSpPr>
        <p:spPr>
          <a:xfrm>
            <a:off x="640080" y="4946904"/>
            <a:ext cx="3017520" cy="347472"/>
          </a:xfrm>
          <a:prstGeom prst="rect">
            <a:avLst/>
          </a:prstGeom>
          <a:noFill/>
          <a:ln/>
        </p:spPr>
        <p:txBody>
          <a:bodyPr wrap="square" lIns="0" tIns="0" rIns="0" bIns="0" rtlCol="0" anchor="ctr"/>
          <a:lstStyle/>
          <a:p>
            <a:pPr algn="ctr" indent="0" marL="0">
              <a:buNone/>
            </a:pPr>
            <a:r>
              <a:rPr lang="en-US" sz="1300" dirty="0">
                <a:solidFill>
                  <a:schemeClr val="accent2"/>
                </a:solidFill>
                <a:latin typeface="Calibri" pitchFamily="34" charset="0"/>
                <a:ea typeface="Calibri" pitchFamily="34" charset="-122"/>
                <a:cs typeface="Calibri" pitchFamily="34" charset="-120"/>
              </a:rPr>
              <a:t>Shipment tracking</a:t>
            </a:r>
            <a:endParaRPr lang="en-US" sz="1300" dirty="0"/>
          </a:p>
        </p:txBody>
      </p:sp>
      <p:sp>
        <p:nvSpPr>
          <p:cNvPr id="25" name="Shape 23"/>
          <p:cNvSpPr/>
          <p:nvPr/>
        </p:nvSpPr>
        <p:spPr>
          <a:xfrm>
            <a:off x="3840480" y="4946904"/>
            <a:ext cx="3017520" cy="347472"/>
          </a:xfrm>
          <a:prstGeom prst="roundRect">
            <a:avLst>
              <a:gd name="adj" fmla="val 50000"/>
            </a:avLst>
          </a:prstGeom>
          <a:noFill/>
          <a:ln w="12700">
            <a:solidFill>
              <a:schemeClr val="accent2"/>
            </a:solidFill>
            <a:prstDash val="dash"/>
          </a:ln>
        </p:spPr>
      </p:sp>
      <p:sp>
        <p:nvSpPr>
          <p:cNvPr id="26" name="Text 24"/>
          <p:cNvSpPr txBox="1"/>
          <p:nvPr/>
        </p:nvSpPr>
        <p:spPr>
          <a:xfrm>
            <a:off x="3840480" y="4946904"/>
            <a:ext cx="3017520" cy="347472"/>
          </a:xfrm>
          <a:prstGeom prst="rect">
            <a:avLst/>
          </a:prstGeom>
          <a:noFill/>
          <a:ln/>
        </p:spPr>
        <p:txBody>
          <a:bodyPr wrap="square" lIns="0" tIns="0" rIns="0" bIns="0" rtlCol="0" anchor="ctr"/>
          <a:lstStyle/>
          <a:p>
            <a:pPr algn="ctr" indent="0" marL="0">
              <a:buNone/>
            </a:pPr>
            <a:r>
              <a:rPr lang="en-US" sz="1300" dirty="0">
                <a:solidFill>
                  <a:schemeClr val="accent2"/>
                </a:solidFill>
                <a:latin typeface="Calibri" pitchFamily="34" charset="0"/>
                <a:ea typeface="Calibri" pitchFamily="34" charset="-122"/>
                <a:cs typeface="Calibri" pitchFamily="34" charset="-120"/>
              </a:rPr>
              <a:t>More routes</a:t>
            </a:r>
            <a:endParaRPr lang="en-US" sz="1300" dirty="0"/>
          </a:p>
        </p:txBody>
      </p:sp>
      <p:sp>
        <p:nvSpPr>
          <p:cNvPr id="27" name="Shape 25"/>
          <p:cNvSpPr/>
          <p:nvPr/>
        </p:nvSpPr>
        <p:spPr>
          <a:xfrm>
            <a:off x="640080" y="5385816"/>
            <a:ext cx="3017520" cy="347472"/>
          </a:xfrm>
          <a:prstGeom prst="roundRect">
            <a:avLst>
              <a:gd name="adj" fmla="val 50000"/>
            </a:avLst>
          </a:prstGeom>
          <a:noFill/>
          <a:ln w="12700">
            <a:solidFill>
              <a:schemeClr val="accent2"/>
            </a:solidFill>
            <a:prstDash val="dash"/>
          </a:ln>
        </p:spPr>
      </p:sp>
      <p:sp>
        <p:nvSpPr>
          <p:cNvPr id="28" name="Text 26"/>
          <p:cNvSpPr txBox="1"/>
          <p:nvPr/>
        </p:nvSpPr>
        <p:spPr>
          <a:xfrm>
            <a:off x="640080" y="5385816"/>
            <a:ext cx="3017520" cy="347472"/>
          </a:xfrm>
          <a:prstGeom prst="rect">
            <a:avLst/>
          </a:prstGeom>
          <a:noFill/>
          <a:ln/>
        </p:spPr>
        <p:txBody>
          <a:bodyPr wrap="square" lIns="0" tIns="0" rIns="0" bIns="0" rtlCol="0" anchor="ctr"/>
          <a:lstStyle/>
          <a:p>
            <a:pPr algn="ctr" indent="0" marL="0">
              <a:buNone/>
            </a:pPr>
            <a:r>
              <a:rPr lang="en-US" sz="1300" dirty="0">
                <a:solidFill>
                  <a:schemeClr val="accent2"/>
                </a:solidFill>
                <a:latin typeface="Calibri" pitchFamily="34" charset="0"/>
                <a:ea typeface="Calibri" pitchFamily="34" charset="-122"/>
                <a:cs typeface="Calibri" pitchFamily="34" charset="-120"/>
              </a:rPr>
              <a:t>High-volume automation</a:t>
            </a:r>
            <a:endParaRPr lang="en-US" sz="1300" dirty="0"/>
          </a:p>
        </p:txBody>
      </p:sp>
      <p:sp>
        <p:nvSpPr>
          <p:cNvPr id="29" name="Shape 27"/>
          <p:cNvSpPr/>
          <p:nvPr/>
        </p:nvSpPr>
        <p:spPr>
          <a:xfrm>
            <a:off x="8275320" y="640080"/>
            <a:ext cx="3017520" cy="3246120"/>
          </a:xfrm>
          <a:prstGeom prst="roundRect">
            <a:avLst>
              <a:gd name="adj" fmla="val 5455"/>
            </a:avLst>
          </a:prstGeom>
          <a:solidFill>
            <a:schemeClr val="bg1"/>
          </a:solidFill>
          <a:ln/>
        </p:spPr>
      </p:sp>
      <p:pic>
        <p:nvPicPr>
          <p:cNvPr id="30" name="Image 0" descr="QR code to the live app">    </p:cNvPr>
          <p:cNvPicPr>
            <a:picLocks noChangeAspect="1"/>
          </p:cNvPicPr>
          <p:nvPr/>
        </p:nvPicPr>
        <p:blipFill>
          <a:blip r:embed="rId1"/>
          <a:stretch>
            <a:fillRect/>
          </a:stretch>
        </p:blipFill>
        <p:spPr>
          <a:xfrm>
            <a:off x="8503920" y="822960"/>
            <a:ext cx="2560320" cy="2560320"/>
          </a:xfrm>
          <a:prstGeom prst="rect">
            <a:avLst/>
          </a:prstGeom>
        </p:spPr>
      </p:pic>
      <p:sp>
        <p:nvSpPr>
          <p:cNvPr id="31" name="Text 28"/>
          <p:cNvSpPr txBox="1"/>
          <p:nvPr/>
        </p:nvSpPr>
        <p:spPr>
          <a:xfrm>
            <a:off x="8275320" y="3429000"/>
            <a:ext cx="3017520" cy="32004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Scan to try it</a:t>
            </a:r>
            <a:endParaRPr lang="en-US" sz="1400" dirty="0"/>
          </a:p>
        </p:txBody>
      </p:sp>
      <p:sp>
        <p:nvSpPr>
          <p:cNvPr id="32" name="Text 29"/>
          <p:cNvSpPr txBox="1"/>
          <p:nvPr/>
        </p:nvSpPr>
        <p:spPr>
          <a:xfrm>
            <a:off x="7863840" y="4206240"/>
            <a:ext cx="3840480" cy="155448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The best time to fix a shipment problem is before it leaves.</a:t>
            </a:r>
            <a:endParaRPr lang="en-US" sz="2600" dirty="0"/>
          </a:p>
        </p:txBody>
      </p:sp>
      <p:sp>
        <p:nvSpPr>
          <p:cNvPr id="33" name="Text 30"/>
          <p:cNvSpPr txBox="1"/>
          <p:nvPr/>
        </p:nvSpPr>
        <p:spPr>
          <a:xfrm>
            <a:off x="7863840" y="5943600"/>
            <a:ext cx="3840480" cy="457200"/>
          </a:xfrm>
          <a:prstGeom prst="rect">
            <a:avLst/>
          </a:prstGeom>
          <a:noFill/>
          <a:ln/>
        </p:spPr>
        <p:txBody>
          <a:bodyPr wrap="square" lIns="0" tIns="0" rIns="0" bIns="0" rtlCol="0" anchor="t"/>
          <a:lstStyle/>
          <a:p>
            <a:pPr algn="l" indent="0" marL="0">
              <a:buNone/>
            </a:pPr>
            <a:r>
              <a:rPr lang="en-US" sz="1100" dirty="0">
                <a:solidFill>
                  <a:srgbClr val="C9CCD1"/>
                </a:solidFill>
                <a:latin typeface="Calibri" pitchFamily="34" charset="0"/>
                <a:ea typeface="Calibri" pitchFamily="34" charset="-122"/>
                <a:cs typeface="Calibri" pitchFamily="34" charset="-120"/>
              </a:rPr>
              <a:t>Prepares and checks bookings. Does not contact carriers or replace customs clearance.</a:t>
            </a:r>
            <a:endParaRPr lang="en-US" sz="1100" dirty="0"/>
          </a:p>
        </p:txBody>
      </p:sp>
    </p:spTree>
  </p:cSld>
  <p:clrMapOvr>
    <a:masterClrMapping/>
  </p:clrMapOvr>
</p:sld>
</file>

<file path=ppt/theme/theme1.xml><?xml version="1.0" encoding="utf-8"?>
<a:theme xmlns:a="http://schemas.openxmlformats.org/drawingml/2006/main" name="ShipmentOS">
  <a:themeElements>
    <a:clrScheme name="ShipmentOS">
      <a:dk1>
        <a:srgbClr val="15171A"/>
      </a:dk1>
      <a:lt1>
        <a:srgbClr val="FFFFFF"/>
      </a:lt1>
      <a:dk2>
        <a:srgbClr val="2A2D31"/>
      </a:dk2>
      <a:lt2>
        <a:srgbClr val="F4F5F1"/>
      </a:lt2>
      <a:accent1>
        <a:srgbClr val="C9E858"/>
      </a:accent1>
      <a:accent2>
        <a:srgbClr val="B9AEEF"/>
      </a:accent2>
      <a:accent3>
        <a:srgbClr val="D64545"/>
      </a:accent3>
      <a:accent4>
        <a:srgbClr val="E9A93A"/>
      </a:accent4>
      <a:accent5>
        <a:srgbClr val="6B7075"/>
      </a:accent5>
      <a:accent6>
        <a:srgbClr val="3E7C59"/>
      </a:accent6>
      <a:hlink>
        <a:srgbClr val="2A2D31"/>
      </a:hlink>
      <a:folHlink>
        <a:srgbClr val="6B7075"/>
      </a:folHlink>
    </a:clrScheme>
    <a:fontScheme name="ShipmentO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Ops Hackathon, Case 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ShipmentOS: Conversational Shipment Booking &amp; Pre-Flight Error Checker</dc:title>
  <dc:subject>PptxGenJS Presentation</dc:subject>
  <dc:creator>ShipmentOS team</dc:creator>
  <cp:lastModifiedBy>ShipmentOS team</cp:lastModifiedBy>
  <cp:revision>1</cp:revision>
  <dcterms:created xsi:type="dcterms:W3CDTF">2026-10-26T18:22:47Z</dcterms:created>
  <dcterms:modified xsi:type="dcterms:W3CDTF">2026-10-26T18:22:47Z</dcterms:modified>
</cp:coreProperties>
</file>