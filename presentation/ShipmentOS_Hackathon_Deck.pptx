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Establish what ShipmentOS is in ten seconds.
SAY: "Booking a cross-border shipment means long, confusing forms, and small mistakes in them are what get goods stuck at customs or units reported missing at the warehouse. ShipmentOS is two doors into one checking engine. Door one: you describe the shipment in a sentence and it asks only for what's missing. Door two: you upload an Excel workbook and every booking in it is checked. Either way you get what's wrong, how serious it is, how to fix it and which carrier to use, before anything leaves the dock."
POINT AT: the two screens on the right are the real deployed app, not mock-ups: a chat after the seller changed 3 pallets to 4, and the pre-flight result for a booking flagged by the carton rule.
EVIDENCE: all screens captured from the live deployment (Vercel production, commit 84d73ea). ShipmentOS is a booking-preparation and pre-flight tool; it does not contact carriers.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Make the problem concrete and tie it to the hackathon PDF.
SAY: "The case PDF puts it plainly: small mistakes in long, confusing booking forms cause most of the pain later: goods held at customs, or units reported missing at the receiving warehouse, and sellers often only find out days later when their stock is already stuck. Read across the journey. Early on, facts go missing: no HS code, no country of origin, a hazardous item nobody flagged. In the forms, the numbers disagree: this mug booking declares 1,080 units but 12 units a carton times 80 cartons is only 960. At the carrier step, a pallet can be heavier than the service accepts, or the warehouse slot was never booked, and picking the right carrier means trading cost against speed against reliability. Every red or amber tag on this slide is one of the ten rules in the hackathon rulebook."
NOTE: no statistics are quoted because none come from the case material. The consequences are the PDF's own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the product concept and why one shared engine matters.
SAY: "There are two independent ways in. You can chat: describe the shipment and answer a couple of questions; no file needed. Or you can upload the Bookings and Items workbook; no chat needed. You never have to do both. Both doors feed the same layer: a structured booking, the ten rulebook checks, a carrier recommendation, and a plain-English result."
WHY ONE ENGINE (the key point): the hackathon tests the same booking from both directions: conversationally and via file. If each path had its own logic they could disagree. In ShipmentOS both paths produce the same canonical booking and call one evaluation function, so a booking gets the same verdict whichever door it came through, and every rule is written once.
ACCURACY NOTE: template-format Excel uploads are parsed and checked without any AI. Gemini only appears in the chat door (and in an optional fallback that reads non-template workbooks dropped into a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Let the judges see the real experience, following one coherent example.
DEMO STORY (matches the live demo script):
1. Describe it: the seller types "I want to send 3 pallets of ceramic mugs from Manchester to a warehouse in Frankfurt, ready on 5 November. Cheapest please." ShipmentOS pulls out the route, destination type, date, priority and pallets, notes it assumed the year, and asks only for the next missing details (seller, SKU, quantity).
2. Change your mind: after the details are in and all ten checks pass (Carrier A, 3 x £180 = £540), the seller says "Actually, make that 4 pallets." The reply is "pallets 3 → 4", the price recomputes to £720 (155 kg per pallet), and nothing else is re-asked.
3. See the verdict: for Excel files (or any chat booking) the result shows ten check tiles, which rule failed, the numbers, the fix and what happens next. Shown here: BK-203 from the planted-errors test workbook.
4. Come back later: the All bookings page lists chat and Excel bookings together with Drafts / Sync to ERP / Completed tabs and counts, a date filter and search; every row has Open and Delete, and any booking can be reopened and edited.
HONESTY NOTES: the BK-001 values (3 pallets, 90 cartons, 1,080 mugs, 620 kg, £5,400, Manchester → Frankfurt, 5 Nov 2026) are the example row from the case template. The "Send to ERP" button on the booking page logs the booking as completed inside ShipmentOS; it is not a carrier or real-ERP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how it works inside, and why the architecture was chosen.
SAY: "Gemini understands the seller's request. Zod validates its structure. Neon preserves the booking state. TypeScript independently verifies the shipment."
WALK THE DIAGRAM left to right:
- The browser is Next.js 16 and React 19 with Tailwind. It talks to Next.js API routes; there is no login, just an anonymous HttpOnly cookie that scopes everything to that browser.
- Chat door: the message goes to Gemini (gemini-3.5-flash), which returns a small list of typed patch operations (set, increment, add item, remove...). It does not compute totals, rule verdicts, carriers or dates. Zod validates every operation and malformed output is rejected, with one automatic repair retry; the patch engine then applies it to the booking.
- Excel door: ExcelJS reads the Bookings and Items sheets, Zod validates the rows, and problems with the file itself are reported separately from rule failures. No AI involved for template files.
- Both doors produce the same canonical booking. The TypeScript engine then runs the ten rules with exact decimal arithmetic, ranks the carriers and writes the plain-English result.
- Neon stores bookings, items, chat messages, numbered revisions and evaluations through Drizzle, in one transaction per turn. The rate card (9 rows) and rulebook (10 rows) are seeded from the case sheets; the app refuses to evaluate if they ever diverge from the checked-in copy.
WHY IT MATTERS: consistency (same input, same verdict), explainability (every finding shows actual versus expected and a fix), reliability (if Gemini is down, Excel and the Edit booking form still work).
VERIFIED AGAINST THE CODE: Next.js 16.4, React 19.3, Tailwind 4, Zod 4, ExcelJS, @google/genai, Drizzle, pg, Neon, Vitest, Playwright, Vercel (package.json, lib/ai/extract.ts, lib/domain/*, lib/db/schema.ts, docs/DEPLOYMENT.md). UI components are hand-built (native dialog), not a component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Showcase the core decision engine: ten rules, a concrete example, and how the carrier is chosen.
LEFT: the ten rules are exactly the case rulebook (sheet 4): five Red ("must not go until fixed") and five Amber ("risky, should be fixed or checked"). Every rule is always reported: pass, fail, or "not evaluable" when the inputs aren't known yet. A rule is never shown as passed just because data is missing.
MIDDLE (worked example, from the planted-errors test workbook, BK-203): the item declares 1,080 units. 12 units per carton times 80 cartons is only 960. R-03 fails, it is Red, so the booking is Blocked. The fix is specific and goes both ways: change cartons to 90, or change the quantity to 960, after checking physical stock. ShipmentOS never rewrites the seller's data silently. The panel at the bottom is the real output from the deployed app.
RIGHT (the actual ranking logic in lib/domain/carriers.ts):
1. Route filter: only services on UK to the destination country.
2. Weight filter: gross weight divided by pallets must not exceed the service's max kg per pallet. Ineligible services are removed BEFORE ranking, so a service that can't carry the load can never be recommended, however cheap.
3. Rank by the seller's priority. Cheapest = lowest total cost (pallets x price). Fastest = fewest transit days. Most reliable = highest on-time %. Balanced = 40% cost + 30% speed + 30% reliability, each scaled 0 to 1 across the eligible options. Tie-break: cheaper, then faster, then more reliable.
The Balanced weights are our own decision; the case only says Balanced means "no strong preference, best trade-off". Say so if asked.
NUMBERS (rate card from the case template): Germany A £180 / 5 days / 92% / 500 kg per pallet; B £220 / 3 days / 95% / 750 kg; C £340 / 2 days / 98% / 400 kg. For 3 pallets and 620 kg (206.67 kg per pallet) all three fit: A £540, B £660, C £1,020. Balanced scores work out at A 0.40, B 0.65, C 0.60, so Balanced picks B. At 1,800 kg (600 kg per pallet) A and C are excluded and B (£660) is the only option.
CAVEAT: this is booking-preparation checking, not customs clearance. R-06 is a phrase screen, not a regulatory dangerous-goods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this is engineered, not merely a chatbot placed on top of a form. Each decision is tied to what it gives the user.
1. TYPED PATCHES, NOT A RESTART. Gemini returns operations like "increment pallets by 1", not a fresh booking. The app applies them to the saved draft, so "Actually, make that 4 pallets" keeps everything else. Each turn is saved atomically with a revision number; resending the same request applies once; a stale edit is rejected with a conflict instead of overwriting. (Test matrix scenario 22 and 24.)
2. RULES DECIDE, AI NEVER DOES. All arithmetic runs in exact integer math at 1/10,000 precision, so the 1% tolerance in R-02 is exact, not floating point. Findings carry actual and expected values and a concrete fix, which is what the judges asked for: "what is wrong, how serious it is, and how to fix it".
3. ONE SHARED ENGINE. Chat and Excel produce the same canonical booking and call the same evaluation function (lib/domain/evaluate.ts). Fixing a rule once fixes both doors.
4. SAVED, VERSIONED, NO LOGIN. The case requires that the link works without help or a login. ShipmentOS uses an anonymous HttpOnly cookie; only a hash of it is stored; sessions expire 7 days after the last visit; "Reset my data" deletes everything immediately. Bookings, messages, revisions and evaluations persist in Neon so a chat or upload can be reopened later.
No named competitors are compared; the left column is a generic manual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Close with proof it exists, what was verified, and where it goes next.
SAY: "This is live right now: shipmentos-preflight.vercel.app, no login, and the repository is public. Scan the code to try it. On 26 October 2026 we ran 112 unit tests and 51 integration tests (route handlers against a Neon test branch), and a 28-check smoke test against the live production URL; all passed."
EVIDENCE (collected 26 October 2026 and re-runnable): 112 Vitest unit tests passed (10 files); 51 Vitest integration tests passed with 3 skipped (the 3 skipped are the opt-in live-Gemini test and are not counted), run against the isolated Neon dev branch with the deterministic fake extractor; 28 of 28 checks passed in scripts/smoke.ts against the production URL (run twice, the second time against commit 84d73ea) (public access, no secrets in client bundles, real Gemini extraction, +1 pallet to £720, idempotent retry, 409 on stale revision, both uploads, cross-session isolation). A Playwright end-to-end suite exists in tests/e2e but was NOT re-run for this deck. The unit test run used the local working tree, which has uncommitted changes that are not yet deployed.
WHAT WAS DEMONSTRATED: chat booking with follow-up questions, a mid-conversation change, Excel upload with planted errors, all ten rules with fixes, carrier recommendation by priority, and saved bookings that can be reopened.
FUTURE OPPORTUNITIES (explicitly NOT built): real carrier booking, commercial-invoice and document generation, more routes, shipment tracking, deeper customs integrations. Today ShipmentOS prepares and checks a booking; the seller still submits it to a carrier themselves.
LIMITS TO STATE IF ASKED: R-06 is a phrase screen, not a dangerous-goods classifier; indicative delivery is collection plus transit in calendar days, not a carrier schedule; history is per browser; no usage or accuracy numbers are claimed because none have been measured.
CLOSE: "Book it in a sentence. Check it before it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_T">
    <p:bg>
      <p:bgPr>
        <a:solidFill>
          <a:srgbClr val="F4F5F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914400"/>
          </a:xfrm>
          <a:prstGeom prst="rect">
            <a:avLst/>
          </a:prstGeom>
          <a:noFill/>
          <a:ln/>
        </p:spPr>
        <p:txBody>
          <a:bodyPr wrap="square" rtlCol="0"/>
          <a:lstStyle>
            <a:lvl1pPr algn="l" indent="0" marL="0">
              <a:buNone/>
              <a:defRPr lang="en-US" sz="3000" b="1" dirty="0">
                <a:solidFill>
                  <a:schemeClr val="tx1"/>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ShipmentOS  ·  Ops Hackathon Case 2</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
    <p:bg>
      <p:bgPr>
        <a:solidFill>
          <a:srgbClr val="1517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188720"/>
            <a:ext cx="5394960" cy="2743200"/>
          </a:xfrm>
          <a:prstGeom prst="rect">
            <a:avLst/>
          </a:prstGeom>
          <a:noFill/>
          <a:ln/>
        </p:spPr>
        <p:txBody>
          <a:bodyPr wrap="square" rtlCol="0"/>
          <a:lstStyle>
            <a:lvl1pPr algn="l" indent="0" marL="0">
              <a:buNone/>
              <a:defRPr lang="en-US" sz="4200" b="1" dirty="0">
                <a:solidFill>
                  <a:schemeClr val="bg1"/>
                </a:solidFill>
                <a:latin typeface="Calibri" pitchFamily="34" charset="0"/>
                <a:ea typeface="Calibri" pitchFamily="34" charset="-122"/>
                <a:cs typeface="Calibri" pitchFamily="34" charset="-120"/>
              </a:defRPr>
            </a:lvl1pPr>
          </a:lstStyle>
          <a:p>
            <a:pPr algn="l" indent="0" marL="0">
              <a:buNone/>
            </a:pPr>
            <a:endParaRPr lang="en-US" sz="4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T2">
    <p:bg>
      <p:bgPr>
        <a:solidFill>
          <a:srgbClr val="1517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6400800" cy="731520"/>
          </a:xfrm>
          <a:prstGeom prst="rect">
            <a:avLst/>
          </a:prstGeom>
          <a:noFill/>
          <a:ln/>
        </p:spPr>
        <p:txBody>
          <a:bodyPr wrap="square" rtlCol="0"/>
          <a:lstStyle>
            <a:lvl1pPr algn="l" indent="0" marL="0">
              <a:buNone/>
              <a:defRPr lang="en-US" sz="3200" b="1" dirty="0">
                <a:solidFill>
                  <a:schemeClr val="bg1"/>
                </a:solidFill>
                <a:latin typeface="Calibri" pitchFamily="34" charset="0"/>
                <a:ea typeface="Calibri" pitchFamily="34" charset="-122"/>
                <a:cs typeface="Calibri" pitchFamily="34" charset="-120"/>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40080" y="640080"/>
            <a:ext cx="2514600" cy="347472"/>
          </a:xfrm>
          <a:prstGeom prst="roundRect">
            <a:avLst>
              <a:gd name="adj" fmla="val 50000"/>
            </a:avLst>
          </a:prstGeom>
          <a:solidFill>
            <a:schemeClr val="accent1"/>
          </a:solidFill>
          <a:ln/>
        </p:spPr>
      </p:sp>
      <p:sp>
        <p:nvSpPr>
          <p:cNvPr id="3" name="Text 1"/>
          <p:cNvSpPr txBox="1"/>
          <p:nvPr/>
        </p:nvSpPr>
        <p:spPr>
          <a:xfrm>
            <a:off x="640080" y="640080"/>
            <a:ext cx="2514600" cy="347472"/>
          </a:xfrm>
          <a:prstGeom prst="rect">
            <a:avLst/>
          </a:prstGeom>
          <a:noFill/>
          <a:ln/>
        </p:spPr>
        <p:txBody>
          <a:bodyPr wrap="square" lIns="0" tIns="0" rIns="0" bIns="0" rtlCol="0" anchor="ctr"/>
          <a:lstStyle/>
          <a:p>
            <a:pPr algn="ctr" indent="0" marL="0">
              <a:buNone/>
            </a:pPr>
            <a:r>
              <a:rPr lang="en-US" sz="1100" b="1" spc="150" kern="0" dirty="0">
                <a:solidFill>
                  <a:schemeClr val="tx1"/>
                </a:solidFill>
                <a:latin typeface="Calibri" pitchFamily="34" charset="0"/>
                <a:ea typeface="Calibri" pitchFamily="34" charset="-122"/>
                <a:cs typeface="Calibri" pitchFamily="34" charset="-120"/>
              </a:rPr>
              <a:t>INTRODUCING SHIPMENTOS</a:t>
            </a:r>
            <a:endParaRPr lang="en-US" sz="1100" dirty="0"/>
          </a:p>
        </p:txBody>
      </p:sp>
      <p:sp>
        <p:nvSpPr>
          <p:cNvPr id="4" name="Text 0"/>
          <p:cNvSpPr/>
          <p:nvPr>
            <p:ph idx="100" type="title" hasCustomPrompt="1"/>
          </p:nvPr>
        </p:nvSpPr>
        <p:spPr>
          <a:xfrm>
            <a:off x="640080" y="1188720"/>
            <a:ext cx="5394960" cy="2743200"/>
          </a:xfrm>
          <a:prstGeom prst="rect">
            <a:avLst/>
          </a:prstGeom>
          <a:noFill/>
          <a:ln/>
        </p:spPr>
        <p:txBody>
          <a:bodyPr wrap="square" lIns="0" tIns="0" rIns="0" bIns="0" rtlCol="0" anchor="t"/>
          <a:lstStyle/>
          <a:p>
            <a:pPr algn="l" indent="0" marL="0">
              <a:buNone/>
            </a:pPr>
            <a:r>
              <a:rPr lang="en-US" sz="4200" b="1" dirty="0">
                <a:solidFill>
                  <a:schemeClr val="bg1"/>
                </a:solidFill>
                <a:latin typeface="Calibri" pitchFamily="34" charset="0"/>
                <a:ea typeface="Calibri" pitchFamily="34" charset="-122"/>
                <a:cs typeface="Calibri" pitchFamily="34" charset="-120"/>
              </a:rPr>
              <a:t>From shipment details to dispatch-ready decisions</a:t>
            </a:r>
            <a:endParaRPr lang="en-US" sz="4200" dirty="0"/>
          </a:p>
        </p:txBody>
      </p:sp>
      <p:sp>
        <p:nvSpPr>
          <p:cNvPr id="5" name="Text 3"/>
          <p:cNvSpPr txBox="1"/>
          <p:nvPr/>
        </p:nvSpPr>
        <p:spPr>
          <a:xfrm>
            <a:off x="640080" y="4069080"/>
            <a:ext cx="5257800" cy="1143000"/>
          </a:xfrm>
          <a:prstGeom prst="rect">
            <a:avLst/>
          </a:prstGeom>
          <a:noFill/>
          <a:ln/>
        </p:spPr>
        <p:txBody>
          <a:bodyPr wrap="square" lIns="0" tIns="0" rIns="0" bIns="0" rtlCol="0" anchor="t"/>
          <a:lstStyle/>
          <a:p>
            <a:pPr algn="l" indent="0" marL="0">
              <a:buNone/>
            </a:pPr>
            <a:r>
              <a:rPr lang="en-US" sz="1600" dirty="0">
                <a:solidFill>
                  <a:srgbClr val="C9CCD1"/>
                </a:solidFill>
                <a:latin typeface="Calibri" pitchFamily="34" charset="0"/>
                <a:ea typeface="Calibri" pitchFamily="34" charset="-122"/>
                <a:cs typeface="Calibri" pitchFamily="34" charset="-120"/>
              </a:rPr>
              <a:t>Describe a UK → EU pallet shipment in plain English, or upload an Excel workbook. ShipmentOS runs ten pre-flight checks and recommends a carrier before anything leaves the dock.</a:t>
            </a:r>
            <a:endParaRPr lang="en-US" sz="1600" dirty="0"/>
          </a:p>
        </p:txBody>
      </p:sp>
      <p:sp>
        <p:nvSpPr>
          <p:cNvPr id="6" name="Shape 4"/>
          <p:cNvSpPr/>
          <p:nvPr/>
        </p:nvSpPr>
        <p:spPr>
          <a:xfrm>
            <a:off x="640080" y="5349240"/>
            <a:ext cx="2560320" cy="868680"/>
          </a:xfrm>
          <a:prstGeom prst="roundRect">
            <a:avLst>
              <a:gd name="adj" fmla="val 14737"/>
            </a:avLst>
          </a:prstGeom>
          <a:solidFill>
            <a:srgbClr val="2A2D31"/>
          </a:solidFill>
          <a:ln/>
        </p:spPr>
      </p:sp>
      <p:pic>
        <p:nvPicPr>
          <p:cNvPr id="7" name="Image 0" descr="chat icon">    </p:cNvPr>
          <p:cNvPicPr>
            <a:picLocks noChangeAspect="1"/>
          </p:cNvPicPr>
          <p:nvPr/>
        </p:nvPicPr>
        <p:blipFill>
          <a:blip r:embed="rId1"/>
          <a:stretch>
            <a:fillRect/>
          </a:stretch>
        </p:blipFill>
        <p:spPr>
          <a:xfrm>
            <a:off x="822960" y="5596128"/>
            <a:ext cx="365760" cy="365760"/>
          </a:xfrm>
          <a:prstGeom prst="rect">
            <a:avLst/>
          </a:prstGeom>
        </p:spPr>
      </p:pic>
      <p:sp>
        <p:nvSpPr>
          <p:cNvPr id="8" name="Text 5"/>
          <p:cNvSpPr txBox="1"/>
          <p:nvPr/>
        </p:nvSpPr>
        <p:spPr>
          <a:xfrm>
            <a:off x="1353312" y="5468112"/>
            <a:ext cx="1783080" cy="2743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Conversational booking</a:t>
            </a:r>
            <a:endParaRPr lang="en-US" sz="1400" dirty="0"/>
          </a:p>
        </p:txBody>
      </p:sp>
      <p:sp>
        <p:nvSpPr>
          <p:cNvPr id="9" name="Text 6"/>
          <p:cNvSpPr txBox="1"/>
          <p:nvPr/>
        </p:nvSpPr>
        <p:spPr>
          <a:xfrm>
            <a:off x="1353312" y="5760720"/>
            <a:ext cx="1783080" cy="365760"/>
          </a:xfrm>
          <a:prstGeom prst="rect">
            <a:avLst/>
          </a:prstGeom>
          <a:noFill/>
          <a:ln/>
        </p:spPr>
        <p:txBody>
          <a:bodyPr wrap="square" lIns="0" tIns="0" rIns="0" bIns="0" rtlCol="0" anchor="t"/>
          <a:lstStyle/>
          <a:p>
            <a:pPr algn="l" indent="0" marL="0">
              <a:buNone/>
            </a:pPr>
            <a:r>
              <a:rPr lang="en-US" sz="1200" dirty="0">
                <a:solidFill>
                  <a:srgbClr val="C9CCD1"/>
                </a:solidFill>
                <a:latin typeface="Calibri" pitchFamily="34" charset="0"/>
                <a:ea typeface="Calibri" pitchFamily="34" charset="-122"/>
                <a:cs typeface="Calibri" pitchFamily="34" charset="-120"/>
              </a:rPr>
              <a:t>Ask only for what’s missing</a:t>
            </a:r>
            <a:endParaRPr lang="en-US" sz="1200" dirty="0"/>
          </a:p>
        </p:txBody>
      </p:sp>
      <p:sp>
        <p:nvSpPr>
          <p:cNvPr id="10" name="Shape 7"/>
          <p:cNvSpPr/>
          <p:nvPr/>
        </p:nvSpPr>
        <p:spPr>
          <a:xfrm>
            <a:off x="3337560" y="5349240"/>
            <a:ext cx="2560320" cy="868680"/>
          </a:xfrm>
          <a:prstGeom prst="roundRect">
            <a:avLst>
              <a:gd name="adj" fmla="val 14737"/>
            </a:avLst>
          </a:prstGeom>
          <a:solidFill>
            <a:srgbClr val="2A2D31"/>
          </a:solidFill>
          <a:ln/>
        </p:spPr>
      </p:sp>
      <p:pic>
        <p:nvPicPr>
          <p:cNvPr id="11" name="Image 1" descr="excel icon">    </p:cNvPr>
          <p:cNvPicPr>
            <a:picLocks noChangeAspect="1"/>
          </p:cNvPicPr>
          <p:nvPr/>
        </p:nvPicPr>
        <p:blipFill>
          <a:blip r:embed="rId2"/>
          <a:stretch>
            <a:fillRect/>
          </a:stretch>
        </p:blipFill>
        <p:spPr>
          <a:xfrm>
            <a:off x="3520440" y="5596128"/>
            <a:ext cx="365760" cy="365760"/>
          </a:xfrm>
          <a:prstGeom prst="rect">
            <a:avLst/>
          </a:prstGeom>
        </p:spPr>
      </p:pic>
      <p:sp>
        <p:nvSpPr>
          <p:cNvPr id="12" name="Text 8"/>
          <p:cNvSpPr txBox="1"/>
          <p:nvPr/>
        </p:nvSpPr>
        <p:spPr>
          <a:xfrm>
            <a:off x="4050792" y="5468112"/>
            <a:ext cx="1783080" cy="2743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Excel pre-flight</a:t>
            </a:r>
            <a:endParaRPr lang="en-US" sz="1400" dirty="0"/>
          </a:p>
        </p:txBody>
      </p:sp>
      <p:sp>
        <p:nvSpPr>
          <p:cNvPr id="13" name="Text 9"/>
          <p:cNvSpPr txBox="1"/>
          <p:nvPr/>
        </p:nvSpPr>
        <p:spPr>
          <a:xfrm>
            <a:off x="4050792" y="5760720"/>
            <a:ext cx="1783080" cy="365760"/>
          </a:xfrm>
          <a:prstGeom prst="rect">
            <a:avLst/>
          </a:prstGeom>
          <a:noFill/>
          <a:ln/>
        </p:spPr>
        <p:txBody>
          <a:bodyPr wrap="square" lIns="0" tIns="0" rIns="0" bIns="0" rtlCol="0" anchor="t"/>
          <a:lstStyle/>
          <a:p>
            <a:pPr algn="l" indent="0" marL="0">
              <a:buNone/>
            </a:pPr>
            <a:r>
              <a:rPr lang="en-US" sz="1200" dirty="0">
                <a:solidFill>
                  <a:srgbClr val="C9CCD1"/>
                </a:solidFill>
                <a:latin typeface="Calibri" pitchFamily="34" charset="0"/>
                <a:ea typeface="Calibri" pitchFamily="34" charset="-122"/>
                <a:cs typeface="Calibri" pitchFamily="34" charset="-120"/>
              </a:rPr>
              <a:t>Every booking in the file checked</a:t>
            </a:r>
            <a:endParaRPr lang="en-US" sz="1200" dirty="0"/>
          </a:p>
        </p:txBody>
      </p:sp>
      <p:sp>
        <p:nvSpPr>
          <p:cNvPr id="14" name="Shape 10"/>
          <p:cNvSpPr/>
          <p:nvPr/>
        </p:nvSpPr>
        <p:spPr>
          <a:xfrm>
            <a:off x="6309360" y="640080"/>
            <a:ext cx="5394960" cy="3406140"/>
          </a:xfrm>
          <a:prstGeom prst="roundRect">
            <a:avLst>
              <a:gd name="adj" fmla="val 2685"/>
            </a:avLst>
          </a:prstGeom>
          <a:solidFill>
            <a:schemeClr val="bg1"/>
          </a:solidFill>
          <a:ln w="9525">
            <a:solidFill>
              <a:srgbClr val="2A2D31"/>
            </a:solidFill>
            <a:prstDash val="solid"/>
          </a:ln>
          <a:effectLst>
            <a:outerShdw sx="100000" sy="100000" kx="0" ky="0" algn="bl" rotWithShape="0" blurRad="127000" dist="38100" dir="5400000">
              <a:srgbClr val="000000">
                <a:alpha val="12000"/>
              </a:srgbClr>
            </a:outerShdw>
          </a:effectLst>
        </p:spPr>
      </p:sp>
      <p:pic>
        <p:nvPicPr>
          <p:cNvPr id="15" name="Image 2" descr="ShipmentOS chat booking screen after the seller changes pallets from 3 to 4">    </p:cNvPr>
          <p:cNvPicPr>
            <a:picLocks noChangeAspect="1"/>
          </p:cNvPicPr>
          <p:nvPr/>
        </p:nvPicPr>
        <p:blipFill>
          <a:blip r:embed="rId3"/>
          <a:stretch>
            <a:fillRect/>
          </a:stretch>
        </p:blipFill>
        <p:spPr>
          <a:xfrm>
            <a:off x="6355080" y="685800"/>
            <a:ext cx="5303520" cy="3314700"/>
          </a:xfrm>
          <a:prstGeom prst="rect">
            <a:avLst/>
          </a:prstGeom>
        </p:spPr>
      </p:pic>
      <p:sp>
        <p:nvSpPr>
          <p:cNvPr id="16" name="Shape 11"/>
          <p:cNvSpPr/>
          <p:nvPr/>
        </p:nvSpPr>
        <p:spPr>
          <a:xfrm>
            <a:off x="7772400" y="3337560"/>
            <a:ext cx="3931920" cy="2491740"/>
          </a:xfrm>
          <a:prstGeom prst="roundRect">
            <a:avLst>
              <a:gd name="adj" fmla="val 3670"/>
            </a:avLst>
          </a:prstGeom>
          <a:solidFill>
            <a:schemeClr val="bg1"/>
          </a:solidFill>
          <a:ln w="9525">
            <a:solidFill>
              <a:srgbClr val="2A2D31"/>
            </a:solidFill>
            <a:prstDash val="solid"/>
          </a:ln>
          <a:effectLst>
            <a:outerShdw sx="100000" sy="100000" kx="0" ky="0" algn="bl" rotWithShape="0" blurRad="127000" dist="38100" dir="5400000">
              <a:srgbClr val="000000">
                <a:alpha val="12000"/>
              </a:srgbClr>
            </a:outerShdw>
          </a:effectLst>
        </p:spPr>
      </p:sp>
      <p:pic>
        <p:nvPicPr>
          <p:cNvPr id="17" name="Image 3" descr="ShipmentOS pre-flight result flagging rule R-03 on booking BK-203">    </p:cNvPr>
          <p:cNvPicPr>
            <a:picLocks noChangeAspect="1"/>
          </p:cNvPicPr>
          <p:nvPr/>
        </p:nvPicPr>
        <p:blipFill>
          <a:blip r:embed="rId4"/>
          <a:stretch>
            <a:fillRect/>
          </a:stretch>
        </p:blipFill>
        <p:spPr>
          <a:xfrm>
            <a:off x="7818120" y="3383280"/>
            <a:ext cx="3840480" cy="2400300"/>
          </a:xfrm>
          <a:prstGeom prst="rect">
            <a:avLst/>
          </a:prstGeom>
        </p:spPr>
      </p:pic>
      <p:sp>
        <p:nvSpPr>
          <p:cNvPr id="18" name="Text 12"/>
          <p:cNvSpPr txBox="1"/>
          <p:nvPr/>
        </p:nvSpPr>
        <p:spPr>
          <a:xfrm>
            <a:off x="6355080" y="6035040"/>
            <a:ext cx="5303520" cy="411480"/>
          </a:xfrm>
          <a:prstGeom prst="rect">
            <a:avLst/>
          </a:prstGeom>
          <a:noFill/>
          <a:ln/>
        </p:spPr>
        <p:txBody>
          <a:bodyPr wrap="square" lIns="0" tIns="0" rIns="0" bIns="0" rtlCol="0" anchor="t"/>
          <a:lstStyle/>
          <a:p>
            <a:pPr algn="r" indent="0" marL="0">
              <a:buNone/>
            </a:pPr>
            <a:r>
              <a:rPr lang="en-US" sz="1100" dirty="0">
                <a:solidFill>
                  <a:srgbClr val="C9CCD1"/>
                </a:solidFill>
                <a:latin typeface="Calibri" pitchFamily="34" charset="0"/>
                <a:ea typeface="Calibri" pitchFamily="34" charset="-122"/>
                <a:cs typeface="Calibri" pitchFamily="34" charset="-120"/>
              </a:rPr>
              <a:t>Live product screens: chat booking (top), pre-flight result (bottom)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914400"/>
          </a:xfrm>
          <a:prstGeom prst="rect">
            <a:avLst/>
          </a:prstGeom>
          <a:noFill/>
          <a:ln/>
        </p:spPr>
        <p:txBody>
          <a:bodyPr wrap="square" lIns="0" tIns="0" rIns="0" bIns="0" rtlCol="0" anchor="t"/>
          <a:lstStyle/>
          <a:p>
            <a:pPr algn="l" indent="0" marL="0">
              <a:buNone/>
            </a:pPr>
            <a:r>
              <a:rPr lang="en-US" sz="3000" b="1" dirty="0">
                <a:solidFill>
                  <a:schemeClr val="tx1"/>
                </a:solidFill>
                <a:latin typeface="Calibri" pitchFamily="34" charset="0"/>
                <a:ea typeface="Calibri" pitchFamily="34" charset="-122"/>
                <a:cs typeface="Calibri" pitchFamily="34" charset="-120"/>
              </a:rPr>
              <a:t>One small form mistake becomes a customs hold or a missing pallet</a:t>
            </a:r>
            <a:endParaRPr lang="en-US" sz="3000" dirty="0"/>
          </a:p>
        </p:txBody>
      </p:sp>
      <p:sp>
        <p:nvSpPr>
          <p:cNvPr id="3" name="Shape 1"/>
          <p:cNvSpPr/>
          <p:nvPr/>
        </p:nvSpPr>
        <p:spPr>
          <a:xfrm>
            <a:off x="548640" y="1417320"/>
            <a:ext cx="2715768" cy="548640"/>
          </a:xfrm>
          <a:prstGeom prst="homePlate">
            <a:avLst/>
          </a:prstGeom>
          <a:solidFill>
            <a:schemeClr val="tx1"/>
          </a:solidFill>
          <a:ln w="12700">
            <a:solidFill>
              <a:schemeClr val="tx1"/>
            </a:solidFill>
            <a:prstDash val="solid"/>
          </a:ln>
        </p:spPr>
      </p:sp>
      <p:sp>
        <p:nvSpPr>
          <p:cNvPr id="4" name="Text 2"/>
          <p:cNvSpPr txBox="1"/>
          <p:nvPr/>
        </p:nvSpPr>
        <p:spPr>
          <a:xfrm>
            <a:off x="731520" y="1417320"/>
            <a:ext cx="2331720" cy="548640"/>
          </a:xfrm>
          <a:prstGeom prst="rect">
            <a:avLst/>
          </a:prstGeom>
          <a:noFill/>
          <a:ln/>
        </p:spPr>
        <p:txBody>
          <a:bodyPr wrap="square" lIns="0" tIns="0" rIns="0" bIns="0" rtlCol="0" anchor="ctr"/>
          <a:lstStyle/>
          <a:p>
            <a:pPr algn="l" indent="0" marL="0">
              <a:buNone/>
            </a:pPr>
            <a:r>
              <a:rPr lang="en-US" sz="1600" b="1" dirty="0">
                <a:solidFill>
                  <a:schemeClr val="bg1"/>
                </a:solidFill>
                <a:latin typeface="Calibri" pitchFamily="34" charset="0"/>
                <a:ea typeface="Calibri" pitchFamily="34" charset="-122"/>
                <a:cs typeface="Calibri" pitchFamily="34" charset="-120"/>
              </a:rPr>
              <a:t>1  Gather the facts</a:t>
            </a:r>
            <a:endParaRPr lang="en-US" sz="1600" dirty="0"/>
          </a:p>
        </p:txBody>
      </p:sp>
      <p:sp>
        <p:nvSpPr>
          <p:cNvPr id="5" name="Shape 3"/>
          <p:cNvSpPr/>
          <p:nvPr/>
        </p:nvSpPr>
        <p:spPr>
          <a:xfrm>
            <a:off x="3377184" y="1417320"/>
            <a:ext cx="2715768" cy="548640"/>
          </a:xfrm>
          <a:prstGeom prst="homePlate">
            <a:avLst/>
          </a:prstGeom>
          <a:solidFill>
            <a:schemeClr val="tx1"/>
          </a:solidFill>
          <a:ln w="12700">
            <a:solidFill>
              <a:schemeClr val="tx1"/>
            </a:solidFill>
            <a:prstDash val="solid"/>
          </a:ln>
        </p:spPr>
      </p:sp>
      <p:sp>
        <p:nvSpPr>
          <p:cNvPr id="6" name="Text 4"/>
          <p:cNvSpPr txBox="1"/>
          <p:nvPr/>
        </p:nvSpPr>
        <p:spPr>
          <a:xfrm>
            <a:off x="3560064" y="1417320"/>
            <a:ext cx="2331720" cy="548640"/>
          </a:xfrm>
          <a:prstGeom prst="rect">
            <a:avLst/>
          </a:prstGeom>
          <a:noFill/>
          <a:ln/>
        </p:spPr>
        <p:txBody>
          <a:bodyPr wrap="square" lIns="0" tIns="0" rIns="0" bIns="0" rtlCol="0" anchor="ctr"/>
          <a:lstStyle/>
          <a:p>
            <a:pPr algn="l" indent="0" marL="0">
              <a:buNone/>
            </a:pPr>
            <a:r>
              <a:rPr lang="en-US" sz="1600" b="1" dirty="0">
                <a:solidFill>
                  <a:schemeClr val="bg1"/>
                </a:solidFill>
                <a:latin typeface="Calibri" pitchFamily="34" charset="0"/>
                <a:ea typeface="Calibri" pitchFamily="34" charset="-122"/>
                <a:cs typeface="Calibri" pitchFamily="34" charset="-120"/>
              </a:rPr>
              <a:t>2  Fill in the forms</a:t>
            </a:r>
            <a:endParaRPr lang="en-US" sz="1600" dirty="0"/>
          </a:p>
        </p:txBody>
      </p:sp>
      <p:sp>
        <p:nvSpPr>
          <p:cNvPr id="7" name="Shape 5"/>
          <p:cNvSpPr/>
          <p:nvPr/>
        </p:nvSpPr>
        <p:spPr>
          <a:xfrm>
            <a:off x="6205728" y="1417320"/>
            <a:ext cx="2715768" cy="548640"/>
          </a:xfrm>
          <a:prstGeom prst="homePlate">
            <a:avLst/>
          </a:prstGeom>
          <a:solidFill>
            <a:schemeClr val="tx1"/>
          </a:solidFill>
          <a:ln w="12700">
            <a:solidFill>
              <a:schemeClr val="tx1"/>
            </a:solidFill>
            <a:prstDash val="solid"/>
          </a:ln>
        </p:spPr>
      </p:sp>
      <p:sp>
        <p:nvSpPr>
          <p:cNvPr id="8" name="Text 6"/>
          <p:cNvSpPr txBox="1"/>
          <p:nvPr/>
        </p:nvSpPr>
        <p:spPr>
          <a:xfrm>
            <a:off x="6388608" y="1417320"/>
            <a:ext cx="2331720" cy="548640"/>
          </a:xfrm>
          <a:prstGeom prst="rect">
            <a:avLst/>
          </a:prstGeom>
          <a:noFill/>
          <a:ln/>
        </p:spPr>
        <p:txBody>
          <a:bodyPr wrap="square" lIns="0" tIns="0" rIns="0" bIns="0" rtlCol="0" anchor="ctr"/>
          <a:lstStyle/>
          <a:p>
            <a:pPr algn="l" indent="0" marL="0">
              <a:buNone/>
            </a:pPr>
            <a:r>
              <a:rPr lang="en-US" sz="1600" b="1" dirty="0">
                <a:solidFill>
                  <a:schemeClr val="bg1"/>
                </a:solidFill>
                <a:latin typeface="Calibri" pitchFamily="34" charset="0"/>
                <a:ea typeface="Calibri" pitchFamily="34" charset="-122"/>
                <a:cs typeface="Calibri" pitchFamily="34" charset="-120"/>
              </a:rPr>
              <a:t>3  Pick a carrier</a:t>
            </a:r>
            <a:endParaRPr lang="en-US" sz="1600" dirty="0"/>
          </a:p>
        </p:txBody>
      </p:sp>
      <p:sp>
        <p:nvSpPr>
          <p:cNvPr id="9" name="Shape 7"/>
          <p:cNvSpPr/>
          <p:nvPr/>
        </p:nvSpPr>
        <p:spPr>
          <a:xfrm>
            <a:off x="9034272" y="1417320"/>
            <a:ext cx="2606040" cy="548640"/>
          </a:xfrm>
          <a:prstGeom prst="roundRect">
            <a:avLst>
              <a:gd name="adj" fmla="val 10000"/>
            </a:avLst>
          </a:prstGeom>
          <a:solidFill>
            <a:schemeClr val="accent3"/>
          </a:solidFill>
          <a:ln/>
        </p:spPr>
      </p:sp>
      <p:sp>
        <p:nvSpPr>
          <p:cNvPr id="10" name="Text 8"/>
          <p:cNvSpPr txBox="1"/>
          <p:nvPr/>
        </p:nvSpPr>
        <p:spPr>
          <a:xfrm>
            <a:off x="9217152" y="1417320"/>
            <a:ext cx="2331720" cy="548640"/>
          </a:xfrm>
          <a:prstGeom prst="rect">
            <a:avLst/>
          </a:prstGeom>
          <a:noFill/>
          <a:ln/>
        </p:spPr>
        <p:txBody>
          <a:bodyPr wrap="square" lIns="0" tIns="0" rIns="0" bIns="0" rtlCol="0" anchor="ctr"/>
          <a:lstStyle/>
          <a:p>
            <a:pPr algn="l" indent="0" marL="0">
              <a:buNone/>
            </a:pPr>
            <a:r>
              <a:rPr lang="en-US" sz="1600" b="1" dirty="0">
                <a:solidFill>
                  <a:schemeClr val="bg1"/>
                </a:solidFill>
                <a:latin typeface="Calibri" pitchFamily="34" charset="0"/>
                <a:ea typeface="Calibri" pitchFamily="34" charset="-122"/>
                <a:cs typeface="Calibri" pitchFamily="34" charset="-120"/>
              </a:rPr>
              <a:t>4  After dispatch</a:t>
            </a:r>
            <a:endParaRPr lang="en-US" sz="1600" dirty="0"/>
          </a:p>
        </p:txBody>
      </p:sp>
      <p:sp>
        <p:nvSpPr>
          <p:cNvPr id="11" name="Shape 9"/>
          <p:cNvSpPr/>
          <p:nvPr/>
        </p:nvSpPr>
        <p:spPr>
          <a:xfrm>
            <a:off x="548640" y="2103120"/>
            <a:ext cx="2606040" cy="896112"/>
          </a:xfrm>
          <a:prstGeom prst="roundRect">
            <a:avLst>
              <a:gd name="adj" fmla="val 12245"/>
            </a:avLst>
          </a:prstGeom>
          <a:solidFill>
            <a:schemeClr val="bg1"/>
          </a:solidFill>
          <a:ln w="9525">
            <a:solidFill>
              <a:srgbClr val="DADCD6"/>
            </a:solidFill>
            <a:prstDash val="solid"/>
          </a:ln>
        </p:spPr>
      </p:sp>
      <p:sp>
        <p:nvSpPr>
          <p:cNvPr id="12" name="Shape 10"/>
          <p:cNvSpPr/>
          <p:nvPr/>
        </p:nvSpPr>
        <p:spPr>
          <a:xfrm>
            <a:off x="685800" y="2212848"/>
            <a:ext cx="566928" cy="219456"/>
          </a:xfrm>
          <a:prstGeom prst="roundRect">
            <a:avLst>
              <a:gd name="adj" fmla="val 50000"/>
            </a:avLst>
          </a:prstGeom>
          <a:solidFill>
            <a:srgbClr val="FBE4E2"/>
          </a:solidFill>
          <a:ln/>
        </p:spPr>
      </p:sp>
      <p:sp>
        <p:nvSpPr>
          <p:cNvPr id="13" name="Text 11"/>
          <p:cNvSpPr txBox="1"/>
          <p:nvPr/>
        </p:nvSpPr>
        <p:spPr>
          <a:xfrm>
            <a:off x="685800" y="2212848"/>
            <a:ext cx="566928" cy="219456"/>
          </a:xfrm>
          <a:prstGeom prst="rect">
            <a:avLst/>
          </a:prstGeom>
          <a:noFill/>
          <a:ln/>
        </p:spPr>
        <p:txBody>
          <a:bodyPr wrap="square" lIns="0" tIns="0" rIns="0" bIns="0" rtlCol="0" anchor="ctr"/>
          <a:lstStyle/>
          <a:p>
            <a:pPr algn="ctr" indent="0" marL="0">
              <a:buNone/>
            </a:pPr>
            <a:r>
              <a:rPr lang="en-US" sz="1000" b="1" dirty="0">
                <a:solidFill>
                  <a:srgbClr val="A12B2B"/>
                </a:solidFill>
                <a:latin typeface="Courier New" pitchFamily="34" charset="0"/>
                <a:ea typeface="Courier New" pitchFamily="34" charset="-122"/>
                <a:cs typeface="Courier New" pitchFamily="34" charset="-120"/>
              </a:rPr>
              <a:t>R-01</a:t>
            </a:r>
            <a:endParaRPr lang="en-US" sz="1000" dirty="0"/>
          </a:p>
        </p:txBody>
      </p:sp>
      <p:sp>
        <p:nvSpPr>
          <p:cNvPr id="14" name="Text 12"/>
          <p:cNvSpPr txBox="1"/>
          <p:nvPr/>
        </p:nvSpPr>
        <p:spPr>
          <a:xfrm>
            <a:off x="685800" y="2487168"/>
            <a:ext cx="2331720" cy="438912"/>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HS code blank or under 6 digits</a:t>
            </a:r>
            <a:endParaRPr lang="en-US" sz="1400" dirty="0"/>
          </a:p>
        </p:txBody>
      </p:sp>
      <p:sp>
        <p:nvSpPr>
          <p:cNvPr id="15" name="Shape 13"/>
          <p:cNvSpPr/>
          <p:nvPr/>
        </p:nvSpPr>
        <p:spPr>
          <a:xfrm>
            <a:off x="548640" y="3072384"/>
            <a:ext cx="2606040" cy="896112"/>
          </a:xfrm>
          <a:prstGeom prst="roundRect">
            <a:avLst>
              <a:gd name="adj" fmla="val 12245"/>
            </a:avLst>
          </a:prstGeom>
          <a:solidFill>
            <a:schemeClr val="bg1"/>
          </a:solidFill>
          <a:ln w="9525">
            <a:solidFill>
              <a:srgbClr val="DADCD6"/>
            </a:solidFill>
            <a:prstDash val="solid"/>
          </a:ln>
        </p:spPr>
      </p:sp>
      <p:sp>
        <p:nvSpPr>
          <p:cNvPr id="16" name="Shape 14"/>
          <p:cNvSpPr/>
          <p:nvPr/>
        </p:nvSpPr>
        <p:spPr>
          <a:xfrm>
            <a:off x="685800" y="3182112"/>
            <a:ext cx="566928" cy="219456"/>
          </a:xfrm>
          <a:prstGeom prst="roundRect">
            <a:avLst>
              <a:gd name="adj" fmla="val 50000"/>
            </a:avLst>
          </a:prstGeom>
          <a:solidFill>
            <a:srgbClr val="FCF0D6"/>
          </a:solidFill>
          <a:ln/>
        </p:spPr>
      </p:sp>
      <p:sp>
        <p:nvSpPr>
          <p:cNvPr id="17" name="Text 15"/>
          <p:cNvSpPr txBox="1"/>
          <p:nvPr/>
        </p:nvSpPr>
        <p:spPr>
          <a:xfrm>
            <a:off x="685800" y="3182112"/>
            <a:ext cx="566928" cy="219456"/>
          </a:xfrm>
          <a:prstGeom prst="rect">
            <a:avLst/>
          </a:prstGeom>
          <a:noFill/>
          <a:ln/>
        </p:spPr>
        <p:txBody>
          <a:bodyPr wrap="square" lIns="0" tIns="0" rIns="0" bIns="0" rtlCol="0" anchor="ctr"/>
          <a:lstStyle/>
          <a:p>
            <a:pPr algn="ctr" indent="0" marL="0">
              <a:buNone/>
            </a:pPr>
            <a:r>
              <a:rPr lang="en-US" sz="1000" b="1" dirty="0">
                <a:solidFill>
                  <a:srgbClr val="8A5A00"/>
                </a:solidFill>
                <a:latin typeface="Courier New" pitchFamily="34" charset="0"/>
                <a:ea typeface="Courier New" pitchFamily="34" charset="-122"/>
                <a:cs typeface="Courier New" pitchFamily="34" charset="-120"/>
              </a:rPr>
              <a:t>R-09</a:t>
            </a:r>
            <a:endParaRPr lang="en-US" sz="1000" dirty="0"/>
          </a:p>
        </p:txBody>
      </p:sp>
      <p:sp>
        <p:nvSpPr>
          <p:cNvPr id="18" name="Text 16"/>
          <p:cNvSpPr txBox="1"/>
          <p:nvPr/>
        </p:nvSpPr>
        <p:spPr>
          <a:xfrm>
            <a:off x="685800" y="3456432"/>
            <a:ext cx="2331720" cy="438912"/>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Country of origin left empty</a:t>
            </a:r>
            <a:endParaRPr lang="en-US" sz="1400" dirty="0"/>
          </a:p>
        </p:txBody>
      </p:sp>
      <p:sp>
        <p:nvSpPr>
          <p:cNvPr id="19" name="Shape 17"/>
          <p:cNvSpPr/>
          <p:nvPr/>
        </p:nvSpPr>
        <p:spPr>
          <a:xfrm>
            <a:off x="548640" y="4041648"/>
            <a:ext cx="2606040" cy="896112"/>
          </a:xfrm>
          <a:prstGeom prst="roundRect">
            <a:avLst>
              <a:gd name="adj" fmla="val 12245"/>
            </a:avLst>
          </a:prstGeom>
          <a:solidFill>
            <a:schemeClr val="bg1"/>
          </a:solidFill>
          <a:ln w="9525">
            <a:solidFill>
              <a:srgbClr val="DADCD6"/>
            </a:solidFill>
            <a:prstDash val="solid"/>
          </a:ln>
        </p:spPr>
      </p:sp>
      <p:sp>
        <p:nvSpPr>
          <p:cNvPr id="20" name="Shape 18"/>
          <p:cNvSpPr/>
          <p:nvPr/>
        </p:nvSpPr>
        <p:spPr>
          <a:xfrm>
            <a:off x="685800" y="4151376"/>
            <a:ext cx="566928" cy="219456"/>
          </a:xfrm>
          <a:prstGeom prst="roundRect">
            <a:avLst>
              <a:gd name="adj" fmla="val 50000"/>
            </a:avLst>
          </a:prstGeom>
          <a:solidFill>
            <a:srgbClr val="FBE4E2"/>
          </a:solidFill>
          <a:ln/>
        </p:spPr>
      </p:sp>
      <p:sp>
        <p:nvSpPr>
          <p:cNvPr id="21" name="Text 19"/>
          <p:cNvSpPr txBox="1"/>
          <p:nvPr/>
        </p:nvSpPr>
        <p:spPr>
          <a:xfrm>
            <a:off x="685800" y="4151376"/>
            <a:ext cx="566928" cy="219456"/>
          </a:xfrm>
          <a:prstGeom prst="rect">
            <a:avLst/>
          </a:prstGeom>
          <a:noFill/>
          <a:ln/>
        </p:spPr>
        <p:txBody>
          <a:bodyPr wrap="square" lIns="0" tIns="0" rIns="0" bIns="0" rtlCol="0" anchor="ctr"/>
          <a:lstStyle/>
          <a:p>
            <a:pPr algn="ctr" indent="0" marL="0">
              <a:buNone/>
            </a:pPr>
            <a:r>
              <a:rPr lang="en-US" sz="1000" b="1" dirty="0">
                <a:solidFill>
                  <a:srgbClr val="A12B2B"/>
                </a:solidFill>
                <a:latin typeface="Courier New" pitchFamily="34" charset="0"/>
                <a:ea typeface="Courier New" pitchFamily="34" charset="-122"/>
                <a:cs typeface="Courier New" pitchFamily="34" charset="-120"/>
              </a:rPr>
              <a:t>R-06</a:t>
            </a:r>
            <a:endParaRPr lang="en-US" sz="1000" dirty="0"/>
          </a:p>
        </p:txBody>
      </p:sp>
      <p:sp>
        <p:nvSpPr>
          <p:cNvPr id="22" name="Text 20"/>
          <p:cNvSpPr txBox="1"/>
          <p:nvPr/>
        </p:nvSpPr>
        <p:spPr>
          <a:xfrm>
            <a:off x="685800" y="4425696"/>
            <a:ext cx="2331720" cy="438912"/>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Lithium, aerosol or flammable goods slip through</a:t>
            </a:r>
            <a:endParaRPr lang="en-US" sz="1400" dirty="0"/>
          </a:p>
        </p:txBody>
      </p:sp>
      <p:sp>
        <p:nvSpPr>
          <p:cNvPr id="23" name="Shape 21"/>
          <p:cNvSpPr/>
          <p:nvPr/>
        </p:nvSpPr>
        <p:spPr>
          <a:xfrm>
            <a:off x="548640" y="5010912"/>
            <a:ext cx="2606040" cy="896112"/>
          </a:xfrm>
          <a:prstGeom prst="roundRect">
            <a:avLst>
              <a:gd name="adj" fmla="val 12245"/>
            </a:avLst>
          </a:prstGeom>
          <a:solidFill>
            <a:schemeClr val="bg1"/>
          </a:solidFill>
          <a:ln w="9525">
            <a:solidFill>
              <a:srgbClr val="DADCD6"/>
            </a:solidFill>
            <a:prstDash val="solid"/>
          </a:ln>
        </p:spPr>
      </p:sp>
      <p:sp>
        <p:nvSpPr>
          <p:cNvPr id="24" name="Shape 22"/>
          <p:cNvSpPr/>
          <p:nvPr/>
        </p:nvSpPr>
        <p:spPr>
          <a:xfrm>
            <a:off x="685800" y="5120640"/>
            <a:ext cx="566928" cy="219456"/>
          </a:xfrm>
          <a:prstGeom prst="roundRect">
            <a:avLst>
              <a:gd name="adj" fmla="val 50000"/>
            </a:avLst>
          </a:prstGeom>
          <a:solidFill>
            <a:srgbClr val="FCF0D6"/>
          </a:solidFill>
          <a:ln/>
        </p:spPr>
      </p:sp>
      <p:sp>
        <p:nvSpPr>
          <p:cNvPr id="25" name="Text 23"/>
          <p:cNvSpPr txBox="1"/>
          <p:nvPr/>
        </p:nvSpPr>
        <p:spPr>
          <a:xfrm>
            <a:off x="685800" y="5120640"/>
            <a:ext cx="566928" cy="219456"/>
          </a:xfrm>
          <a:prstGeom prst="rect">
            <a:avLst/>
          </a:prstGeom>
          <a:noFill/>
          <a:ln/>
        </p:spPr>
        <p:txBody>
          <a:bodyPr wrap="square" lIns="0" tIns="0" rIns="0" bIns="0" rtlCol="0" anchor="ctr"/>
          <a:lstStyle/>
          <a:p>
            <a:pPr algn="ctr" indent="0" marL="0">
              <a:buNone/>
            </a:pPr>
            <a:r>
              <a:rPr lang="en-US" sz="1000" b="1" dirty="0">
                <a:solidFill>
                  <a:srgbClr val="8A5A00"/>
                </a:solidFill>
                <a:latin typeface="Courier New" pitchFamily="34" charset="0"/>
                <a:ea typeface="Courier New" pitchFamily="34" charset="-122"/>
                <a:cs typeface="Courier New" pitchFamily="34" charset="-120"/>
              </a:rPr>
              <a:t>R-10</a:t>
            </a:r>
            <a:endParaRPr lang="en-US" sz="1000" dirty="0"/>
          </a:p>
        </p:txBody>
      </p:sp>
      <p:sp>
        <p:nvSpPr>
          <p:cNvPr id="26" name="Text 24"/>
          <p:cNvSpPr txBox="1"/>
          <p:nvPr/>
        </p:nvSpPr>
        <p:spPr>
          <a:xfrm>
            <a:off x="685800" y="5394960"/>
            <a:ext cx="2331720" cy="438912"/>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Ready-to-ship date already in the past</a:t>
            </a:r>
            <a:endParaRPr lang="en-US" sz="1400" dirty="0"/>
          </a:p>
        </p:txBody>
      </p:sp>
      <p:sp>
        <p:nvSpPr>
          <p:cNvPr id="27" name="Shape 25"/>
          <p:cNvSpPr/>
          <p:nvPr/>
        </p:nvSpPr>
        <p:spPr>
          <a:xfrm>
            <a:off x="3377184" y="2103120"/>
            <a:ext cx="2606040" cy="896112"/>
          </a:xfrm>
          <a:prstGeom prst="roundRect">
            <a:avLst>
              <a:gd name="adj" fmla="val 12245"/>
            </a:avLst>
          </a:prstGeom>
          <a:solidFill>
            <a:schemeClr val="bg1"/>
          </a:solidFill>
          <a:ln w="9525">
            <a:solidFill>
              <a:srgbClr val="DADCD6"/>
            </a:solidFill>
            <a:prstDash val="solid"/>
          </a:ln>
        </p:spPr>
      </p:sp>
      <p:sp>
        <p:nvSpPr>
          <p:cNvPr id="28" name="Shape 26"/>
          <p:cNvSpPr/>
          <p:nvPr/>
        </p:nvSpPr>
        <p:spPr>
          <a:xfrm>
            <a:off x="3514344" y="2212848"/>
            <a:ext cx="566928" cy="219456"/>
          </a:xfrm>
          <a:prstGeom prst="roundRect">
            <a:avLst>
              <a:gd name="adj" fmla="val 50000"/>
            </a:avLst>
          </a:prstGeom>
          <a:solidFill>
            <a:srgbClr val="FBE4E2"/>
          </a:solidFill>
          <a:ln/>
        </p:spPr>
      </p:sp>
      <p:sp>
        <p:nvSpPr>
          <p:cNvPr id="29" name="Text 27"/>
          <p:cNvSpPr txBox="1"/>
          <p:nvPr/>
        </p:nvSpPr>
        <p:spPr>
          <a:xfrm>
            <a:off x="3514344" y="2212848"/>
            <a:ext cx="566928" cy="219456"/>
          </a:xfrm>
          <a:prstGeom prst="rect">
            <a:avLst/>
          </a:prstGeom>
          <a:noFill/>
          <a:ln/>
        </p:spPr>
        <p:txBody>
          <a:bodyPr wrap="square" lIns="0" tIns="0" rIns="0" bIns="0" rtlCol="0" anchor="ctr"/>
          <a:lstStyle/>
          <a:p>
            <a:pPr algn="ctr" indent="0" marL="0">
              <a:buNone/>
            </a:pPr>
            <a:r>
              <a:rPr lang="en-US" sz="1000" b="1" dirty="0">
                <a:solidFill>
                  <a:srgbClr val="A12B2B"/>
                </a:solidFill>
                <a:latin typeface="Courier New" pitchFamily="34" charset="0"/>
                <a:ea typeface="Courier New" pitchFamily="34" charset="-122"/>
                <a:cs typeface="Courier New" pitchFamily="34" charset="-120"/>
              </a:rPr>
              <a:t>R-03</a:t>
            </a:r>
            <a:endParaRPr lang="en-US" sz="1000" dirty="0"/>
          </a:p>
        </p:txBody>
      </p:sp>
      <p:sp>
        <p:nvSpPr>
          <p:cNvPr id="30" name="Text 28"/>
          <p:cNvSpPr txBox="1"/>
          <p:nvPr/>
        </p:nvSpPr>
        <p:spPr>
          <a:xfrm>
            <a:off x="3514344" y="2487168"/>
            <a:ext cx="2331720" cy="438912"/>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1,080 units declared, but 12 × 80 cartons = 960</a:t>
            </a:r>
            <a:endParaRPr lang="en-US" sz="1400" dirty="0"/>
          </a:p>
        </p:txBody>
      </p:sp>
      <p:sp>
        <p:nvSpPr>
          <p:cNvPr id="31" name="Shape 29"/>
          <p:cNvSpPr/>
          <p:nvPr/>
        </p:nvSpPr>
        <p:spPr>
          <a:xfrm>
            <a:off x="3377184" y="3072384"/>
            <a:ext cx="2606040" cy="896112"/>
          </a:xfrm>
          <a:prstGeom prst="roundRect">
            <a:avLst>
              <a:gd name="adj" fmla="val 12245"/>
            </a:avLst>
          </a:prstGeom>
          <a:solidFill>
            <a:schemeClr val="bg1"/>
          </a:solidFill>
          <a:ln w="9525">
            <a:solidFill>
              <a:srgbClr val="DADCD6"/>
            </a:solidFill>
            <a:prstDash val="solid"/>
          </a:ln>
        </p:spPr>
      </p:sp>
      <p:sp>
        <p:nvSpPr>
          <p:cNvPr id="32" name="Shape 30"/>
          <p:cNvSpPr/>
          <p:nvPr/>
        </p:nvSpPr>
        <p:spPr>
          <a:xfrm>
            <a:off x="3514344" y="3182112"/>
            <a:ext cx="566928" cy="219456"/>
          </a:xfrm>
          <a:prstGeom prst="roundRect">
            <a:avLst>
              <a:gd name="adj" fmla="val 50000"/>
            </a:avLst>
          </a:prstGeom>
          <a:solidFill>
            <a:srgbClr val="FBE4E2"/>
          </a:solidFill>
          <a:ln/>
        </p:spPr>
      </p:sp>
      <p:sp>
        <p:nvSpPr>
          <p:cNvPr id="33" name="Text 31"/>
          <p:cNvSpPr txBox="1"/>
          <p:nvPr/>
        </p:nvSpPr>
        <p:spPr>
          <a:xfrm>
            <a:off x="3514344" y="3182112"/>
            <a:ext cx="566928" cy="219456"/>
          </a:xfrm>
          <a:prstGeom prst="rect">
            <a:avLst/>
          </a:prstGeom>
          <a:noFill/>
          <a:ln/>
        </p:spPr>
        <p:txBody>
          <a:bodyPr wrap="square" lIns="0" tIns="0" rIns="0" bIns="0" rtlCol="0" anchor="ctr"/>
          <a:lstStyle/>
          <a:p>
            <a:pPr algn="ctr" indent="0" marL="0">
              <a:buNone/>
            </a:pPr>
            <a:r>
              <a:rPr lang="en-US" sz="1000" b="1" dirty="0">
                <a:solidFill>
                  <a:srgbClr val="A12B2B"/>
                </a:solidFill>
                <a:latin typeface="Courier New" pitchFamily="34" charset="0"/>
                <a:ea typeface="Courier New" pitchFamily="34" charset="-122"/>
                <a:cs typeface="Courier New" pitchFamily="34" charset="-120"/>
              </a:rPr>
              <a:t>R-02</a:t>
            </a:r>
            <a:endParaRPr lang="en-US" sz="1000" dirty="0"/>
          </a:p>
        </p:txBody>
      </p:sp>
      <p:sp>
        <p:nvSpPr>
          <p:cNvPr id="34" name="Text 32"/>
          <p:cNvSpPr txBox="1"/>
          <p:nvPr/>
        </p:nvSpPr>
        <p:spPr>
          <a:xfrm>
            <a:off x="3514344" y="3456432"/>
            <a:ext cx="2331720" cy="438912"/>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Declared value ≠ quantity × unit price</a:t>
            </a:r>
            <a:endParaRPr lang="en-US" sz="1400" dirty="0"/>
          </a:p>
        </p:txBody>
      </p:sp>
      <p:sp>
        <p:nvSpPr>
          <p:cNvPr id="35" name="Shape 33"/>
          <p:cNvSpPr/>
          <p:nvPr/>
        </p:nvSpPr>
        <p:spPr>
          <a:xfrm>
            <a:off x="3377184" y="4041648"/>
            <a:ext cx="2606040" cy="896112"/>
          </a:xfrm>
          <a:prstGeom prst="roundRect">
            <a:avLst>
              <a:gd name="adj" fmla="val 12245"/>
            </a:avLst>
          </a:prstGeom>
          <a:solidFill>
            <a:schemeClr val="bg1"/>
          </a:solidFill>
          <a:ln w="9525">
            <a:solidFill>
              <a:srgbClr val="DADCD6"/>
            </a:solidFill>
            <a:prstDash val="solid"/>
          </a:ln>
        </p:spPr>
      </p:sp>
      <p:sp>
        <p:nvSpPr>
          <p:cNvPr id="36" name="Shape 34"/>
          <p:cNvSpPr/>
          <p:nvPr/>
        </p:nvSpPr>
        <p:spPr>
          <a:xfrm>
            <a:off x="3514344" y="4151376"/>
            <a:ext cx="566928" cy="219456"/>
          </a:xfrm>
          <a:prstGeom prst="roundRect">
            <a:avLst>
              <a:gd name="adj" fmla="val 50000"/>
            </a:avLst>
          </a:prstGeom>
          <a:solidFill>
            <a:srgbClr val="FBE4E2"/>
          </a:solidFill>
          <a:ln/>
        </p:spPr>
      </p:sp>
      <p:sp>
        <p:nvSpPr>
          <p:cNvPr id="37" name="Text 35"/>
          <p:cNvSpPr txBox="1"/>
          <p:nvPr/>
        </p:nvSpPr>
        <p:spPr>
          <a:xfrm>
            <a:off x="3514344" y="4151376"/>
            <a:ext cx="566928" cy="219456"/>
          </a:xfrm>
          <a:prstGeom prst="rect">
            <a:avLst/>
          </a:prstGeom>
          <a:noFill/>
          <a:ln/>
        </p:spPr>
        <p:txBody>
          <a:bodyPr wrap="square" lIns="0" tIns="0" rIns="0" bIns="0" rtlCol="0" anchor="ctr"/>
          <a:lstStyle/>
          <a:p>
            <a:pPr algn="ctr" indent="0" marL="0">
              <a:buNone/>
            </a:pPr>
            <a:r>
              <a:rPr lang="en-US" sz="1000" b="1" dirty="0">
                <a:solidFill>
                  <a:srgbClr val="A12B2B"/>
                </a:solidFill>
                <a:latin typeface="Courier New" pitchFamily="34" charset="0"/>
                <a:ea typeface="Courier New" pitchFamily="34" charset="-122"/>
                <a:cs typeface="Courier New" pitchFamily="34" charset="-120"/>
              </a:rPr>
              <a:t>R-04</a:t>
            </a:r>
            <a:endParaRPr lang="en-US" sz="1000" dirty="0"/>
          </a:p>
        </p:txBody>
      </p:sp>
      <p:sp>
        <p:nvSpPr>
          <p:cNvPr id="38" name="Text 36"/>
          <p:cNvSpPr txBox="1"/>
          <p:nvPr/>
        </p:nvSpPr>
        <p:spPr>
          <a:xfrm>
            <a:off x="3514344" y="4425696"/>
            <a:ext cx="2331720" cy="438912"/>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Carton total ≠ sum of item cartons</a:t>
            </a:r>
            <a:endParaRPr lang="en-US" sz="1400" dirty="0"/>
          </a:p>
        </p:txBody>
      </p:sp>
      <p:sp>
        <p:nvSpPr>
          <p:cNvPr id="39" name="Shape 37"/>
          <p:cNvSpPr/>
          <p:nvPr/>
        </p:nvSpPr>
        <p:spPr>
          <a:xfrm>
            <a:off x="3377184" y="5010912"/>
            <a:ext cx="2606040" cy="896112"/>
          </a:xfrm>
          <a:prstGeom prst="roundRect">
            <a:avLst>
              <a:gd name="adj" fmla="val 12245"/>
            </a:avLst>
          </a:prstGeom>
          <a:solidFill>
            <a:schemeClr val="bg1"/>
          </a:solidFill>
          <a:ln w="9525">
            <a:solidFill>
              <a:srgbClr val="DADCD6"/>
            </a:solidFill>
            <a:prstDash val="solid"/>
          </a:ln>
        </p:spPr>
      </p:sp>
      <p:sp>
        <p:nvSpPr>
          <p:cNvPr id="40" name="Shape 38"/>
          <p:cNvSpPr/>
          <p:nvPr/>
        </p:nvSpPr>
        <p:spPr>
          <a:xfrm>
            <a:off x="3514344" y="5120640"/>
            <a:ext cx="566928" cy="219456"/>
          </a:xfrm>
          <a:prstGeom prst="roundRect">
            <a:avLst>
              <a:gd name="adj" fmla="val 50000"/>
            </a:avLst>
          </a:prstGeom>
          <a:solidFill>
            <a:srgbClr val="FCF0D6"/>
          </a:solidFill>
          <a:ln/>
        </p:spPr>
      </p:sp>
      <p:sp>
        <p:nvSpPr>
          <p:cNvPr id="41" name="Text 39"/>
          <p:cNvSpPr txBox="1"/>
          <p:nvPr/>
        </p:nvSpPr>
        <p:spPr>
          <a:xfrm>
            <a:off x="3514344" y="5120640"/>
            <a:ext cx="566928" cy="219456"/>
          </a:xfrm>
          <a:prstGeom prst="rect">
            <a:avLst/>
          </a:prstGeom>
          <a:noFill/>
          <a:ln/>
        </p:spPr>
        <p:txBody>
          <a:bodyPr wrap="square" lIns="0" tIns="0" rIns="0" bIns="0" rtlCol="0" anchor="ctr"/>
          <a:lstStyle/>
          <a:p>
            <a:pPr algn="ctr" indent="0" marL="0">
              <a:buNone/>
            </a:pPr>
            <a:r>
              <a:rPr lang="en-US" sz="1000" b="1" dirty="0">
                <a:solidFill>
                  <a:srgbClr val="8A5A00"/>
                </a:solidFill>
                <a:latin typeface="Courier New" pitchFamily="34" charset="0"/>
                <a:ea typeface="Courier New" pitchFamily="34" charset="-122"/>
                <a:cs typeface="Courier New" pitchFamily="34" charset="-120"/>
              </a:rPr>
              <a:t>R-07</a:t>
            </a:r>
            <a:endParaRPr lang="en-US" sz="1000" dirty="0"/>
          </a:p>
        </p:txBody>
      </p:sp>
      <p:sp>
        <p:nvSpPr>
          <p:cNvPr id="42" name="Text 40"/>
          <p:cNvSpPr txBox="1"/>
          <p:nvPr/>
        </p:nvSpPr>
        <p:spPr>
          <a:xfrm>
            <a:off x="3514344" y="5394960"/>
            <a:ext cx="2331720" cy="438912"/>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Gross weight lighter than the goods</a:t>
            </a:r>
            <a:endParaRPr lang="en-US" sz="1400" dirty="0"/>
          </a:p>
        </p:txBody>
      </p:sp>
      <p:sp>
        <p:nvSpPr>
          <p:cNvPr id="43" name="Shape 41"/>
          <p:cNvSpPr/>
          <p:nvPr/>
        </p:nvSpPr>
        <p:spPr>
          <a:xfrm>
            <a:off x="6205728" y="2103120"/>
            <a:ext cx="2606040" cy="1216152"/>
          </a:xfrm>
          <a:prstGeom prst="roundRect">
            <a:avLst>
              <a:gd name="adj" fmla="val 9023"/>
            </a:avLst>
          </a:prstGeom>
          <a:solidFill>
            <a:schemeClr val="bg1"/>
          </a:solidFill>
          <a:ln w="9525">
            <a:solidFill>
              <a:srgbClr val="DADCD6"/>
            </a:solidFill>
            <a:prstDash val="solid"/>
          </a:ln>
        </p:spPr>
      </p:sp>
      <p:sp>
        <p:nvSpPr>
          <p:cNvPr id="44" name="Shape 42"/>
          <p:cNvSpPr/>
          <p:nvPr/>
        </p:nvSpPr>
        <p:spPr>
          <a:xfrm>
            <a:off x="6342888" y="2212848"/>
            <a:ext cx="566928" cy="219456"/>
          </a:xfrm>
          <a:prstGeom prst="roundRect">
            <a:avLst>
              <a:gd name="adj" fmla="val 50000"/>
            </a:avLst>
          </a:prstGeom>
          <a:solidFill>
            <a:srgbClr val="FBE4E2"/>
          </a:solidFill>
          <a:ln/>
        </p:spPr>
      </p:sp>
      <p:sp>
        <p:nvSpPr>
          <p:cNvPr id="45" name="Text 43"/>
          <p:cNvSpPr txBox="1"/>
          <p:nvPr/>
        </p:nvSpPr>
        <p:spPr>
          <a:xfrm>
            <a:off x="6342888" y="2212848"/>
            <a:ext cx="566928" cy="219456"/>
          </a:xfrm>
          <a:prstGeom prst="rect">
            <a:avLst/>
          </a:prstGeom>
          <a:noFill/>
          <a:ln/>
        </p:spPr>
        <p:txBody>
          <a:bodyPr wrap="square" lIns="0" tIns="0" rIns="0" bIns="0" rtlCol="0" anchor="ctr"/>
          <a:lstStyle/>
          <a:p>
            <a:pPr algn="ctr" indent="0" marL="0">
              <a:buNone/>
            </a:pPr>
            <a:r>
              <a:rPr lang="en-US" sz="1000" b="1" dirty="0">
                <a:solidFill>
                  <a:srgbClr val="A12B2B"/>
                </a:solidFill>
                <a:latin typeface="Courier New" pitchFamily="34" charset="0"/>
                <a:ea typeface="Courier New" pitchFamily="34" charset="-122"/>
                <a:cs typeface="Courier New" pitchFamily="34" charset="-120"/>
              </a:rPr>
              <a:t>R-05</a:t>
            </a:r>
            <a:endParaRPr lang="en-US" sz="1000" dirty="0"/>
          </a:p>
        </p:txBody>
      </p:sp>
      <p:sp>
        <p:nvSpPr>
          <p:cNvPr id="46" name="Text 44"/>
          <p:cNvSpPr txBox="1"/>
          <p:nvPr/>
        </p:nvSpPr>
        <p:spPr>
          <a:xfrm>
            <a:off x="6342888" y="2487168"/>
            <a:ext cx="2331720" cy="758952"/>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Pallet weighs more than the service accepts</a:t>
            </a:r>
            <a:endParaRPr lang="en-US" sz="1400" dirty="0"/>
          </a:p>
        </p:txBody>
      </p:sp>
      <p:sp>
        <p:nvSpPr>
          <p:cNvPr id="47" name="Shape 45"/>
          <p:cNvSpPr/>
          <p:nvPr/>
        </p:nvSpPr>
        <p:spPr>
          <a:xfrm>
            <a:off x="6205728" y="3392424"/>
            <a:ext cx="2606040" cy="1216152"/>
          </a:xfrm>
          <a:prstGeom prst="roundRect">
            <a:avLst>
              <a:gd name="adj" fmla="val 9023"/>
            </a:avLst>
          </a:prstGeom>
          <a:solidFill>
            <a:schemeClr val="bg1"/>
          </a:solidFill>
          <a:ln w="9525">
            <a:solidFill>
              <a:srgbClr val="DADCD6"/>
            </a:solidFill>
            <a:prstDash val="solid"/>
          </a:ln>
        </p:spPr>
      </p:sp>
      <p:sp>
        <p:nvSpPr>
          <p:cNvPr id="48" name="Shape 46"/>
          <p:cNvSpPr/>
          <p:nvPr/>
        </p:nvSpPr>
        <p:spPr>
          <a:xfrm>
            <a:off x="6342888" y="3502152"/>
            <a:ext cx="566928" cy="219456"/>
          </a:xfrm>
          <a:prstGeom prst="roundRect">
            <a:avLst>
              <a:gd name="adj" fmla="val 50000"/>
            </a:avLst>
          </a:prstGeom>
          <a:solidFill>
            <a:srgbClr val="FCF0D6"/>
          </a:solidFill>
          <a:ln/>
        </p:spPr>
      </p:sp>
      <p:sp>
        <p:nvSpPr>
          <p:cNvPr id="49" name="Text 47"/>
          <p:cNvSpPr txBox="1"/>
          <p:nvPr/>
        </p:nvSpPr>
        <p:spPr>
          <a:xfrm>
            <a:off x="6342888" y="3502152"/>
            <a:ext cx="566928" cy="219456"/>
          </a:xfrm>
          <a:prstGeom prst="rect">
            <a:avLst/>
          </a:prstGeom>
          <a:noFill/>
          <a:ln/>
        </p:spPr>
        <p:txBody>
          <a:bodyPr wrap="square" lIns="0" tIns="0" rIns="0" bIns="0" rtlCol="0" anchor="ctr"/>
          <a:lstStyle/>
          <a:p>
            <a:pPr algn="ctr" indent="0" marL="0">
              <a:buNone/>
            </a:pPr>
            <a:r>
              <a:rPr lang="en-US" sz="1000" b="1" dirty="0">
                <a:solidFill>
                  <a:srgbClr val="8A5A00"/>
                </a:solidFill>
                <a:latin typeface="Courier New" pitchFamily="34" charset="0"/>
                <a:ea typeface="Courier New" pitchFamily="34" charset="-122"/>
                <a:cs typeface="Courier New" pitchFamily="34" charset="-120"/>
              </a:rPr>
              <a:t>R-08</a:t>
            </a:r>
            <a:endParaRPr lang="en-US" sz="1000" dirty="0"/>
          </a:p>
        </p:txBody>
      </p:sp>
      <p:sp>
        <p:nvSpPr>
          <p:cNvPr id="50" name="Text 48"/>
          <p:cNvSpPr txBox="1"/>
          <p:nvPr/>
        </p:nvSpPr>
        <p:spPr>
          <a:xfrm>
            <a:off x="6342888" y="3776472"/>
            <a:ext cx="2331720" cy="758952"/>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Warehouse delivery slot never booked</a:t>
            </a:r>
            <a:endParaRPr lang="en-US" sz="1400" dirty="0"/>
          </a:p>
        </p:txBody>
      </p:sp>
      <p:sp>
        <p:nvSpPr>
          <p:cNvPr id="51" name="Shape 49"/>
          <p:cNvSpPr/>
          <p:nvPr/>
        </p:nvSpPr>
        <p:spPr>
          <a:xfrm>
            <a:off x="6205728" y="4681728"/>
            <a:ext cx="2606040" cy="1216152"/>
          </a:xfrm>
          <a:prstGeom prst="roundRect">
            <a:avLst>
              <a:gd name="adj" fmla="val 9023"/>
            </a:avLst>
          </a:prstGeom>
          <a:solidFill>
            <a:schemeClr val="bg1"/>
          </a:solidFill>
          <a:ln w="9525">
            <a:solidFill>
              <a:srgbClr val="DADCD6"/>
            </a:solidFill>
            <a:prstDash val="solid"/>
          </a:ln>
        </p:spPr>
      </p:sp>
      <p:sp>
        <p:nvSpPr>
          <p:cNvPr id="52" name="Shape 50"/>
          <p:cNvSpPr/>
          <p:nvPr/>
        </p:nvSpPr>
        <p:spPr>
          <a:xfrm>
            <a:off x="6342888" y="4791456"/>
            <a:ext cx="566928" cy="219456"/>
          </a:xfrm>
          <a:prstGeom prst="roundRect">
            <a:avLst>
              <a:gd name="adj" fmla="val 50000"/>
            </a:avLst>
          </a:prstGeom>
          <a:solidFill>
            <a:srgbClr val="EFECFB"/>
          </a:solidFill>
          <a:ln/>
        </p:spPr>
      </p:sp>
      <p:sp>
        <p:nvSpPr>
          <p:cNvPr id="53" name="Text 51"/>
          <p:cNvSpPr txBox="1"/>
          <p:nvPr/>
        </p:nvSpPr>
        <p:spPr>
          <a:xfrm>
            <a:off x="6342888" y="4791456"/>
            <a:ext cx="566928" cy="219456"/>
          </a:xfrm>
          <a:prstGeom prst="rect">
            <a:avLst/>
          </a:prstGeom>
          <a:noFill/>
          <a:ln/>
        </p:spPr>
        <p:txBody>
          <a:bodyPr wrap="square" lIns="0" tIns="0" rIns="0" bIns="0" rtlCol="0" anchor="ctr"/>
          <a:lstStyle/>
          <a:p>
            <a:pPr algn="ctr" indent="0" marL="0">
              <a:buNone/>
            </a:pPr>
            <a:r>
              <a:rPr lang="en-US" sz="1000" b="1" dirty="0">
                <a:solidFill>
                  <a:srgbClr val="4B3FA0"/>
                </a:solidFill>
                <a:latin typeface="Courier New" pitchFamily="34" charset="0"/>
                <a:ea typeface="Courier New" pitchFamily="34" charset="-122"/>
                <a:cs typeface="Courier New" pitchFamily="34" charset="-120"/>
              </a:rPr>
              <a:t>Brief</a:t>
            </a:r>
            <a:endParaRPr lang="en-US" sz="1000" dirty="0"/>
          </a:p>
        </p:txBody>
      </p:sp>
      <p:sp>
        <p:nvSpPr>
          <p:cNvPr id="54" name="Text 52"/>
          <p:cNvSpPr txBox="1"/>
          <p:nvPr/>
        </p:nvSpPr>
        <p:spPr>
          <a:xfrm>
            <a:off x="6342888" y="5065776"/>
            <a:ext cx="2331720" cy="758952"/>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Which carrier? Cost, speed and reliability pull in different directions</a:t>
            </a:r>
            <a:endParaRPr lang="en-US" sz="1400" dirty="0"/>
          </a:p>
        </p:txBody>
      </p:sp>
      <p:sp>
        <p:nvSpPr>
          <p:cNvPr id="55" name="Shape 53"/>
          <p:cNvSpPr/>
          <p:nvPr/>
        </p:nvSpPr>
        <p:spPr>
          <a:xfrm>
            <a:off x="9034272" y="2103120"/>
            <a:ext cx="2606040" cy="3794760"/>
          </a:xfrm>
          <a:prstGeom prst="roundRect">
            <a:avLst>
              <a:gd name="adj" fmla="val 4211"/>
            </a:avLst>
          </a:prstGeom>
          <a:solidFill>
            <a:schemeClr val="tx1"/>
          </a:solidFill>
          <a:ln/>
        </p:spPr>
      </p:sp>
      <p:sp>
        <p:nvSpPr>
          <p:cNvPr id="56" name="Text 54"/>
          <p:cNvSpPr txBox="1"/>
          <p:nvPr/>
        </p:nvSpPr>
        <p:spPr>
          <a:xfrm>
            <a:off x="9262872" y="2331720"/>
            <a:ext cx="2148840" cy="320040"/>
          </a:xfrm>
          <a:prstGeom prst="rect">
            <a:avLst/>
          </a:prstGeom>
          <a:noFill/>
          <a:ln/>
        </p:spPr>
        <p:txBody>
          <a:bodyPr wrap="square" lIns="0" tIns="0" rIns="0" bIns="0" rtlCol="0" anchor="t"/>
          <a:lstStyle/>
          <a:p>
            <a:pPr algn="l" indent="0" marL="0">
              <a:buNone/>
            </a:pPr>
            <a:r>
              <a:rPr lang="en-US" sz="1800" b="1" dirty="0">
                <a:solidFill>
                  <a:schemeClr val="accent1"/>
                </a:solidFill>
                <a:latin typeface="Calibri" pitchFamily="34" charset="0"/>
                <a:ea typeface="Calibri" pitchFamily="34" charset="-122"/>
                <a:cs typeface="Calibri" pitchFamily="34" charset="-120"/>
              </a:rPr>
              <a:t>Found days later</a:t>
            </a:r>
            <a:endParaRPr lang="en-US" sz="1800" dirty="0"/>
          </a:p>
        </p:txBody>
      </p:sp>
      <p:sp>
        <p:nvSpPr>
          <p:cNvPr id="57" name="Text 55"/>
          <p:cNvSpPr txBox="1"/>
          <p:nvPr/>
        </p:nvSpPr>
        <p:spPr>
          <a:xfrm>
            <a:off x="9262872" y="2880360"/>
            <a:ext cx="2148840" cy="731520"/>
          </a:xfrm>
          <a:prstGeom prst="rect">
            <a:avLst/>
          </a:prstGeom>
          <a:noFill/>
          <a:ln/>
        </p:spPr>
        <p:txBody>
          <a:bodyPr wrap="square" lIns="0" tIns="0" rIns="0" bIns="0" rtlCol="0" anchor="t"/>
          <a:lstStyle/>
          <a:p>
            <a:pPr algn="l" indent="0" marL="0">
              <a:buNone/>
            </a:pPr>
            <a:r>
              <a:rPr lang="en-US" sz="1500" dirty="0">
                <a:solidFill>
                  <a:schemeClr val="bg1"/>
                </a:solidFill>
                <a:latin typeface="Calibri" pitchFamily="34" charset="0"/>
                <a:ea typeface="Calibri" pitchFamily="34" charset="-122"/>
                <a:cs typeface="Calibri" pitchFamily="34" charset="-120"/>
              </a:rPr>
              <a:t>Goods held at customs</a:t>
            </a:r>
            <a:endParaRPr lang="en-US" sz="1500" dirty="0"/>
          </a:p>
        </p:txBody>
      </p:sp>
      <p:sp>
        <p:nvSpPr>
          <p:cNvPr id="58" name="Shape 56"/>
          <p:cNvSpPr/>
          <p:nvPr/>
        </p:nvSpPr>
        <p:spPr>
          <a:xfrm>
            <a:off x="9262872" y="3575304"/>
            <a:ext cx="2148840" cy="0"/>
          </a:xfrm>
          <a:prstGeom prst="line">
            <a:avLst/>
          </a:prstGeom>
          <a:noFill/>
          <a:ln w="9525">
            <a:solidFill>
              <a:srgbClr val="3A3D42"/>
            </a:solidFill>
            <a:prstDash val="solid"/>
          </a:ln>
        </p:spPr>
      </p:sp>
      <p:sp>
        <p:nvSpPr>
          <p:cNvPr id="59" name="Text 57"/>
          <p:cNvSpPr txBox="1"/>
          <p:nvPr/>
        </p:nvSpPr>
        <p:spPr>
          <a:xfrm>
            <a:off x="9262872" y="3749040"/>
            <a:ext cx="2148840" cy="731520"/>
          </a:xfrm>
          <a:prstGeom prst="rect">
            <a:avLst/>
          </a:prstGeom>
          <a:noFill/>
          <a:ln/>
        </p:spPr>
        <p:txBody>
          <a:bodyPr wrap="square" lIns="0" tIns="0" rIns="0" bIns="0" rtlCol="0" anchor="t"/>
          <a:lstStyle/>
          <a:p>
            <a:pPr algn="l" indent="0" marL="0">
              <a:buNone/>
            </a:pPr>
            <a:r>
              <a:rPr lang="en-US" sz="1500" dirty="0">
                <a:solidFill>
                  <a:schemeClr val="bg1"/>
                </a:solidFill>
                <a:latin typeface="Calibri" pitchFamily="34" charset="0"/>
                <a:ea typeface="Calibri" pitchFamily="34" charset="-122"/>
                <a:cs typeface="Calibri" pitchFamily="34" charset="-120"/>
              </a:rPr>
              <a:t>Units reported missing at the receiving warehouse</a:t>
            </a:r>
            <a:endParaRPr lang="en-US" sz="1500" dirty="0"/>
          </a:p>
        </p:txBody>
      </p:sp>
      <p:sp>
        <p:nvSpPr>
          <p:cNvPr id="60" name="Shape 58"/>
          <p:cNvSpPr/>
          <p:nvPr/>
        </p:nvSpPr>
        <p:spPr>
          <a:xfrm>
            <a:off x="9262872" y="4443984"/>
            <a:ext cx="2148840" cy="0"/>
          </a:xfrm>
          <a:prstGeom prst="line">
            <a:avLst/>
          </a:prstGeom>
          <a:noFill/>
          <a:ln w="9525">
            <a:solidFill>
              <a:srgbClr val="3A3D42"/>
            </a:solidFill>
            <a:prstDash val="solid"/>
          </a:ln>
        </p:spPr>
      </p:sp>
      <p:sp>
        <p:nvSpPr>
          <p:cNvPr id="61" name="Text 59"/>
          <p:cNvSpPr txBox="1"/>
          <p:nvPr/>
        </p:nvSpPr>
        <p:spPr>
          <a:xfrm>
            <a:off x="9262872" y="4617720"/>
            <a:ext cx="2148840" cy="731520"/>
          </a:xfrm>
          <a:prstGeom prst="rect">
            <a:avLst/>
          </a:prstGeom>
          <a:noFill/>
          <a:ln/>
        </p:spPr>
        <p:txBody>
          <a:bodyPr wrap="square" lIns="0" tIns="0" rIns="0" bIns="0" rtlCol="0" anchor="t"/>
          <a:lstStyle/>
          <a:p>
            <a:pPr algn="l" indent="0" marL="0">
              <a:buNone/>
            </a:pPr>
            <a:r>
              <a:rPr lang="en-US" sz="1500" dirty="0">
                <a:solidFill>
                  <a:schemeClr val="bg1"/>
                </a:solidFill>
                <a:latin typeface="Calibri" pitchFamily="34" charset="0"/>
                <a:ea typeface="Calibri" pitchFamily="34" charset="-122"/>
                <a:cs typeface="Calibri" pitchFamily="34" charset="-120"/>
              </a:rPr>
              <a:t>Stock already stuck by the time the seller finds out</a:t>
            </a:r>
            <a:endParaRPr lang="en-US" sz="1500" dirty="0"/>
          </a:p>
        </p:txBody>
      </p:sp>
      <p:sp>
        <p:nvSpPr>
          <p:cNvPr id="62" name="Text 60"/>
          <p:cNvSpPr txBox="1"/>
          <p:nvPr/>
        </p:nvSpPr>
        <p:spPr>
          <a:xfrm>
            <a:off x="9262872" y="5486400"/>
            <a:ext cx="2148840" cy="274320"/>
          </a:xfrm>
          <a:prstGeom prst="rect">
            <a:avLst/>
          </a:prstGeom>
          <a:noFill/>
          <a:ln/>
        </p:spPr>
        <p:txBody>
          <a:bodyPr wrap="square" lIns="0" tIns="0" rIns="0" bIns="0" rtlCol="0" anchor="t"/>
          <a:lstStyle/>
          <a:p>
            <a:pPr algn="l" indent="0" marL="0">
              <a:buNone/>
            </a:pPr>
            <a:r>
              <a:rPr lang="en-US" sz="1100" i="1" dirty="0">
                <a:solidFill>
                  <a:srgbClr val="C9CCD1"/>
                </a:solidFill>
                <a:latin typeface="Calibri" pitchFamily="34" charset="0"/>
                <a:ea typeface="Calibri" pitchFamily="34" charset="-122"/>
                <a:cs typeface="Calibri" pitchFamily="34" charset="-120"/>
              </a:rPr>
              <a:t>Case 2 brief</a:t>
            </a:r>
            <a:endParaRPr lang="en-US" sz="1100" dirty="0"/>
          </a:p>
        </p:txBody>
      </p:sp>
      <p:sp>
        <p:nvSpPr>
          <p:cNvPr id="63" name="Text 61"/>
          <p:cNvSpPr txBox="1"/>
          <p:nvPr/>
        </p:nvSpPr>
        <p:spPr>
          <a:xfrm>
            <a:off x="548640" y="6053328"/>
            <a:ext cx="11064240" cy="274320"/>
          </a:xfrm>
          <a:prstGeom prst="rect">
            <a:avLst/>
          </a:prstGeom>
          <a:noFill/>
          <a:ln/>
        </p:spPr>
        <p:txBody>
          <a:bodyPr wrap="square" lIns="0" tIns="0" rIns="0" bIns="0" rtlCol="0" anchor="t"/>
          <a:lstStyle/>
          <a:p>
            <a:pPr algn="l" indent="0" marL="0">
              <a:buNone/>
            </a:pPr>
            <a:r>
              <a:rPr lang="en-US" sz="1100" dirty="0">
                <a:solidFill>
                  <a:schemeClr val="accent5"/>
                </a:solidFill>
                <a:latin typeface="Calibri" pitchFamily="34" charset="0"/>
                <a:ea typeface="Calibri" pitchFamily="34" charset="-122"/>
                <a:cs typeface="Calibri" pitchFamily="34" charset="-120"/>
              </a:rPr>
              <a:t>Rule IDs are the case rulebook (sheet 4). The carrier question comes from the brief’s ask for a recommended carrier based on the seller’s priority.</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914400"/>
          </a:xfrm>
          <a:prstGeom prst="rect">
            <a:avLst/>
          </a:prstGeom>
          <a:noFill/>
          <a:ln/>
        </p:spPr>
        <p:txBody>
          <a:bodyPr wrap="square" lIns="0" tIns="0" rIns="0" bIns="0" rtlCol="0" anchor="t"/>
          <a:lstStyle/>
          <a:p>
            <a:pPr algn="l" indent="0" marL="0">
              <a:buNone/>
            </a:pPr>
            <a:r>
              <a:rPr lang="en-US" sz="3000" b="1" dirty="0">
                <a:solidFill>
                  <a:schemeClr val="tx1"/>
                </a:solidFill>
                <a:latin typeface="Calibri" pitchFamily="34" charset="0"/>
                <a:ea typeface="Calibri" pitchFamily="34" charset="-122"/>
                <a:cs typeface="Calibri" pitchFamily="34" charset="-120"/>
              </a:rPr>
              <a:t>Two ways in. One engine behind them.</a:t>
            </a:r>
            <a:endParaRPr lang="en-US" sz="3000" dirty="0"/>
          </a:p>
        </p:txBody>
      </p:sp>
      <p:sp>
        <p:nvSpPr>
          <p:cNvPr id="3" name="Shape 1"/>
          <p:cNvSpPr/>
          <p:nvPr/>
        </p:nvSpPr>
        <p:spPr>
          <a:xfrm>
            <a:off x="548640" y="1554480"/>
            <a:ext cx="3017520" cy="1828800"/>
          </a:xfrm>
          <a:prstGeom prst="roundRect">
            <a:avLst>
              <a:gd name="adj" fmla="val 6000"/>
            </a:avLst>
          </a:prstGeom>
          <a:solidFill>
            <a:schemeClr val="bg1"/>
          </a:solidFill>
          <a:ln w="9525">
            <a:solidFill>
              <a:srgbClr val="DADCD6"/>
            </a:solidFill>
            <a:prstDash val="solid"/>
          </a:ln>
          <a:effectLst>
            <a:outerShdw sx="100000" sy="100000" kx="0" ky="0" algn="bl" rotWithShape="0" blurRad="127000" dist="38100" dir="5400000">
              <a:srgbClr val="000000">
                <a:alpha val="12000"/>
              </a:srgbClr>
            </a:outerShdw>
          </a:effectLst>
        </p:spPr>
      </p:sp>
      <p:sp>
        <p:nvSpPr>
          <p:cNvPr id="4" name="Shape 2"/>
          <p:cNvSpPr/>
          <p:nvPr/>
        </p:nvSpPr>
        <p:spPr>
          <a:xfrm>
            <a:off x="731520" y="1755648"/>
            <a:ext cx="512064" cy="512064"/>
          </a:xfrm>
          <a:prstGeom prst="roundRect">
            <a:avLst>
              <a:gd name="adj" fmla="val 50000"/>
            </a:avLst>
          </a:prstGeom>
          <a:solidFill>
            <a:schemeClr val="tx1"/>
          </a:solidFill>
          <a:ln/>
        </p:spPr>
      </p:sp>
      <p:pic>
        <p:nvPicPr>
          <p:cNvPr id="5" name="Image 0" descr="chat icon">    </p:cNvPr>
          <p:cNvPicPr>
            <a:picLocks noChangeAspect="1"/>
          </p:cNvPicPr>
          <p:nvPr/>
        </p:nvPicPr>
        <p:blipFill>
          <a:blip r:embed="rId1"/>
          <a:stretch>
            <a:fillRect/>
          </a:stretch>
        </p:blipFill>
        <p:spPr>
          <a:xfrm>
            <a:off x="850392" y="1874520"/>
            <a:ext cx="274320" cy="274320"/>
          </a:xfrm>
          <a:prstGeom prst="rect">
            <a:avLst/>
          </a:prstGeom>
        </p:spPr>
      </p:pic>
      <p:sp>
        <p:nvSpPr>
          <p:cNvPr id="6" name="Text 3"/>
          <p:cNvSpPr txBox="1"/>
          <p:nvPr/>
        </p:nvSpPr>
        <p:spPr>
          <a:xfrm>
            <a:off x="1389888" y="1755648"/>
            <a:ext cx="2057400" cy="512064"/>
          </a:xfrm>
          <a:prstGeom prst="rect">
            <a:avLst/>
          </a:prstGeom>
          <a:noFill/>
          <a:ln/>
        </p:spPr>
        <p:txBody>
          <a:bodyPr wrap="square" lIns="0" tIns="0" rIns="0" bIns="0" rtlCol="0" anchor="ctr"/>
          <a:lstStyle/>
          <a:p>
            <a:pPr algn="l" indent="0" marL="0">
              <a:buNone/>
            </a:pPr>
            <a:r>
              <a:rPr lang="en-US" sz="1800" b="1" dirty="0">
                <a:solidFill>
                  <a:schemeClr val="tx1"/>
                </a:solidFill>
                <a:latin typeface="Calibri" pitchFamily="34" charset="0"/>
                <a:ea typeface="Calibri" pitchFamily="34" charset="-122"/>
                <a:cs typeface="Calibri" pitchFamily="34" charset="-120"/>
              </a:rPr>
              <a:t>Conversational booking</a:t>
            </a:r>
            <a:endParaRPr lang="en-US" sz="1800" dirty="0"/>
          </a:p>
        </p:txBody>
      </p:sp>
      <p:sp>
        <p:nvSpPr>
          <p:cNvPr id="7" name="Text 4"/>
          <p:cNvSpPr txBox="1"/>
          <p:nvPr/>
        </p:nvSpPr>
        <p:spPr>
          <a:xfrm>
            <a:off x="731520" y="2395728"/>
            <a:ext cx="2651760" cy="566928"/>
          </a:xfrm>
          <a:prstGeom prst="rect">
            <a:avLst/>
          </a:prstGeom>
          <a:noFill/>
          <a:ln/>
        </p:spPr>
        <p:txBody>
          <a:bodyPr wrap="square" lIns="0" tIns="0" rIns="0" bIns="0" rtlCol="0" anchor="t"/>
          <a:lstStyle/>
          <a:p>
            <a:pPr algn="l" indent="0" marL="0">
              <a:buNone/>
            </a:pPr>
            <a:r>
              <a:rPr lang="en-US" sz="1400" dirty="0">
                <a:solidFill>
                  <a:srgbClr val="3A3D42"/>
                </a:solidFill>
                <a:latin typeface="Calibri" pitchFamily="34" charset="0"/>
                <a:ea typeface="Calibri" pitchFamily="34" charset="-122"/>
                <a:cs typeface="Calibri" pitchFamily="34" charset="-120"/>
              </a:rPr>
              <a:t>Describe the shipment in your own words. Change your mind any time.</a:t>
            </a:r>
            <a:endParaRPr lang="en-US" sz="1400" dirty="0"/>
          </a:p>
        </p:txBody>
      </p:sp>
      <p:sp>
        <p:nvSpPr>
          <p:cNvPr id="8" name="Shape 5"/>
          <p:cNvSpPr/>
          <p:nvPr/>
        </p:nvSpPr>
        <p:spPr>
          <a:xfrm>
            <a:off x="731520" y="3017520"/>
            <a:ext cx="1417320" cy="237744"/>
          </a:xfrm>
          <a:prstGeom prst="roundRect">
            <a:avLst>
              <a:gd name="adj" fmla="val 50000"/>
            </a:avLst>
          </a:prstGeom>
          <a:solidFill>
            <a:srgbClr val="EEF5CF"/>
          </a:solidFill>
          <a:ln/>
        </p:spPr>
      </p:sp>
      <p:sp>
        <p:nvSpPr>
          <p:cNvPr id="9" name="Text 6"/>
          <p:cNvSpPr txBox="1"/>
          <p:nvPr/>
        </p:nvSpPr>
        <p:spPr>
          <a:xfrm>
            <a:off x="731520" y="3017520"/>
            <a:ext cx="1417320" cy="237744"/>
          </a:xfrm>
          <a:prstGeom prst="rect">
            <a:avLst/>
          </a:prstGeom>
          <a:noFill/>
          <a:ln/>
        </p:spPr>
        <p:txBody>
          <a:bodyPr wrap="square" lIns="0" tIns="0" rIns="0" bIns="0" rtlCol="0" anchor="ctr"/>
          <a:lstStyle/>
          <a:p>
            <a:pPr algn="ctr" indent="0" marL="0">
              <a:buNone/>
            </a:pPr>
            <a:r>
              <a:rPr lang="en-US" sz="1100" b="1" dirty="0">
                <a:solidFill>
                  <a:srgbClr val="3C5200"/>
                </a:solidFill>
                <a:latin typeface="Calibri" pitchFamily="34" charset="0"/>
                <a:ea typeface="Calibri" pitchFamily="34" charset="-122"/>
                <a:cs typeface="Calibri" pitchFamily="34" charset="-120"/>
              </a:rPr>
              <a:t>No file needed</a:t>
            </a:r>
            <a:endParaRPr lang="en-US" sz="1100" dirty="0"/>
          </a:p>
        </p:txBody>
      </p:sp>
      <p:sp>
        <p:nvSpPr>
          <p:cNvPr id="10" name="Shape 7"/>
          <p:cNvSpPr/>
          <p:nvPr/>
        </p:nvSpPr>
        <p:spPr>
          <a:xfrm>
            <a:off x="548640" y="3611880"/>
            <a:ext cx="3017520" cy="1828800"/>
          </a:xfrm>
          <a:prstGeom prst="roundRect">
            <a:avLst>
              <a:gd name="adj" fmla="val 6000"/>
            </a:avLst>
          </a:prstGeom>
          <a:solidFill>
            <a:schemeClr val="bg1"/>
          </a:solidFill>
          <a:ln w="9525">
            <a:solidFill>
              <a:srgbClr val="DADCD6"/>
            </a:solidFill>
            <a:prstDash val="solid"/>
          </a:ln>
          <a:effectLst>
            <a:outerShdw sx="100000" sy="100000" kx="0" ky="0" algn="bl" rotWithShape="0" blurRad="127000" dist="38100" dir="5400000">
              <a:srgbClr val="000000">
                <a:alpha val="12000"/>
              </a:srgbClr>
            </a:outerShdw>
          </a:effectLst>
        </p:spPr>
      </p:sp>
      <p:sp>
        <p:nvSpPr>
          <p:cNvPr id="11" name="Shape 8"/>
          <p:cNvSpPr/>
          <p:nvPr/>
        </p:nvSpPr>
        <p:spPr>
          <a:xfrm>
            <a:off x="731520" y="3813048"/>
            <a:ext cx="512064" cy="512064"/>
          </a:xfrm>
          <a:prstGeom prst="roundRect">
            <a:avLst>
              <a:gd name="adj" fmla="val 50000"/>
            </a:avLst>
          </a:prstGeom>
          <a:solidFill>
            <a:schemeClr val="tx1"/>
          </a:solidFill>
          <a:ln/>
        </p:spPr>
      </p:sp>
      <p:pic>
        <p:nvPicPr>
          <p:cNvPr id="12" name="Image 1" descr="excel icon">    </p:cNvPr>
          <p:cNvPicPr>
            <a:picLocks noChangeAspect="1"/>
          </p:cNvPicPr>
          <p:nvPr/>
        </p:nvPicPr>
        <p:blipFill>
          <a:blip r:embed="rId2"/>
          <a:stretch>
            <a:fillRect/>
          </a:stretch>
        </p:blipFill>
        <p:spPr>
          <a:xfrm>
            <a:off x="850392" y="3931920"/>
            <a:ext cx="274320" cy="274320"/>
          </a:xfrm>
          <a:prstGeom prst="rect">
            <a:avLst/>
          </a:prstGeom>
        </p:spPr>
      </p:pic>
      <p:sp>
        <p:nvSpPr>
          <p:cNvPr id="13" name="Text 9"/>
          <p:cNvSpPr txBox="1"/>
          <p:nvPr/>
        </p:nvSpPr>
        <p:spPr>
          <a:xfrm>
            <a:off x="1389888" y="3813048"/>
            <a:ext cx="2057400" cy="512064"/>
          </a:xfrm>
          <a:prstGeom prst="rect">
            <a:avLst/>
          </a:prstGeom>
          <a:noFill/>
          <a:ln/>
        </p:spPr>
        <p:txBody>
          <a:bodyPr wrap="square" lIns="0" tIns="0" rIns="0" bIns="0" rtlCol="0" anchor="ctr"/>
          <a:lstStyle/>
          <a:p>
            <a:pPr algn="l" indent="0" marL="0">
              <a:buNone/>
            </a:pPr>
            <a:r>
              <a:rPr lang="en-US" sz="1800" b="1" dirty="0">
                <a:solidFill>
                  <a:schemeClr val="tx1"/>
                </a:solidFill>
                <a:latin typeface="Calibri" pitchFamily="34" charset="0"/>
                <a:ea typeface="Calibri" pitchFamily="34" charset="-122"/>
                <a:cs typeface="Calibri" pitchFamily="34" charset="-120"/>
              </a:rPr>
              <a:t>Excel upload</a:t>
            </a:r>
            <a:endParaRPr lang="en-US" sz="1800" dirty="0"/>
          </a:p>
        </p:txBody>
      </p:sp>
      <p:sp>
        <p:nvSpPr>
          <p:cNvPr id="14" name="Text 10"/>
          <p:cNvSpPr txBox="1"/>
          <p:nvPr/>
        </p:nvSpPr>
        <p:spPr>
          <a:xfrm>
            <a:off x="731520" y="4453128"/>
            <a:ext cx="2651760" cy="566928"/>
          </a:xfrm>
          <a:prstGeom prst="rect">
            <a:avLst/>
          </a:prstGeom>
          <a:noFill/>
          <a:ln/>
        </p:spPr>
        <p:txBody>
          <a:bodyPr wrap="square" lIns="0" tIns="0" rIns="0" bIns="0" rtlCol="0" anchor="t"/>
          <a:lstStyle/>
          <a:p>
            <a:pPr algn="l" indent="0" marL="0">
              <a:buNone/>
            </a:pPr>
            <a:r>
              <a:rPr lang="en-US" sz="1400" dirty="0">
                <a:solidFill>
                  <a:srgbClr val="3A3D42"/>
                </a:solidFill>
                <a:latin typeface="Calibri" pitchFamily="34" charset="0"/>
                <a:ea typeface="Calibri" pitchFamily="34" charset="-122"/>
                <a:cs typeface="Calibri" pitchFamily="34" charset="-120"/>
              </a:rPr>
              <a:t>Drop a Bookings + Items workbook. Every row is checked.</a:t>
            </a:r>
            <a:endParaRPr lang="en-US" sz="1400" dirty="0"/>
          </a:p>
        </p:txBody>
      </p:sp>
      <p:sp>
        <p:nvSpPr>
          <p:cNvPr id="15" name="Shape 11"/>
          <p:cNvSpPr/>
          <p:nvPr/>
        </p:nvSpPr>
        <p:spPr>
          <a:xfrm>
            <a:off x="731520" y="5074920"/>
            <a:ext cx="1417320" cy="237744"/>
          </a:xfrm>
          <a:prstGeom prst="roundRect">
            <a:avLst>
              <a:gd name="adj" fmla="val 50000"/>
            </a:avLst>
          </a:prstGeom>
          <a:solidFill>
            <a:srgbClr val="EEF5CF"/>
          </a:solidFill>
          <a:ln/>
        </p:spPr>
      </p:sp>
      <p:sp>
        <p:nvSpPr>
          <p:cNvPr id="16" name="Text 12"/>
          <p:cNvSpPr txBox="1"/>
          <p:nvPr/>
        </p:nvSpPr>
        <p:spPr>
          <a:xfrm>
            <a:off x="731520" y="5074920"/>
            <a:ext cx="1417320" cy="237744"/>
          </a:xfrm>
          <a:prstGeom prst="rect">
            <a:avLst/>
          </a:prstGeom>
          <a:noFill/>
          <a:ln/>
        </p:spPr>
        <p:txBody>
          <a:bodyPr wrap="square" lIns="0" tIns="0" rIns="0" bIns="0" rtlCol="0" anchor="ctr"/>
          <a:lstStyle/>
          <a:p>
            <a:pPr algn="ctr" indent="0" marL="0">
              <a:buNone/>
            </a:pPr>
            <a:r>
              <a:rPr lang="en-US" sz="1100" b="1" dirty="0">
                <a:solidFill>
                  <a:srgbClr val="3C5200"/>
                </a:solidFill>
                <a:latin typeface="Calibri" pitchFamily="34" charset="0"/>
                <a:ea typeface="Calibri" pitchFamily="34" charset="-122"/>
                <a:cs typeface="Calibri" pitchFamily="34" charset="-120"/>
              </a:rPr>
              <a:t>No chat needed</a:t>
            </a:r>
            <a:endParaRPr lang="en-US" sz="1100" dirty="0"/>
          </a:p>
        </p:txBody>
      </p:sp>
      <p:sp>
        <p:nvSpPr>
          <p:cNvPr id="17" name="Shape 13"/>
          <p:cNvSpPr/>
          <p:nvPr/>
        </p:nvSpPr>
        <p:spPr>
          <a:xfrm>
            <a:off x="3611880" y="2468880"/>
            <a:ext cx="502920" cy="0"/>
          </a:xfrm>
          <a:prstGeom prst="line">
            <a:avLst/>
          </a:prstGeom>
          <a:noFill/>
          <a:ln w="25400">
            <a:solidFill>
              <a:schemeClr val="tx1"/>
            </a:solidFill>
            <a:prstDash val="solid"/>
            <a:tailEnd type="triangle"/>
          </a:ln>
        </p:spPr>
      </p:sp>
      <p:sp>
        <p:nvSpPr>
          <p:cNvPr id="18" name="Shape 14"/>
          <p:cNvSpPr/>
          <p:nvPr/>
        </p:nvSpPr>
        <p:spPr>
          <a:xfrm>
            <a:off x="3611880" y="4526280"/>
            <a:ext cx="502920" cy="0"/>
          </a:xfrm>
          <a:prstGeom prst="line">
            <a:avLst/>
          </a:prstGeom>
          <a:noFill/>
          <a:ln w="25400">
            <a:solidFill>
              <a:schemeClr val="tx1"/>
            </a:solidFill>
            <a:prstDash val="solid"/>
            <a:tailEnd type="triangle"/>
          </a:ln>
        </p:spPr>
      </p:sp>
      <p:sp>
        <p:nvSpPr>
          <p:cNvPr id="19" name="Shape 15"/>
          <p:cNvSpPr/>
          <p:nvPr/>
        </p:nvSpPr>
        <p:spPr>
          <a:xfrm>
            <a:off x="4114800" y="1554480"/>
            <a:ext cx="7525512" cy="3886200"/>
          </a:xfrm>
          <a:prstGeom prst="roundRect">
            <a:avLst>
              <a:gd name="adj" fmla="val 3765"/>
            </a:avLst>
          </a:prstGeom>
          <a:solidFill>
            <a:srgbClr val="EFECFB"/>
          </a:solidFill>
          <a:ln w="12700">
            <a:solidFill>
              <a:schemeClr val="accent2"/>
            </a:solidFill>
            <a:prstDash val="solid"/>
          </a:ln>
        </p:spPr>
      </p:sp>
      <p:sp>
        <p:nvSpPr>
          <p:cNvPr id="20" name="Text 16"/>
          <p:cNvSpPr txBox="1"/>
          <p:nvPr/>
        </p:nvSpPr>
        <p:spPr>
          <a:xfrm>
            <a:off x="4343400" y="1719072"/>
            <a:ext cx="4572000" cy="274320"/>
          </a:xfrm>
          <a:prstGeom prst="rect">
            <a:avLst/>
          </a:prstGeom>
          <a:noFill/>
          <a:ln/>
        </p:spPr>
        <p:txBody>
          <a:bodyPr wrap="square" lIns="0" tIns="0" rIns="0" bIns="0" rtlCol="0" anchor="t"/>
          <a:lstStyle/>
          <a:p>
            <a:pPr algn="l" indent="0" marL="0">
              <a:buNone/>
            </a:pPr>
            <a:r>
              <a:rPr lang="en-US" sz="1200" b="1" spc="150" kern="0" dirty="0">
                <a:solidFill>
                  <a:srgbClr val="4B3FA0"/>
                </a:solidFill>
                <a:latin typeface="Calibri" pitchFamily="34" charset="0"/>
                <a:ea typeface="Calibri" pitchFamily="34" charset="-122"/>
                <a:cs typeface="Calibri" pitchFamily="34" charset="-120"/>
              </a:rPr>
              <a:t>SHARED INTELLIGENCE LAYER</a:t>
            </a:r>
            <a:endParaRPr lang="en-US" sz="1200" dirty="0"/>
          </a:p>
        </p:txBody>
      </p:sp>
      <p:sp>
        <p:nvSpPr>
          <p:cNvPr id="21" name="Shape 17"/>
          <p:cNvSpPr/>
          <p:nvPr/>
        </p:nvSpPr>
        <p:spPr>
          <a:xfrm>
            <a:off x="4315968" y="2148840"/>
            <a:ext cx="1554480" cy="2468880"/>
          </a:xfrm>
          <a:prstGeom prst="roundRect">
            <a:avLst>
              <a:gd name="adj" fmla="val 7059"/>
            </a:avLst>
          </a:prstGeom>
          <a:solidFill>
            <a:schemeClr val="bg1"/>
          </a:solidFill>
          <a:ln/>
          <a:effectLst>
            <a:outerShdw sx="100000" sy="100000" kx="0" ky="0" algn="bl" rotWithShape="0" blurRad="127000" dist="38100" dir="5400000">
              <a:srgbClr val="000000">
                <a:alpha val="12000"/>
              </a:srgbClr>
            </a:outerShdw>
          </a:effectLst>
        </p:spPr>
      </p:sp>
      <p:sp>
        <p:nvSpPr>
          <p:cNvPr id="22" name="Shape 18"/>
          <p:cNvSpPr/>
          <p:nvPr/>
        </p:nvSpPr>
        <p:spPr>
          <a:xfrm>
            <a:off x="4480560" y="2331720"/>
            <a:ext cx="457200" cy="457200"/>
          </a:xfrm>
          <a:prstGeom prst="roundRect">
            <a:avLst>
              <a:gd name="adj" fmla="val 50000"/>
            </a:avLst>
          </a:prstGeom>
          <a:solidFill>
            <a:schemeClr val="tx1"/>
          </a:solidFill>
          <a:ln/>
        </p:spPr>
      </p:sp>
      <p:pic>
        <p:nvPicPr>
          <p:cNvPr id="23" name="Image 2" descr="layers icon">    </p:cNvPr>
          <p:cNvPicPr>
            <a:picLocks noChangeAspect="1"/>
          </p:cNvPicPr>
          <p:nvPr/>
        </p:nvPicPr>
        <p:blipFill>
          <a:blip r:embed="rId3"/>
          <a:stretch>
            <a:fillRect/>
          </a:stretch>
        </p:blipFill>
        <p:spPr>
          <a:xfrm>
            <a:off x="4581144" y="2432304"/>
            <a:ext cx="256032" cy="256032"/>
          </a:xfrm>
          <a:prstGeom prst="rect">
            <a:avLst/>
          </a:prstGeom>
        </p:spPr>
      </p:pic>
      <p:sp>
        <p:nvSpPr>
          <p:cNvPr id="24" name="Text 19"/>
          <p:cNvSpPr txBox="1"/>
          <p:nvPr/>
        </p:nvSpPr>
        <p:spPr>
          <a:xfrm>
            <a:off x="4480560" y="2926080"/>
            <a:ext cx="1280160" cy="566928"/>
          </a:xfrm>
          <a:prstGeom prst="rect">
            <a:avLst/>
          </a:prstGeom>
          <a:noFill/>
          <a:ln/>
        </p:spPr>
        <p:txBody>
          <a:bodyPr wrap="square" lIns="0" tIns="0" rIns="0" bIns="0" rtlCol="0" anchor="t"/>
          <a:lstStyle/>
          <a:p>
            <a:pPr algn="l" indent="0" marL="0">
              <a:buNone/>
            </a:pPr>
            <a:r>
              <a:rPr lang="en-US" sz="1500" b="1" dirty="0">
                <a:solidFill>
                  <a:schemeClr val="tx1"/>
                </a:solidFill>
                <a:latin typeface="Calibri" pitchFamily="34" charset="0"/>
                <a:ea typeface="Calibri" pitchFamily="34" charset="-122"/>
                <a:cs typeface="Calibri" pitchFamily="34" charset="-120"/>
              </a:rPr>
              <a:t>Structured booking</a:t>
            </a:r>
            <a:endParaRPr lang="en-US" sz="1500" dirty="0"/>
          </a:p>
        </p:txBody>
      </p:sp>
      <p:sp>
        <p:nvSpPr>
          <p:cNvPr id="25" name="Text 20"/>
          <p:cNvSpPr txBox="1"/>
          <p:nvPr/>
        </p:nvSpPr>
        <p:spPr>
          <a:xfrm>
            <a:off x="4480560" y="3566160"/>
            <a:ext cx="1280160" cy="914400"/>
          </a:xfrm>
          <a:prstGeom prst="rect">
            <a:avLst/>
          </a:prstGeom>
          <a:noFill/>
          <a:ln/>
        </p:spPr>
        <p:txBody>
          <a:bodyPr wrap="square" lIns="0" tIns="0" rIns="0" bIns="0" rtlCol="0" anchor="t"/>
          <a:lstStyle/>
          <a:p>
            <a:pPr algn="l" indent="0" marL="0">
              <a:buNone/>
            </a:pPr>
            <a:r>
              <a:rPr lang="en-US" sz="1400" dirty="0">
                <a:solidFill>
                  <a:srgbClr val="3A3D42"/>
                </a:solidFill>
                <a:latin typeface="Calibri" pitchFamily="34" charset="0"/>
                <a:ea typeface="Calibri" pitchFamily="34" charset="-122"/>
                <a:cs typeface="Calibri" pitchFamily="34" charset="-120"/>
              </a:rPr>
              <a:t>One schema, checked by Zod</a:t>
            </a:r>
            <a:endParaRPr lang="en-US" sz="1400" dirty="0"/>
          </a:p>
        </p:txBody>
      </p:sp>
      <p:sp>
        <p:nvSpPr>
          <p:cNvPr id="26" name="Shape 21"/>
          <p:cNvSpPr/>
          <p:nvPr/>
        </p:nvSpPr>
        <p:spPr>
          <a:xfrm>
            <a:off x="5907024" y="3200400"/>
            <a:ext cx="173736" cy="274320"/>
          </a:xfrm>
          <a:prstGeom prst="chevron">
            <a:avLst/>
          </a:prstGeom>
          <a:solidFill>
            <a:schemeClr val="accent2"/>
          </a:solidFill>
          <a:ln w="12700">
            <a:solidFill>
              <a:schemeClr val="accent2"/>
            </a:solidFill>
            <a:prstDash val="solid"/>
          </a:ln>
        </p:spPr>
      </p:sp>
      <p:sp>
        <p:nvSpPr>
          <p:cNvPr id="27" name="Shape 22"/>
          <p:cNvSpPr/>
          <p:nvPr/>
        </p:nvSpPr>
        <p:spPr>
          <a:xfrm>
            <a:off x="6117336" y="2148840"/>
            <a:ext cx="1554480" cy="2468880"/>
          </a:xfrm>
          <a:prstGeom prst="roundRect">
            <a:avLst>
              <a:gd name="adj" fmla="val 7059"/>
            </a:avLst>
          </a:prstGeom>
          <a:solidFill>
            <a:schemeClr val="bg1"/>
          </a:solidFill>
          <a:ln/>
          <a:effectLst>
            <a:outerShdw sx="100000" sy="100000" kx="0" ky="0" algn="bl" rotWithShape="0" blurRad="127000" dist="38100" dir="5400000">
              <a:srgbClr val="000000">
                <a:alpha val="12000"/>
              </a:srgbClr>
            </a:outerShdw>
          </a:effectLst>
        </p:spPr>
      </p:sp>
      <p:sp>
        <p:nvSpPr>
          <p:cNvPr id="28" name="Shape 23"/>
          <p:cNvSpPr/>
          <p:nvPr/>
        </p:nvSpPr>
        <p:spPr>
          <a:xfrm>
            <a:off x="6281928" y="2331720"/>
            <a:ext cx="457200" cy="457200"/>
          </a:xfrm>
          <a:prstGeom prst="roundRect">
            <a:avLst>
              <a:gd name="adj" fmla="val 50000"/>
            </a:avLst>
          </a:prstGeom>
          <a:solidFill>
            <a:schemeClr val="tx1"/>
          </a:solidFill>
          <a:ln/>
        </p:spPr>
      </p:sp>
      <p:pic>
        <p:nvPicPr>
          <p:cNvPr id="29" name="Image 3" descr="shield icon">    </p:cNvPr>
          <p:cNvPicPr>
            <a:picLocks noChangeAspect="1"/>
          </p:cNvPicPr>
          <p:nvPr/>
        </p:nvPicPr>
        <p:blipFill>
          <a:blip r:embed="rId4"/>
          <a:stretch>
            <a:fillRect/>
          </a:stretch>
        </p:blipFill>
        <p:spPr>
          <a:xfrm>
            <a:off x="6382512" y="2432304"/>
            <a:ext cx="256032" cy="256032"/>
          </a:xfrm>
          <a:prstGeom prst="rect">
            <a:avLst/>
          </a:prstGeom>
        </p:spPr>
      </p:pic>
      <p:sp>
        <p:nvSpPr>
          <p:cNvPr id="30" name="Text 24"/>
          <p:cNvSpPr txBox="1"/>
          <p:nvPr/>
        </p:nvSpPr>
        <p:spPr>
          <a:xfrm>
            <a:off x="6281928" y="2926080"/>
            <a:ext cx="1280160" cy="566928"/>
          </a:xfrm>
          <a:prstGeom prst="rect">
            <a:avLst/>
          </a:prstGeom>
          <a:noFill/>
          <a:ln/>
        </p:spPr>
        <p:txBody>
          <a:bodyPr wrap="square" lIns="0" tIns="0" rIns="0" bIns="0" rtlCol="0" anchor="t"/>
          <a:lstStyle/>
          <a:p>
            <a:pPr algn="l" indent="0" marL="0">
              <a:buNone/>
            </a:pPr>
            <a:r>
              <a:rPr lang="en-US" sz="1500" b="1" dirty="0">
                <a:solidFill>
                  <a:schemeClr val="tx1"/>
                </a:solidFill>
                <a:latin typeface="Calibri" pitchFamily="34" charset="0"/>
                <a:ea typeface="Calibri" pitchFamily="34" charset="-122"/>
                <a:cs typeface="Calibri" pitchFamily="34" charset="-120"/>
              </a:rPr>
              <a:t>10 pre-flight checks</a:t>
            </a:r>
            <a:endParaRPr lang="en-US" sz="1500" dirty="0"/>
          </a:p>
        </p:txBody>
      </p:sp>
      <p:sp>
        <p:nvSpPr>
          <p:cNvPr id="31" name="Text 25"/>
          <p:cNvSpPr txBox="1"/>
          <p:nvPr/>
        </p:nvSpPr>
        <p:spPr>
          <a:xfrm>
            <a:off x="6281928" y="3566160"/>
            <a:ext cx="1280160" cy="914400"/>
          </a:xfrm>
          <a:prstGeom prst="rect">
            <a:avLst/>
          </a:prstGeom>
          <a:noFill/>
          <a:ln/>
        </p:spPr>
        <p:txBody>
          <a:bodyPr wrap="square" lIns="0" tIns="0" rIns="0" bIns="0" rtlCol="0" anchor="t"/>
          <a:lstStyle/>
          <a:p>
            <a:pPr algn="l" indent="0" marL="0">
              <a:buNone/>
            </a:pPr>
            <a:r>
              <a:rPr lang="en-US" sz="1400" dirty="0">
                <a:solidFill>
                  <a:srgbClr val="3A3D42"/>
                </a:solidFill>
                <a:latin typeface="Calibri" pitchFamily="34" charset="0"/>
                <a:ea typeface="Calibri" pitchFamily="34" charset="-122"/>
                <a:cs typeface="Calibri" pitchFamily="34" charset="-120"/>
              </a:rPr>
              <a:t>Red or Amber, with the numbers</a:t>
            </a:r>
            <a:endParaRPr lang="en-US" sz="1400" dirty="0"/>
          </a:p>
        </p:txBody>
      </p:sp>
      <p:sp>
        <p:nvSpPr>
          <p:cNvPr id="32" name="Shape 26"/>
          <p:cNvSpPr/>
          <p:nvPr/>
        </p:nvSpPr>
        <p:spPr>
          <a:xfrm>
            <a:off x="7708392" y="3200400"/>
            <a:ext cx="173736" cy="274320"/>
          </a:xfrm>
          <a:prstGeom prst="chevron">
            <a:avLst/>
          </a:prstGeom>
          <a:solidFill>
            <a:schemeClr val="accent2"/>
          </a:solidFill>
          <a:ln w="12700">
            <a:solidFill>
              <a:schemeClr val="accent2"/>
            </a:solidFill>
            <a:prstDash val="solid"/>
          </a:ln>
        </p:spPr>
      </p:sp>
      <p:sp>
        <p:nvSpPr>
          <p:cNvPr id="33" name="Shape 27"/>
          <p:cNvSpPr/>
          <p:nvPr/>
        </p:nvSpPr>
        <p:spPr>
          <a:xfrm>
            <a:off x="7918704" y="2148840"/>
            <a:ext cx="1554480" cy="2468880"/>
          </a:xfrm>
          <a:prstGeom prst="roundRect">
            <a:avLst>
              <a:gd name="adj" fmla="val 7059"/>
            </a:avLst>
          </a:prstGeom>
          <a:solidFill>
            <a:schemeClr val="bg1"/>
          </a:solidFill>
          <a:ln/>
          <a:effectLst>
            <a:outerShdw sx="100000" sy="100000" kx="0" ky="0" algn="bl" rotWithShape="0" blurRad="127000" dist="38100" dir="5400000">
              <a:srgbClr val="000000">
                <a:alpha val="12000"/>
              </a:srgbClr>
            </a:outerShdw>
          </a:effectLst>
        </p:spPr>
      </p:sp>
      <p:sp>
        <p:nvSpPr>
          <p:cNvPr id="34" name="Shape 28"/>
          <p:cNvSpPr/>
          <p:nvPr/>
        </p:nvSpPr>
        <p:spPr>
          <a:xfrm>
            <a:off x="8083296" y="2331720"/>
            <a:ext cx="457200" cy="457200"/>
          </a:xfrm>
          <a:prstGeom prst="roundRect">
            <a:avLst>
              <a:gd name="adj" fmla="val 50000"/>
            </a:avLst>
          </a:prstGeom>
          <a:solidFill>
            <a:schemeClr val="tx1"/>
          </a:solidFill>
          <a:ln/>
        </p:spPr>
      </p:sp>
      <p:pic>
        <p:nvPicPr>
          <p:cNvPr id="35" name="Image 4" descr="truck icon">    </p:cNvPr>
          <p:cNvPicPr>
            <a:picLocks noChangeAspect="1"/>
          </p:cNvPicPr>
          <p:nvPr/>
        </p:nvPicPr>
        <p:blipFill>
          <a:blip r:embed="rId5"/>
          <a:stretch>
            <a:fillRect/>
          </a:stretch>
        </p:blipFill>
        <p:spPr>
          <a:xfrm>
            <a:off x="8183880" y="2432304"/>
            <a:ext cx="256032" cy="256032"/>
          </a:xfrm>
          <a:prstGeom prst="rect">
            <a:avLst/>
          </a:prstGeom>
        </p:spPr>
      </p:pic>
      <p:sp>
        <p:nvSpPr>
          <p:cNvPr id="36" name="Text 29"/>
          <p:cNvSpPr txBox="1"/>
          <p:nvPr/>
        </p:nvSpPr>
        <p:spPr>
          <a:xfrm>
            <a:off x="8083296" y="2926080"/>
            <a:ext cx="1280160" cy="566928"/>
          </a:xfrm>
          <a:prstGeom prst="rect">
            <a:avLst/>
          </a:prstGeom>
          <a:noFill/>
          <a:ln/>
        </p:spPr>
        <p:txBody>
          <a:bodyPr wrap="square" lIns="0" tIns="0" rIns="0" bIns="0" rtlCol="0" anchor="t"/>
          <a:lstStyle/>
          <a:p>
            <a:pPr algn="l" indent="0" marL="0">
              <a:buNone/>
            </a:pPr>
            <a:r>
              <a:rPr lang="en-US" sz="1500" b="1" dirty="0">
                <a:solidFill>
                  <a:schemeClr val="tx1"/>
                </a:solidFill>
                <a:latin typeface="Calibri" pitchFamily="34" charset="0"/>
                <a:ea typeface="Calibri" pitchFamily="34" charset="-122"/>
                <a:cs typeface="Calibri" pitchFamily="34" charset="-120"/>
              </a:rPr>
              <a:t>Carrier pick</a:t>
            </a:r>
            <a:endParaRPr lang="en-US" sz="1500" dirty="0"/>
          </a:p>
        </p:txBody>
      </p:sp>
      <p:sp>
        <p:nvSpPr>
          <p:cNvPr id="37" name="Text 30"/>
          <p:cNvSpPr txBox="1"/>
          <p:nvPr/>
        </p:nvSpPr>
        <p:spPr>
          <a:xfrm>
            <a:off x="8083296" y="3566160"/>
            <a:ext cx="1280160" cy="914400"/>
          </a:xfrm>
          <a:prstGeom prst="rect">
            <a:avLst/>
          </a:prstGeom>
          <a:noFill/>
          <a:ln/>
        </p:spPr>
        <p:txBody>
          <a:bodyPr wrap="square" lIns="0" tIns="0" rIns="0" bIns="0" rtlCol="0" anchor="t"/>
          <a:lstStyle/>
          <a:p>
            <a:pPr algn="l" indent="0" marL="0">
              <a:buNone/>
            </a:pPr>
            <a:r>
              <a:rPr lang="en-US" sz="1400" dirty="0">
                <a:solidFill>
                  <a:srgbClr val="3A3D42"/>
                </a:solidFill>
                <a:latin typeface="Calibri" pitchFamily="34" charset="0"/>
                <a:ea typeface="Calibri" pitchFamily="34" charset="-122"/>
                <a:cs typeface="Calibri" pitchFamily="34" charset="-120"/>
              </a:rPr>
              <a:t>Route, weight, then seller priority</a:t>
            </a:r>
            <a:endParaRPr lang="en-US" sz="1400" dirty="0"/>
          </a:p>
        </p:txBody>
      </p:sp>
      <p:sp>
        <p:nvSpPr>
          <p:cNvPr id="38" name="Shape 31"/>
          <p:cNvSpPr/>
          <p:nvPr/>
        </p:nvSpPr>
        <p:spPr>
          <a:xfrm>
            <a:off x="9509760" y="3200400"/>
            <a:ext cx="173736" cy="274320"/>
          </a:xfrm>
          <a:prstGeom prst="chevron">
            <a:avLst/>
          </a:prstGeom>
          <a:solidFill>
            <a:schemeClr val="accent2"/>
          </a:solidFill>
          <a:ln w="12700">
            <a:solidFill>
              <a:schemeClr val="accent2"/>
            </a:solidFill>
            <a:prstDash val="solid"/>
          </a:ln>
        </p:spPr>
      </p:sp>
      <p:sp>
        <p:nvSpPr>
          <p:cNvPr id="39" name="Shape 32"/>
          <p:cNvSpPr/>
          <p:nvPr/>
        </p:nvSpPr>
        <p:spPr>
          <a:xfrm>
            <a:off x="9720072" y="2148840"/>
            <a:ext cx="1554480" cy="2468880"/>
          </a:xfrm>
          <a:prstGeom prst="roundRect">
            <a:avLst>
              <a:gd name="adj" fmla="val 7059"/>
            </a:avLst>
          </a:prstGeom>
          <a:solidFill>
            <a:schemeClr val="bg1"/>
          </a:solidFill>
          <a:ln/>
          <a:effectLst>
            <a:outerShdw sx="100000" sy="100000" kx="0" ky="0" algn="bl" rotWithShape="0" blurRad="127000" dist="38100" dir="5400000">
              <a:srgbClr val="000000">
                <a:alpha val="12000"/>
              </a:srgbClr>
            </a:outerShdw>
          </a:effectLst>
        </p:spPr>
      </p:sp>
      <p:sp>
        <p:nvSpPr>
          <p:cNvPr id="40" name="Shape 33"/>
          <p:cNvSpPr/>
          <p:nvPr/>
        </p:nvSpPr>
        <p:spPr>
          <a:xfrm>
            <a:off x="9884664" y="2331720"/>
            <a:ext cx="457200" cy="457200"/>
          </a:xfrm>
          <a:prstGeom prst="roundRect">
            <a:avLst>
              <a:gd name="adj" fmla="val 50000"/>
            </a:avLst>
          </a:prstGeom>
          <a:solidFill>
            <a:schemeClr val="tx1"/>
          </a:solidFill>
          <a:ln/>
        </p:spPr>
      </p:sp>
      <p:pic>
        <p:nvPicPr>
          <p:cNvPr id="41" name="Image 5" descr="check icon">    </p:cNvPr>
          <p:cNvPicPr>
            <a:picLocks noChangeAspect="1"/>
          </p:cNvPicPr>
          <p:nvPr/>
        </p:nvPicPr>
        <p:blipFill>
          <a:blip r:embed="rId6"/>
          <a:stretch>
            <a:fillRect/>
          </a:stretch>
        </p:blipFill>
        <p:spPr>
          <a:xfrm>
            <a:off x="9985248" y="2432304"/>
            <a:ext cx="256032" cy="256032"/>
          </a:xfrm>
          <a:prstGeom prst="rect">
            <a:avLst/>
          </a:prstGeom>
        </p:spPr>
      </p:pic>
      <p:sp>
        <p:nvSpPr>
          <p:cNvPr id="42" name="Text 34"/>
          <p:cNvSpPr txBox="1"/>
          <p:nvPr/>
        </p:nvSpPr>
        <p:spPr>
          <a:xfrm>
            <a:off x="9884664" y="2926080"/>
            <a:ext cx="1280160" cy="566928"/>
          </a:xfrm>
          <a:prstGeom prst="rect">
            <a:avLst/>
          </a:prstGeom>
          <a:noFill/>
          <a:ln/>
        </p:spPr>
        <p:txBody>
          <a:bodyPr wrap="square" lIns="0" tIns="0" rIns="0" bIns="0" rtlCol="0" anchor="t"/>
          <a:lstStyle/>
          <a:p>
            <a:pPr algn="l" indent="0" marL="0">
              <a:buNone/>
            </a:pPr>
            <a:r>
              <a:rPr lang="en-US" sz="1500" b="1" dirty="0">
                <a:solidFill>
                  <a:schemeClr val="tx1"/>
                </a:solidFill>
                <a:latin typeface="Calibri" pitchFamily="34" charset="0"/>
                <a:ea typeface="Calibri" pitchFamily="34" charset="-122"/>
                <a:cs typeface="Calibri" pitchFamily="34" charset="-120"/>
              </a:rPr>
              <a:t>Plain-English result</a:t>
            </a:r>
            <a:endParaRPr lang="en-US" sz="1500" dirty="0"/>
          </a:p>
        </p:txBody>
      </p:sp>
      <p:sp>
        <p:nvSpPr>
          <p:cNvPr id="43" name="Text 35"/>
          <p:cNvSpPr txBox="1"/>
          <p:nvPr/>
        </p:nvSpPr>
        <p:spPr>
          <a:xfrm>
            <a:off x="9884664" y="3566160"/>
            <a:ext cx="1280160" cy="914400"/>
          </a:xfrm>
          <a:prstGeom prst="rect">
            <a:avLst/>
          </a:prstGeom>
          <a:noFill/>
          <a:ln/>
        </p:spPr>
        <p:txBody>
          <a:bodyPr wrap="square" lIns="0" tIns="0" rIns="0" bIns="0" rtlCol="0" anchor="t"/>
          <a:lstStyle/>
          <a:p>
            <a:pPr algn="l" indent="0" marL="0">
              <a:buNone/>
            </a:pPr>
            <a:r>
              <a:rPr lang="en-US" sz="1400" dirty="0">
                <a:solidFill>
                  <a:srgbClr val="3A3D42"/>
                </a:solidFill>
                <a:latin typeface="Calibri" pitchFamily="34" charset="0"/>
                <a:ea typeface="Calibri" pitchFamily="34" charset="-122"/>
                <a:cs typeface="Calibri" pitchFamily="34" charset="-120"/>
              </a:rPr>
              <a:t>What’s wrong, the fix, what’s next</a:t>
            </a:r>
            <a:endParaRPr lang="en-US" sz="1400" dirty="0"/>
          </a:p>
        </p:txBody>
      </p:sp>
      <p:sp>
        <p:nvSpPr>
          <p:cNvPr id="44" name="Text 36"/>
          <p:cNvSpPr txBox="1"/>
          <p:nvPr/>
        </p:nvSpPr>
        <p:spPr>
          <a:xfrm>
            <a:off x="4343400" y="4846320"/>
            <a:ext cx="7040880" cy="457200"/>
          </a:xfrm>
          <a:prstGeom prst="rect">
            <a:avLst/>
          </a:prstGeom>
          <a:noFill/>
          <a:ln/>
        </p:spPr>
        <p:txBody>
          <a:bodyPr wrap="square" lIns="0" tIns="0" rIns="0" bIns="0" rtlCol="0" anchor="t"/>
          <a:lstStyle/>
          <a:p>
            <a:pPr algn="l" indent="0" marL="0">
              <a:buNone/>
            </a:pPr>
            <a:r>
              <a:rPr lang="en-US" sz="1400" dirty="0">
                <a:solidFill>
                  <a:srgbClr val="3A3D42"/>
                </a:solidFill>
                <a:latin typeface="Calibri" pitchFamily="34" charset="0"/>
                <a:ea typeface="Calibri" pitchFamily="34" charset="-122"/>
                <a:cs typeface="Calibri" pitchFamily="34" charset="-120"/>
              </a:rPr>
              <a:t>Both doors end in the same evaluateBooking() call, so there are no duplicate rules to drift apart.</a:t>
            </a:r>
            <a:endParaRPr lang="en-US" sz="1400" dirty="0"/>
          </a:p>
        </p:txBody>
      </p:sp>
      <p:sp>
        <p:nvSpPr>
          <p:cNvPr id="45" name="Shape 37"/>
          <p:cNvSpPr/>
          <p:nvPr/>
        </p:nvSpPr>
        <p:spPr>
          <a:xfrm>
            <a:off x="548640" y="5623560"/>
            <a:ext cx="11091672" cy="594360"/>
          </a:xfrm>
          <a:prstGeom prst="roundRect">
            <a:avLst>
              <a:gd name="adj" fmla="val 18462"/>
            </a:avLst>
          </a:prstGeom>
          <a:solidFill>
            <a:schemeClr val="tx1"/>
          </a:solidFill>
          <a:ln/>
        </p:spPr>
      </p:sp>
      <p:sp>
        <p:nvSpPr>
          <p:cNvPr id="46" name="Text 38"/>
          <p:cNvSpPr txBox="1"/>
          <p:nvPr/>
        </p:nvSpPr>
        <p:spPr>
          <a:xfrm>
            <a:off x="822960" y="5623560"/>
            <a:ext cx="10515600" cy="594360"/>
          </a:xfrm>
          <a:prstGeom prst="rect">
            <a:avLst/>
          </a:prstGeom>
          <a:noFill/>
          <a:ln/>
        </p:spPr>
        <p:txBody>
          <a:bodyPr wrap="square" lIns="0" tIns="0" rIns="0" bIns="0" rtlCol="0" anchor="ctr"/>
          <a:lstStyle/>
          <a:p>
            <a:pPr algn="l" indent="0" marL="0">
              <a:buNone/>
            </a:pPr>
            <a:r>
              <a:rPr lang="en-US" sz="1700" b="1" dirty="0">
                <a:solidFill>
                  <a:schemeClr val="bg1"/>
                </a:solidFill>
                <a:latin typeface="Calibri" pitchFamily="34" charset="0"/>
                <a:ea typeface="Calibri" pitchFamily="34" charset="-122"/>
                <a:cs typeface="Calibri" pitchFamily="34" charset="-120"/>
              </a:rPr>
              <a:t>Pick either door. The same ten rules, carrier logic and explanations sit behind both.</a:t>
            </a:r>
            <a:endParaRPr lang="en-US" sz="17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914400"/>
          </a:xfrm>
          <a:prstGeom prst="rect">
            <a:avLst/>
          </a:prstGeom>
          <a:noFill/>
          <a:ln/>
        </p:spPr>
        <p:txBody>
          <a:bodyPr wrap="square" lIns="0" tIns="0" rIns="0" bIns="0" rtlCol="0" anchor="t"/>
          <a:lstStyle/>
          <a:p>
            <a:pPr algn="l" indent="0" marL="0">
              <a:buNone/>
            </a:pPr>
            <a:r>
              <a:rPr lang="en-US" sz="3000" b="1" dirty="0">
                <a:solidFill>
                  <a:schemeClr val="tx1"/>
                </a:solidFill>
                <a:latin typeface="Calibri" pitchFamily="34" charset="0"/>
                <a:ea typeface="Calibri" pitchFamily="34" charset="-122"/>
                <a:cs typeface="Calibri" pitchFamily="34" charset="-120"/>
              </a:rPr>
              <a:t>From one sentence to a reviewed booking</a:t>
            </a:r>
            <a:endParaRPr lang="en-US" sz="3000" dirty="0"/>
          </a:p>
        </p:txBody>
      </p:sp>
      <p:sp>
        <p:nvSpPr>
          <p:cNvPr id="3" name="Shape 1"/>
          <p:cNvSpPr/>
          <p:nvPr/>
        </p:nvSpPr>
        <p:spPr>
          <a:xfrm>
            <a:off x="548640" y="1554480"/>
            <a:ext cx="420624" cy="420624"/>
          </a:xfrm>
          <a:prstGeom prst="roundRect">
            <a:avLst>
              <a:gd name="adj" fmla="val 50000"/>
            </a:avLst>
          </a:prstGeom>
          <a:solidFill>
            <a:schemeClr val="accent1"/>
          </a:solidFill>
          <a:ln/>
        </p:spPr>
      </p:sp>
      <p:sp>
        <p:nvSpPr>
          <p:cNvPr id="4" name="Text 2"/>
          <p:cNvSpPr txBox="1"/>
          <p:nvPr/>
        </p:nvSpPr>
        <p:spPr>
          <a:xfrm>
            <a:off x="548640" y="155448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143000" y="1536192"/>
            <a:ext cx="2926080" cy="292608"/>
          </a:xfrm>
          <a:prstGeom prst="rect">
            <a:avLst/>
          </a:prstGeom>
          <a:noFill/>
          <a:ln/>
        </p:spPr>
        <p:txBody>
          <a:bodyPr wrap="square" lIns="0" tIns="0" rIns="0" bIns="0" rtlCol="0" anchor="t"/>
          <a:lstStyle/>
          <a:p>
            <a:pPr algn="l" indent="0" marL="0">
              <a:buNone/>
            </a:pPr>
            <a:r>
              <a:rPr lang="en-US" sz="1700" b="1" dirty="0">
                <a:solidFill>
                  <a:schemeClr val="tx1"/>
                </a:solidFill>
                <a:latin typeface="Calibri" pitchFamily="34" charset="0"/>
                <a:ea typeface="Calibri" pitchFamily="34" charset="-122"/>
                <a:cs typeface="Calibri" pitchFamily="34" charset="-120"/>
              </a:rPr>
              <a:t>Describe it</a:t>
            </a:r>
            <a:endParaRPr lang="en-US" sz="1700" dirty="0"/>
          </a:p>
        </p:txBody>
      </p:sp>
      <p:sp>
        <p:nvSpPr>
          <p:cNvPr id="6" name="Text 4"/>
          <p:cNvSpPr txBox="1"/>
          <p:nvPr/>
        </p:nvSpPr>
        <p:spPr>
          <a:xfrm>
            <a:off x="1143000" y="1856232"/>
            <a:ext cx="2926080" cy="685800"/>
          </a:xfrm>
          <a:prstGeom prst="rect">
            <a:avLst/>
          </a:prstGeom>
          <a:noFill/>
          <a:ln/>
        </p:spPr>
        <p:txBody>
          <a:bodyPr wrap="square" lIns="0" tIns="0" rIns="0" bIns="0" rtlCol="0" anchor="t"/>
          <a:lstStyle/>
          <a:p>
            <a:pPr algn="l" indent="0" marL="0">
              <a:buNone/>
            </a:pPr>
            <a:r>
              <a:rPr lang="en-US" sz="1400" dirty="0">
                <a:solidFill>
                  <a:srgbClr val="3A3D42"/>
                </a:solidFill>
                <a:latin typeface="Calibri" pitchFamily="34" charset="0"/>
                <a:ea typeface="Calibri" pitchFamily="34" charset="-122"/>
                <a:cs typeface="Calibri" pitchFamily="34" charset="-120"/>
              </a:rPr>
              <a:t>One sentence in. It fills what it can, then asks only for what’s missing.</a:t>
            </a:r>
            <a:endParaRPr lang="en-US" sz="1400" dirty="0"/>
          </a:p>
        </p:txBody>
      </p:sp>
      <p:sp>
        <p:nvSpPr>
          <p:cNvPr id="7" name="Shape 5"/>
          <p:cNvSpPr/>
          <p:nvPr/>
        </p:nvSpPr>
        <p:spPr>
          <a:xfrm>
            <a:off x="548640" y="2670048"/>
            <a:ext cx="420624" cy="420624"/>
          </a:xfrm>
          <a:prstGeom prst="roundRect">
            <a:avLst>
              <a:gd name="adj" fmla="val 50000"/>
            </a:avLst>
          </a:prstGeom>
          <a:solidFill>
            <a:schemeClr val="accent1"/>
          </a:solidFill>
          <a:ln/>
        </p:spPr>
      </p:sp>
      <p:sp>
        <p:nvSpPr>
          <p:cNvPr id="8" name="Text 6"/>
          <p:cNvSpPr txBox="1"/>
          <p:nvPr/>
        </p:nvSpPr>
        <p:spPr>
          <a:xfrm>
            <a:off x="548640" y="2670048"/>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651760"/>
            <a:ext cx="2926080" cy="292608"/>
          </a:xfrm>
          <a:prstGeom prst="rect">
            <a:avLst/>
          </a:prstGeom>
          <a:noFill/>
          <a:ln/>
        </p:spPr>
        <p:txBody>
          <a:bodyPr wrap="square" lIns="0" tIns="0" rIns="0" bIns="0" rtlCol="0" anchor="t"/>
          <a:lstStyle/>
          <a:p>
            <a:pPr algn="l" indent="0" marL="0">
              <a:buNone/>
            </a:pPr>
            <a:r>
              <a:rPr lang="en-US" sz="1700" b="1" dirty="0">
                <a:solidFill>
                  <a:schemeClr val="tx1"/>
                </a:solidFill>
                <a:latin typeface="Calibri" pitchFamily="34" charset="0"/>
                <a:ea typeface="Calibri" pitchFamily="34" charset="-122"/>
                <a:cs typeface="Calibri" pitchFamily="34" charset="-120"/>
              </a:rPr>
              <a:t>Change your mind</a:t>
            </a:r>
            <a:endParaRPr lang="en-US" sz="1700" dirty="0"/>
          </a:p>
        </p:txBody>
      </p:sp>
      <p:sp>
        <p:nvSpPr>
          <p:cNvPr id="10" name="Text 8"/>
          <p:cNvSpPr txBox="1"/>
          <p:nvPr/>
        </p:nvSpPr>
        <p:spPr>
          <a:xfrm>
            <a:off x="1143000" y="2971800"/>
            <a:ext cx="2926080" cy="685800"/>
          </a:xfrm>
          <a:prstGeom prst="rect">
            <a:avLst/>
          </a:prstGeom>
          <a:noFill/>
          <a:ln/>
        </p:spPr>
        <p:txBody>
          <a:bodyPr wrap="square" lIns="0" tIns="0" rIns="0" bIns="0" rtlCol="0" anchor="t"/>
          <a:lstStyle/>
          <a:p>
            <a:pPr algn="l" indent="0" marL="0">
              <a:buNone/>
            </a:pPr>
            <a:r>
              <a:rPr lang="en-US" sz="1400" dirty="0">
                <a:solidFill>
                  <a:srgbClr val="3A3D42"/>
                </a:solidFill>
                <a:latin typeface="Calibri" pitchFamily="34" charset="0"/>
                <a:ea typeface="Calibri" pitchFamily="34" charset="-122"/>
                <a:cs typeface="Calibri" pitchFamily="34" charset="-120"/>
              </a:rPr>
              <a:t>“Actually, make that 4 pallets.” Only pallets change: £540 → £720.</a:t>
            </a:r>
            <a:endParaRPr lang="en-US" sz="1400" dirty="0"/>
          </a:p>
        </p:txBody>
      </p:sp>
      <p:sp>
        <p:nvSpPr>
          <p:cNvPr id="11" name="Shape 9"/>
          <p:cNvSpPr/>
          <p:nvPr/>
        </p:nvSpPr>
        <p:spPr>
          <a:xfrm>
            <a:off x="548640" y="3785616"/>
            <a:ext cx="420624" cy="420624"/>
          </a:xfrm>
          <a:prstGeom prst="roundRect">
            <a:avLst>
              <a:gd name="adj" fmla="val 50000"/>
            </a:avLst>
          </a:prstGeom>
          <a:solidFill>
            <a:schemeClr val="accent1"/>
          </a:solidFill>
          <a:ln/>
        </p:spPr>
      </p:sp>
      <p:sp>
        <p:nvSpPr>
          <p:cNvPr id="12" name="Text 10"/>
          <p:cNvSpPr txBox="1"/>
          <p:nvPr/>
        </p:nvSpPr>
        <p:spPr>
          <a:xfrm>
            <a:off x="548640" y="3785616"/>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143000" y="3767328"/>
            <a:ext cx="2926080" cy="292608"/>
          </a:xfrm>
          <a:prstGeom prst="rect">
            <a:avLst/>
          </a:prstGeom>
          <a:noFill/>
          <a:ln/>
        </p:spPr>
        <p:txBody>
          <a:bodyPr wrap="square" lIns="0" tIns="0" rIns="0" bIns="0" rtlCol="0" anchor="t"/>
          <a:lstStyle/>
          <a:p>
            <a:pPr algn="l" indent="0" marL="0">
              <a:buNone/>
            </a:pPr>
            <a:r>
              <a:rPr lang="en-US" sz="1700" b="1" dirty="0">
                <a:solidFill>
                  <a:schemeClr val="tx1"/>
                </a:solidFill>
                <a:latin typeface="Calibri" pitchFamily="34" charset="0"/>
                <a:ea typeface="Calibri" pitchFamily="34" charset="-122"/>
                <a:cs typeface="Calibri" pitchFamily="34" charset="-120"/>
              </a:rPr>
              <a:t>See the verdict</a:t>
            </a:r>
            <a:endParaRPr lang="en-US" sz="1700" dirty="0"/>
          </a:p>
        </p:txBody>
      </p:sp>
      <p:sp>
        <p:nvSpPr>
          <p:cNvPr id="14" name="Text 12"/>
          <p:cNvSpPr txBox="1"/>
          <p:nvPr/>
        </p:nvSpPr>
        <p:spPr>
          <a:xfrm>
            <a:off x="1143000" y="4087368"/>
            <a:ext cx="2926080" cy="685800"/>
          </a:xfrm>
          <a:prstGeom prst="rect">
            <a:avLst/>
          </a:prstGeom>
          <a:noFill/>
          <a:ln/>
        </p:spPr>
        <p:txBody>
          <a:bodyPr wrap="square" lIns="0" tIns="0" rIns="0" bIns="0" rtlCol="0" anchor="t"/>
          <a:lstStyle/>
          <a:p>
            <a:pPr algn="l" indent="0" marL="0">
              <a:buNone/>
            </a:pPr>
            <a:r>
              <a:rPr lang="en-US" sz="1400" dirty="0">
                <a:solidFill>
                  <a:srgbClr val="3A3D42"/>
                </a:solidFill>
                <a:latin typeface="Calibri" pitchFamily="34" charset="0"/>
                <a:ea typeface="Calibri" pitchFamily="34" charset="-122"/>
                <a:cs typeface="Calibri" pitchFamily="34" charset="-120"/>
              </a:rPr>
              <a:t>Ten live checks. Each Red or Amber shows the numbers and the fix.</a:t>
            </a:r>
            <a:endParaRPr lang="en-US" sz="1400" dirty="0"/>
          </a:p>
        </p:txBody>
      </p:sp>
      <p:sp>
        <p:nvSpPr>
          <p:cNvPr id="15" name="Shape 13"/>
          <p:cNvSpPr/>
          <p:nvPr/>
        </p:nvSpPr>
        <p:spPr>
          <a:xfrm>
            <a:off x="548640" y="4901184"/>
            <a:ext cx="420624" cy="420624"/>
          </a:xfrm>
          <a:prstGeom prst="roundRect">
            <a:avLst>
              <a:gd name="adj" fmla="val 50000"/>
            </a:avLst>
          </a:prstGeom>
          <a:solidFill>
            <a:schemeClr val="accent1"/>
          </a:solidFill>
          <a:ln/>
        </p:spPr>
      </p:sp>
      <p:sp>
        <p:nvSpPr>
          <p:cNvPr id="16" name="Text 14"/>
          <p:cNvSpPr txBox="1"/>
          <p:nvPr/>
        </p:nvSpPr>
        <p:spPr>
          <a:xfrm>
            <a:off x="548640" y="4901184"/>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4</a:t>
            </a:r>
            <a:endParaRPr lang="en-US" sz="1600" dirty="0"/>
          </a:p>
        </p:txBody>
      </p:sp>
      <p:sp>
        <p:nvSpPr>
          <p:cNvPr id="17" name="Text 15"/>
          <p:cNvSpPr txBox="1"/>
          <p:nvPr/>
        </p:nvSpPr>
        <p:spPr>
          <a:xfrm>
            <a:off x="1143000" y="4882896"/>
            <a:ext cx="2926080" cy="292608"/>
          </a:xfrm>
          <a:prstGeom prst="rect">
            <a:avLst/>
          </a:prstGeom>
          <a:noFill/>
          <a:ln/>
        </p:spPr>
        <p:txBody>
          <a:bodyPr wrap="square" lIns="0" tIns="0" rIns="0" bIns="0" rtlCol="0" anchor="t"/>
          <a:lstStyle/>
          <a:p>
            <a:pPr algn="l" indent="0" marL="0">
              <a:buNone/>
            </a:pPr>
            <a:r>
              <a:rPr lang="en-US" sz="1700" b="1" dirty="0">
                <a:solidFill>
                  <a:schemeClr val="tx1"/>
                </a:solidFill>
                <a:latin typeface="Calibri" pitchFamily="34" charset="0"/>
                <a:ea typeface="Calibri" pitchFamily="34" charset="-122"/>
                <a:cs typeface="Calibri" pitchFamily="34" charset="-120"/>
              </a:rPr>
              <a:t>Come back later</a:t>
            </a:r>
            <a:endParaRPr lang="en-US" sz="1700" dirty="0"/>
          </a:p>
        </p:txBody>
      </p:sp>
      <p:sp>
        <p:nvSpPr>
          <p:cNvPr id="18" name="Text 16"/>
          <p:cNvSpPr txBox="1"/>
          <p:nvPr/>
        </p:nvSpPr>
        <p:spPr>
          <a:xfrm>
            <a:off x="1143000" y="5202936"/>
            <a:ext cx="2926080" cy="685800"/>
          </a:xfrm>
          <a:prstGeom prst="rect">
            <a:avLst/>
          </a:prstGeom>
          <a:noFill/>
          <a:ln/>
        </p:spPr>
        <p:txBody>
          <a:bodyPr wrap="square" lIns="0" tIns="0" rIns="0" bIns="0" rtlCol="0" anchor="t"/>
          <a:lstStyle/>
          <a:p>
            <a:pPr algn="l" indent="0" marL="0">
              <a:buNone/>
            </a:pPr>
            <a:r>
              <a:rPr lang="en-US" sz="1400" dirty="0">
                <a:solidFill>
                  <a:srgbClr val="3A3D42"/>
                </a:solidFill>
                <a:latin typeface="Calibri" pitchFamily="34" charset="0"/>
                <a:ea typeface="Calibri" pitchFamily="34" charset="-122"/>
                <a:cs typeface="Calibri" pitchFamily="34" charset="-120"/>
              </a:rPr>
              <a:t>All bookings lists chats and Excel uploads with Drafts, Sync to ERP and Completed tabs.</a:t>
            </a:r>
            <a:endParaRPr lang="en-US" sz="1400" dirty="0"/>
          </a:p>
        </p:txBody>
      </p:sp>
      <p:sp>
        <p:nvSpPr>
          <p:cNvPr id="19" name="Shape 17"/>
          <p:cNvSpPr/>
          <p:nvPr/>
        </p:nvSpPr>
        <p:spPr>
          <a:xfrm>
            <a:off x="4617720" y="1508760"/>
            <a:ext cx="3456432" cy="2194560"/>
          </a:xfrm>
          <a:prstGeom prst="roundRect">
            <a:avLst>
              <a:gd name="adj" fmla="val 4167"/>
            </a:avLst>
          </a:prstGeom>
          <a:solidFill>
            <a:schemeClr val="bg1"/>
          </a:solidFill>
          <a:ln w="9525">
            <a:solidFill>
              <a:srgbClr val="DADCD6"/>
            </a:solidFill>
            <a:prstDash val="solid"/>
          </a:ln>
          <a:effectLst>
            <a:outerShdw sx="100000" sy="100000" kx="0" ky="0" algn="bl" rotWithShape="0" blurRad="127000" dist="38100" dir="5400000">
              <a:srgbClr val="000000">
                <a:alpha val="12000"/>
              </a:srgbClr>
            </a:outerShdw>
          </a:effectLst>
        </p:spPr>
      </p:sp>
      <p:pic>
        <p:nvPicPr>
          <p:cNvPr id="20" name="Image 0" descr="Chat opening: seller message and the assistant asking for the missing details">    </p:cNvPr>
          <p:cNvPicPr>
            <a:picLocks noChangeAspect="1"/>
          </p:cNvPicPr>
          <p:nvPr/>
        </p:nvPicPr>
        <p:blipFill>
          <a:blip r:embed="rId1"/>
          <a:stretch>
            <a:fillRect/>
          </a:stretch>
        </p:blipFill>
        <p:spPr>
          <a:xfrm>
            <a:off x="4663440" y="1554480"/>
            <a:ext cx="3364992" cy="2103120"/>
          </a:xfrm>
          <a:prstGeom prst="rect">
            <a:avLst/>
          </a:prstGeom>
        </p:spPr>
      </p:pic>
      <p:sp>
        <p:nvSpPr>
          <p:cNvPr id="21" name="Shape 18"/>
          <p:cNvSpPr/>
          <p:nvPr/>
        </p:nvSpPr>
        <p:spPr>
          <a:xfrm>
            <a:off x="8229600" y="1508760"/>
            <a:ext cx="3456432" cy="2194560"/>
          </a:xfrm>
          <a:prstGeom prst="roundRect">
            <a:avLst>
              <a:gd name="adj" fmla="val 4167"/>
            </a:avLst>
          </a:prstGeom>
          <a:solidFill>
            <a:schemeClr val="bg1"/>
          </a:solidFill>
          <a:ln w="9525">
            <a:solidFill>
              <a:srgbClr val="DADCD6"/>
            </a:solidFill>
            <a:prstDash val="solid"/>
          </a:ln>
          <a:effectLst>
            <a:outerShdw sx="100000" sy="100000" kx="0" ky="0" algn="bl" rotWithShape="0" blurRad="127000" dist="38100" dir="5400000">
              <a:srgbClr val="000000">
                <a:alpha val="12000"/>
              </a:srgbClr>
            </a:outerShdw>
          </a:effectLst>
        </p:spPr>
      </p:sp>
      <p:pic>
        <p:nvPicPr>
          <p:cNvPr id="22" name="Image 1" descr="Chat after the seller says make that 4 pallets; price recomputed from £540 to £720">    </p:cNvPr>
          <p:cNvPicPr>
            <a:picLocks noChangeAspect="1"/>
          </p:cNvPicPr>
          <p:nvPr/>
        </p:nvPicPr>
        <p:blipFill>
          <a:blip r:embed="rId2"/>
          <a:stretch>
            <a:fillRect/>
          </a:stretch>
        </p:blipFill>
        <p:spPr>
          <a:xfrm>
            <a:off x="8275320" y="1554480"/>
            <a:ext cx="3364992" cy="2103120"/>
          </a:xfrm>
          <a:prstGeom prst="rect">
            <a:avLst/>
          </a:prstGeom>
        </p:spPr>
      </p:pic>
      <p:sp>
        <p:nvSpPr>
          <p:cNvPr id="23" name="Shape 19"/>
          <p:cNvSpPr/>
          <p:nvPr/>
        </p:nvSpPr>
        <p:spPr>
          <a:xfrm>
            <a:off x="4617720" y="3858768"/>
            <a:ext cx="3456432" cy="2194560"/>
          </a:xfrm>
          <a:prstGeom prst="roundRect">
            <a:avLst>
              <a:gd name="adj" fmla="val 4167"/>
            </a:avLst>
          </a:prstGeom>
          <a:solidFill>
            <a:schemeClr val="bg1"/>
          </a:solidFill>
          <a:ln w="9525">
            <a:solidFill>
              <a:srgbClr val="DADCD6"/>
            </a:solidFill>
            <a:prstDash val="solid"/>
          </a:ln>
          <a:effectLst>
            <a:outerShdw sx="100000" sy="100000" kx="0" ky="0" algn="bl" rotWithShape="0" blurRad="127000" dist="38100" dir="5400000">
              <a:srgbClr val="000000">
                <a:alpha val="12000"/>
              </a:srgbClr>
            </a:outerShdw>
          </a:effectLst>
        </p:spPr>
      </p:sp>
      <p:pic>
        <p:nvPicPr>
          <p:cNvPr id="24" name="Image 2" descr="Pre-flight result for BK-203 with rule R-03 flagged and the fix">    </p:cNvPr>
          <p:cNvPicPr>
            <a:picLocks noChangeAspect="1"/>
          </p:cNvPicPr>
          <p:nvPr/>
        </p:nvPicPr>
        <p:blipFill>
          <a:blip r:embed="rId3"/>
          <a:stretch>
            <a:fillRect/>
          </a:stretch>
        </p:blipFill>
        <p:spPr>
          <a:xfrm>
            <a:off x="4663440" y="3904488"/>
            <a:ext cx="3364992" cy="2103120"/>
          </a:xfrm>
          <a:prstGeom prst="rect">
            <a:avLst/>
          </a:prstGeom>
        </p:spPr>
      </p:pic>
      <p:sp>
        <p:nvSpPr>
          <p:cNvPr id="25" name="Shape 20"/>
          <p:cNvSpPr/>
          <p:nvPr/>
        </p:nvSpPr>
        <p:spPr>
          <a:xfrm>
            <a:off x="8229600" y="3858768"/>
            <a:ext cx="3456432" cy="2194560"/>
          </a:xfrm>
          <a:prstGeom prst="roundRect">
            <a:avLst>
              <a:gd name="adj" fmla="val 4167"/>
            </a:avLst>
          </a:prstGeom>
          <a:solidFill>
            <a:schemeClr val="bg1"/>
          </a:solidFill>
          <a:ln w="9525">
            <a:solidFill>
              <a:srgbClr val="DADCD6"/>
            </a:solidFill>
            <a:prstDash val="solid"/>
          </a:ln>
          <a:effectLst>
            <a:outerShdw sx="100000" sy="100000" kx="0" ky="0" algn="bl" rotWithShape="0" blurRad="127000" dist="38100" dir="5400000">
              <a:srgbClr val="000000">
                <a:alpha val="12000"/>
              </a:srgbClr>
            </a:outerShdw>
          </a:effectLst>
        </p:spPr>
      </p:sp>
      <p:pic>
        <p:nvPicPr>
          <p:cNvPr id="26" name="Image 3" descr="All bookings list with source and status filters">    </p:cNvPr>
          <p:cNvPicPr>
            <a:picLocks noChangeAspect="1"/>
          </p:cNvPicPr>
          <p:nvPr/>
        </p:nvPicPr>
        <p:blipFill>
          <a:blip r:embed="rId4"/>
          <a:stretch>
            <a:fillRect/>
          </a:stretch>
        </p:blipFill>
        <p:spPr>
          <a:xfrm>
            <a:off x="8275320" y="3904488"/>
            <a:ext cx="3364992" cy="2103120"/>
          </a:xfrm>
          <a:prstGeom prst="rect">
            <a:avLst/>
          </a:prstGeom>
        </p:spPr>
      </p:pic>
      <p:sp>
        <p:nvSpPr>
          <p:cNvPr id="27" name="Shape 21"/>
          <p:cNvSpPr/>
          <p:nvPr/>
        </p:nvSpPr>
        <p:spPr>
          <a:xfrm>
            <a:off x="4480560" y="1371600"/>
            <a:ext cx="365760" cy="365760"/>
          </a:xfrm>
          <a:prstGeom prst="roundRect">
            <a:avLst>
              <a:gd name="adj" fmla="val 50000"/>
            </a:avLst>
          </a:prstGeom>
          <a:solidFill>
            <a:schemeClr val="accent1"/>
          </a:solidFill>
          <a:ln/>
        </p:spPr>
      </p:sp>
      <p:sp>
        <p:nvSpPr>
          <p:cNvPr id="28" name="Text 22"/>
          <p:cNvSpPr txBox="1"/>
          <p:nvPr/>
        </p:nvSpPr>
        <p:spPr>
          <a:xfrm>
            <a:off x="4480560" y="1371600"/>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1</a:t>
            </a:r>
            <a:endParaRPr lang="en-US" sz="1400" dirty="0"/>
          </a:p>
        </p:txBody>
      </p:sp>
      <p:sp>
        <p:nvSpPr>
          <p:cNvPr id="29" name="Shape 23"/>
          <p:cNvSpPr/>
          <p:nvPr/>
        </p:nvSpPr>
        <p:spPr>
          <a:xfrm>
            <a:off x="8092440" y="1371600"/>
            <a:ext cx="365760" cy="365760"/>
          </a:xfrm>
          <a:prstGeom prst="roundRect">
            <a:avLst>
              <a:gd name="adj" fmla="val 50000"/>
            </a:avLst>
          </a:prstGeom>
          <a:solidFill>
            <a:schemeClr val="accent1"/>
          </a:solidFill>
          <a:ln/>
        </p:spPr>
      </p:sp>
      <p:sp>
        <p:nvSpPr>
          <p:cNvPr id="30" name="Text 24"/>
          <p:cNvSpPr txBox="1"/>
          <p:nvPr/>
        </p:nvSpPr>
        <p:spPr>
          <a:xfrm>
            <a:off x="8092440" y="1371600"/>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2</a:t>
            </a:r>
            <a:endParaRPr lang="en-US" sz="1400" dirty="0"/>
          </a:p>
        </p:txBody>
      </p:sp>
      <p:sp>
        <p:nvSpPr>
          <p:cNvPr id="31" name="Shape 25"/>
          <p:cNvSpPr/>
          <p:nvPr/>
        </p:nvSpPr>
        <p:spPr>
          <a:xfrm>
            <a:off x="4480560" y="3721608"/>
            <a:ext cx="365760" cy="365760"/>
          </a:xfrm>
          <a:prstGeom prst="roundRect">
            <a:avLst>
              <a:gd name="adj" fmla="val 50000"/>
            </a:avLst>
          </a:prstGeom>
          <a:solidFill>
            <a:schemeClr val="accent1"/>
          </a:solidFill>
          <a:ln/>
        </p:spPr>
      </p:sp>
      <p:sp>
        <p:nvSpPr>
          <p:cNvPr id="32" name="Text 26"/>
          <p:cNvSpPr txBox="1"/>
          <p:nvPr/>
        </p:nvSpPr>
        <p:spPr>
          <a:xfrm>
            <a:off x="4480560" y="3721608"/>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3</a:t>
            </a:r>
            <a:endParaRPr lang="en-US" sz="1400" dirty="0"/>
          </a:p>
        </p:txBody>
      </p:sp>
      <p:sp>
        <p:nvSpPr>
          <p:cNvPr id="33" name="Shape 27"/>
          <p:cNvSpPr/>
          <p:nvPr/>
        </p:nvSpPr>
        <p:spPr>
          <a:xfrm>
            <a:off x="8092440" y="3721608"/>
            <a:ext cx="365760" cy="365760"/>
          </a:xfrm>
          <a:prstGeom prst="roundRect">
            <a:avLst>
              <a:gd name="adj" fmla="val 50000"/>
            </a:avLst>
          </a:prstGeom>
          <a:solidFill>
            <a:schemeClr val="accent1"/>
          </a:solidFill>
          <a:ln/>
        </p:spPr>
      </p:sp>
      <p:sp>
        <p:nvSpPr>
          <p:cNvPr id="34" name="Text 28"/>
          <p:cNvSpPr txBox="1"/>
          <p:nvPr/>
        </p:nvSpPr>
        <p:spPr>
          <a:xfrm>
            <a:off x="8092440" y="3721608"/>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4</a:t>
            </a:r>
            <a:endParaRPr lang="en-US" sz="1400" dirty="0"/>
          </a:p>
        </p:txBody>
      </p:sp>
      <p:sp>
        <p:nvSpPr>
          <p:cNvPr id="35" name="Text 29"/>
          <p:cNvSpPr txBox="1"/>
          <p:nvPr/>
        </p:nvSpPr>
        <p:spPr>
          <a:xfrm>
            <a:off x="548640" y="6108192"/>
            <a:ext cx="11064240" cy="256032"/>
          </a:xfrm>
          <a:prstGeom prst="rect">
            <a:avLst/>
          </a:prstGeom>
          <a:noFill/>
          <a:ln/>
        </p:spPr>
        <p:txBody>
          <a:bodyPr wrap="square" lIns="0" tIns="0" rIns="0" bIns="0" rtlCol="0" anchor="t"/>
          <a:lstStyle/>
          <a:p>
            <a:pPr algn="l" indent="0" marL="0">
              <a:buNone/>
            </a:pPr>
            <a:r>
              <a:rPr lang="en-US" sz="1100" dirty="0">
                <a:solidFill>
                  <a:schemeClr val="accent5"/>
                </a:solidFill>
                <a:latin typeface="Calibri" pitchFamily="34" charset="0"/>
                <a:ea typeface="Calibri" pitchFamily="34" charset="-122"/>
                <a:cs typeface="Calibri" pitchFamily="34" charset="-120"/>
              </a:rPr>
              <a:t>Live deployment, commit 84d73ea. Chat example uses the case template’s BK-001 mug booking; the flagged booking is BK-203 from the repo’s planted-errors test workbook.</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914400"/>
          </a:xfrm>
          <a:prstGeom prst="rect">
            <a:avLst/>
          </a:prstGeom>
          <a:noFill/>
          <a:ln/>
        </p:spPr>
        <p:txBody>
          <a:bodyPr wrap="square" lIns="0" tIns="0" rIns="0" bIns="0" rtlCol="0" anchor="t"/>
          <a:lstStyle/>
          <a:p>
            <a:pPr algn="l" indent="0" marL="0">
              <a:buNone/>
            </a:pPr>
            <a:r>
              <a:rPr lang="en-US" sz="3000" b="1" dirty="0">
                <a:solidFill>
                  <a:schemeClr val="tx1"/>
                </a:solidFill>
                <a:latin typeface="Calibri" pitchFamily="34" charset="0"/>
                <a:ea typeface="Calibri" pitchFamily="34" charset="-122"/>
                <a:cs typeface="Calibri" pitchFamily="34" charset="-120"/>
              </a:rPr>
              <a:t>AI interprets the request. Deterministic code verifies the shipment.</a:t>
            </a:r>
            <a:endParaRPr lang="en-US" sz="3000" dirty="0"/>
          </a:p>
        </p:txBody>
      </p:sp>
      <p:sp>
        <p:nvSpPr>
          <p:cNvPr id="3" name="Text 1"/>
          <p:cNvSpPr txBox="1"/>
          <p:nvPr/>
        </p:nvSpPr>
        <p:spPr>
          <a:xfrm>
            <a:off x="4846320" y="1508760"/>
            <a:ext cx="2194560" cy="228600"/>
          </a:xfrm>
          <a:prstGeom prst="rect">
            <a:avLst/>
          </a:prstGeom>
          <a:noFill/>
          <a:ln/>
        </p:spPr>
        <p:txBody>
          <a:bodyPr wrap="square" lIns="0" tIns="0" rIns="0" bIns="0" rtlCol="0" anchor="t"/>
          <a:lstStyle/>
          <a:p>
            <a:pPr algn="l" indent="0" marL="0">
              <a:buNone/>
            </a:pPr>
            <a:r>
              <a:rPr lang="en-US" sz="1000" b="1" spc="100" kern="0" dirty="0">
                <a:solidFill>
                  <a:srgbClr val="4B3FA0"/>
                </a:solidFill>
                <a:latin typeface="Calibri" pitchFamily="34" charset="0"/>
                <a:ea typeface="Calibri" pitchFamily="34" charset="-122"/>
                <a:cs typeface="Calibri" pitchFamily="34" charset="-120"/>
              </a:rPr>
              <a:t>AI ZONE: INTERPRETS ONLY</a:t>
            </a:r>
            <a:endParaRPr lang="en-US" sz="1000" dirty="0"/>
          </a:p>
        </p:txBody>
      </p:sp>
      <p:sp>
        <p:nvSpPr>
          <p:cNvPr id="4" name="Text 2"/>
          <p:cNvSpPr txBox="1"/>
          <p:nvPr/>
        </p:nvSpPr>
        <p:spPr>
          <a:xfrm>
            <a:off x="9372600" y="1508760"/>
            <a:ext cx="2267712" cy="228600"/>
          </a:xfrm>
          <a:prstGeom prst="rect">
            <a:avLst/>
          </a:prstGeom>
          <a:noFill/>
          <a:ln/>
        </p:spPr>
        <p:txBody>
          <a:bodyPr wrap="square" lIns="0" tIns="0" rIns="0" bIns="0" rtlCol="0" anchor="t"/>
          <a:lstStyle/>
          <a:p>
            <a:pPr algn="l" indent="0" marL="0">
              <a:buNone/>
            </a:pPr>
            <a:r>
              <a:rPr lang="en-US" sz="1000" b="1" spc="100" kern="0" dirty="0">
                <a:solidFill>
                  <a:srgbClr val="3C5200"/>
                </a:solidFill>
                <a:latin typeface="Calibri" pitchFamily="34" charset="0"/>
                <a:ea typeface="Calibri" pitchFamily="34" charset="-122"/>
                <a:cs typeface="Calibri" pitchFamily="34" charset="-120"/>
              </a:rPr>
              <a:t>DETERMINISTIC ZONE: DECIDES</a:t>
            </a:r>
            <a:endParaRPr lang="en-US" sz="1000" dirty="0"/>
          </a:p>
        </p:txBody>
      </p:sp>
      <p:sp>
        <p:nvSpPr>
          <p:cNvPr id="5" name="Shape 3"/>
          <p:cNvSpPr/>
          <p:nvPr/>
        </p:nvSpPr>
        <p:spPr>
          <a:xfrm>
            <a:off x="548640" y="1783080"/>
            <a:ext cx="1737360" cy="2926080"/>
          </a:xfrm>
          <a:prstGeom prst="roundRect">
            <a:avLst>
              <a:gd name="adj" fmla="val 6316"/>
            </a:avLst>
          </a:prstGeom>
          <a:solidFill>
            <a:schemeClr val="bg1"/>
          </a:solidFill>
          <a:ln w="12700">
            <a:solidFill>
              <a:srgbClr val="DADCD6"/>
            </a:solidFill>
            <a:prstDash val="solid"/>
          </a:ln>
        </p:spPr>
      </p:sp>
      <p:pic>
        <p:nvPicPr>
          <p:cNvPr id="6" name="Image 0" descr="globe icon">    </p:cNvPr>
          <p:cNvPicPr>
            <a:picLocks noChangeAspect="1"/>
          </p:cNvPicPr>
          <p:nvPr/>
        </p:nvPicPr>
        <p:blipFill>
          <a:blip r:embed="rId1"/>
          <a:stretch>
            <a:fillRect/>
          </a:stretch>
        </p:blipFill>
        <p:spPr>
          <a:xfrm>
            <a:off x="685800" y="1920240"/>
            <a:ext cx="310896" cy="310896"/>
          </a:xfrm>
          <a:prstGeom prst="rect">
            <a:avLst/>
          </a:prstGeom>
        </p:spPr>
      </p:pic>
      <p:sp>
        <p:nvSpPr>
          <p:cNvPr id="7" name="Text 4"/>
          <p:cNvSpPr txBox="1"/>
          <p:nvPr/>
        </p:nvSpPr>
        <p:spPr>
          <a:xfrm>
            <a:off x="685800" y="2350008"/>
            <a:ext cx="1463040" cy="274320"/>
          </a:xfrm>
          <a:prstGeom prst="rect">
            <a:avLst/>
          </a:prstGeom>
          <a:noFill/>
          <a:ln/>
        </p:spPr>
        <p:txBody>
          <a:bodyPr wrap="square" lIns="0" tIns="0" rIns="0" bIns="0" rtlCol="0" anchor="t"/>
          <a:lstStyle/>
          <a:p>
            <a:pPr algn="l" indent="0" marL="0">
              <a:buNone/>
            </a:pPr>
            <a:r>
              <a:rPr lang="en-US" sz="1400" b="1" dirty="0">
                <a:solidFill>
                  <a:schemeClr val="tx1"/>
                </a:solidFill>
                <a:latin typeface="Calibri" pitchFamily="34" charset="0"/>
                <a:ea typeface="Calibri" pitchFamily="34" charset="-122"/>
                <a:cs typeface="Calibri" pitchFamily="34" charset="-120"/>
              </a:rPr>
              <a:t>Seller’s browser</a:t>
            </a:r>
            <a:endParaRPr lang="en-US" sz="1400" dirty="0"/>
          </a:p>
        </p:txBody>
      </p:sp>
      <p:sp>
        <p:nvSpPr>
          <p:cNvPr id="8" name="Text 5"/>
          <p:cNvSpPr txBox="1"/>
          <p:nvPr/>
        </p:nvSpPr>
        <p:spPr>
          <a:xfrm>
            <a:off x="685800" y="2651760"/>
            <a:ext cx="1463040" cy="502920"/>
          </a:xfrm>
          <a:prstGeom prst="rect">
            <a:avLst/>
          </a:prstGeom>
          <a:noFill/>
          <a:ln/>
        </p:spPr>
        <p:txBody>
          <a:bodyPr wrap="square" lIns="0" tIns="0" rIns="0" bIns="0" rtlCol="0" anchor="t"/>
          <a:lstStyle/>
          <a:p>
            <a:pPr algn="l" indent="0" marL="0">
              <a:buNone/>
            </a:pPr>
            <a:r>
              <a:rPr lang="en-US" sz="1200" dirty="0">
                <a:solidFill>
                  <a:srgbClr val="3A3D42"/>
                </a:solidFill>
                <a:latin typeface="Calibri" pitchFamily="34" charset="0"/>
                <a:ea typeface="Calibri" pitchFamily="34" charset="-122"/>
                <a:cs typeface="Calibri" pitchFamily="34" charset="-120"/>
              </a:rPr>
              <a:t>Next.js 16 · React 19 · Tailwind CSS</a:t>
            </a:r>
            <a:endParaRPr lang="en-US" sz="1200" dirty="0"/>
          </a:p>
        </p:txBody>
      </p:sp>
      <p:sp>
        <p:nvSpPr>
          <p:cNvPr id="9" name="Text 6"/>
          <p:cNvSpPr txBox="1"/>
          <p:nvPr/>
        </p:nvSpPr>
        <p:spPr>
          <a:xfrm>
            <a:off x="685800" y="3246120"/>
            <a:ext cx="1463040" cy="731520"/>
          </a:xfrm>
          <a:prstGeom prst="rect">
            <a:avLst/>
          </a:prstGeom>
          <a:noFill/>
          <a:ln/>
        </p:spPr>
        <p:txBody>
          <a:bodyPr wrap="square" lIns="0" tIns="0" rIns="0" bIns="0" rtlCol="0" anchor="t"/>
          <a:lstStyle/>
          <a:p>
            <a:pPr algn="l" indent="0" marL="0">
              <a:buNone/>
            </a:pPr>
            <a:r>
              <a:rPr lang="en-US" sz="1200" dirty="0">
                <a:solidFill>
                  <a:srgbClr val="3A3D42"/>
                </a:solidFill>
                <a:latin typeface="Calibri" pitchFamily="34" charset="0"/>
                <a:ea typeface="Calibri" pitchFamily="34" charset="-122"/>
                <a:cs typeface="Calibri" pitchFamily="34" charset="-120"/>
              </a:rPr>
              <a:t>Chat panel · Excel drop · booking page · All bookings</a:t>
            </a:r>
            <a:endParaRPr lang="en-US" sz="1200" dirty="0"/>
          </a:p>
        </p:txBody>
      </p:sp>
      <p:sp>
        <p:nvSpPr>
          <p:cNvPr id="10" name="Text 7"/>
          <p:cNvSpPr txBox="1"/>
          <p:nvPr/>
        </p:nvSpPr>
        <p:spPr>
          <a:xfrm>
            <a:off x="685800" y="4023360"/>
            <a:ext cx="1463040" cy="640080"/>
          </a:xfrm>
          <a:prstGeom prst="rect">
            <a:avLst/>
          </a:prstGeom>
          <a:noFill/>
          <a:ln/>
        </p:spPr>
        <p:txBody>
          <a:bodyPr wrap="square" lIns="0" tIns="0" rIns="0" bIns="0" rtlCol="0" anchor="t"/>
          <a:lstStyle/>
          <a:p>
            <a:pPr algn="l" indent="0" marL="0">
              <a:buNone/>
            </a:pPr>
            <a:r>
              <a:rPr lang="en-US" sz="1200" b="1" dirty="0">
                <a:solidFill>
                  <a:srgbClr val="3C5200"/>
                </a:solidFill>
                <a:latin typeface="Calibri" pitchFamily="34" charset="0"/>
                <a:ea typeface="Calibri" pitchFamily="34" charset="-122"/>
                <a:cs typeface="Calibri" pitchFamily="34" charset="-120"/>
              </a:rPr>
              <a:t>Result returns here: status, fixes, carrier, next steps</a:t>
            </a:r>
            <a:endParaRPr lang="en-US" sz="1200" dirty="0"/>
          </a:p>
        </p:txBody>
      </p:sp>
      <p:sp>
        <p:nvSpPr>
          <p:cNvPr id="11" name="Shape 8"/>
          <p:cNvSpPr/>
          <p:nvPr/>
        </p:nvSpPr>
        <p:spPr>
          <a:xfrm>
            <a:off x="2651760" y="1783080"/>
            <a:ext cx="1828800" cy="1325880"/>
          </a:xfrm>
          <a:prstGeom prst="roundRect">
            <a:avLst>
              <a:gd name="adj" fmla="val 8276"/>
            </a:avLst>
          </a:prstGeom>
          <a:solidFill>
            <a:schemeClr val="bg1"/>
          </a:solidFill>
          <a:ln w="12700">
            <a:solidFill>
              <a:srgbClr val="DADCD6"/>
            </a:solidFill>
            <a:prstDash val="solid"/>
          </a:ln>
        </p:spPr>
      </p:sp>
      <p:sp>
        <p:nvSpPr>
          <p:cNvPr id="12" name="Text 9"/>
          <p:cNvSpPr txBox="1"/>
          <p:nvPr/>
        </p:nvSpPr>
        <p:spPr>
          <a:xfrm>
            <a:off x="2788920" y="1892808"/>
            <a:ext cx="1554480" cy="274320"/>
          </a:xfrm>
          <a:prstGeom prst="rect">
            <a:avLst/>
          </a:prstGeom>
          <a:noFill/>
          <a:ln/>
        </p:spPr>
        <p:txBody>
          <a:bodyPr wrap="square" lIns="0" tIns="0" rIns="0" bIns="0" rtlCol="0" anchor="t"/>
          <a:lstStyle/>
          <a:p>
            <a:pPr algn="l" indent="0" marL="0">
              <a:buNone/>
            </a:pPr>
            <a:r>
              <a:rPr lang="en-US" sz="1400" b="1" dirty="0">
                <a:solidFill>
                  <a:schemeClr val="tx1"/>
                </a:solidFill>
                <a:latin typeface="Calibri" pitchFamily="34" charset="0"/>
                <a:ea typeface="Calibri" pitchFamily="34" charset="-122"/>
                <a:cs typeface="Calibri" pitchFamily="34" charset="-120"/>
              </a:rPr>
              <a:t>API route</a:t>
            </a:r>
            <a:endParaRPr lang="en-US" sz="1400" dirty="0"/>
          </a:p>
        </p:txBody>
      </p:sp>
      <p:sp>
        <p:nvSpPr>
          <p:cNvPr id="13" name="Text 10"/>
          <p:cNvSpPr txBox="1"/>
          <p:nvPr/>
        </p:nvSpPr>
        <p:spPr>
          <a:xfrm>
            <a:off x="2788920" y="2240280"/>
            <a:ext cx="1554480" cy="822960"/>
          </a:xfrm>
          <a:prstGeom prst="rect">
            <a:avLst/>
          </a:prstGeom>
          <a:noFill/>
          <a:ln/>
        </p:spPr>
        <p:txBody>
          <a:bodyPr wrap="square" lIns="0" tIns="0" rIns="0" bIns="0" rtlCol="0" anchor="t"/>
          <a:lstStyle/>
          <a:p>
            <a:pPr algn="l" indent="0" marL="0">
              <a:buNone/>
            </a:pPr>
            <a:r>
              <a:rPr lang="en-US" sz="1200" dirty="0">
                <a:solidFill>
                  <a:srgbClr val="3A3D42"/>
                </a:solidFill>
                <a:latin typeface="Calibri" pitchFamily="34" charset="0"/>
                <a:ea typeface="Calibri" pitchFamily="34" charset="-122"/>
                <a:cs typeface="Calibri" pitchFamily="34" charset="-120"/>
              </a:rPr>
              <a:t>Chat turn. Anonymous cookie session, no login.</a:t>
            </a:r>
            <a:endParaRPr lang="en-US" sz="1200" dirty="0"/>
          </a:p>
        </p:txBody>
      </p:sp>
      <p:sp>
        <p:nvSpPr>
          <p:cNvPr id="14" name="Shape 11"/>
          <p:cNvSpPr/>
          <p:nvPr/>
        </p:nvSpPr>
        <p:spPr>
          <a:xfrm>
            <a:off x="2651760" y="3383280"/>
            <a:ext cx="1828800" cy="1325880"/>
          </a:xfrm>
          <a:prstGeom prst="roundRect">
            <a:avLst>
              <a:gd name="adj" fmla="val 8276"/>
            </a:avLst>
          </a:prstGeom>
          <a:solidFill>
            <a:schemeClr val="bg1"/>
          </a:solidFill>
          <a:ln w="12700">
            <a:solidFill>
              <a:srgbClr val="DADCD6"/>
            </a:solidFill>
            <a:prstDash val="solid"/>
          </a:ln>
        </p:spPr>
      </p:sp>
      <p:sp>
        <p:nvSpPr>
          <p:cNvPr id="15" name="Text 12"/>
          <p:cNvSpPr txBox="1"/>
          <p:nvPr/>
        </p:nvSpPr>
        <p:spPr>
          <a:xfrm>
            <a:off x="2788920" y="3493008"/>
            <a:ext cx="1554480" cy="274320"/>
          </a:xfrm>
          <a:prstGeom prst="rect">
            <a:avLst/>
          </a:prstGeom>
          <a:noFill/>
          <a:ln/>
        </p:spPr>
        <p:txBody>
          <a:bodyPr wrap="square" lIns="0" tIns="0" rIns="0" bIns="0" rtlCol="0" anchor="t"/>
          <a:lstStyle/>
          <a:p>
            <a:pPr algn="l" indent="0" marL="0">
              <a:buNone/>
            </a:pPr>
            <a:r>
              <a:rPr lang="en-US" sz="1400" b="1" dirty="0">
                <a:solidFill>
                  <a:schemeClr val="tx1"/>
                </a:solidFill>
                <a:latin typeface="Calibri" pitchFamily="34" charset="0"/>
                <a:ea typeface="Calibri" pitchFamily="34" charset="-122"/>
                <a:cs typeface="Calibri" pitchFamily="34" charset="-120"/>
              </a:rPr>
              <a:t>API route</a:t>
            </a:r>
            <a:endParaRPr lang="en-US" sz="1400" dirty="0"/>
          </a:p>
        </p:txBody>
      </p:sp>
      <p:sp>
        <p:nvSpPr>
          <p:cNvPr id="16" name="Text 13"/>
          <p:cNvSpPr txBox="1"/>
          <p:nvPr/>
        </p:nvSpPr>
        <p:spPr>
          <a:xfrm>
            <a:off x="2788920" y="3840480"/>
            <a:ext cx="1554480" cy="822960"/>
          </a:xfrm>
          <a:prstGeom prst="rect">
            <a:avLst/>
          </a:prstGeom>
          <a:noFill/>
          <a:ln/>
        </p:spPr>
        <p:txBody>
          <a:bodyPr wrap="square" lIns="0" tIns="0" rIns="0" bIns="0" rtlCol="0" anchor="t"/>
          <a:lstStyle/>
          <a:p>
            <a:pPr algn="l" indent="0" marL="0">
              <a:buNone/>
            </a:pPr>
            <a:r>
              <a:rPr lang="en-US" sz="1200" dirty="0">
                <a:solidFill>
                  <a:srgbClr val="3A3D42"/>
                </a:solidFill>
                <a:latin typeface="Calibri" pitchFamily="34" charset="0"/>
                <a:ea typeface="Calibri" pitchFamily="34" charset="-122"/>
                <a:cs typeface="Calibri" pitchFamily="34" charset="-120"/>
              </a:rPr>
              <a:t>Excel import. Template file, parsed with no AI.</a:t>
            </a:r>
            <a:endParaRPr lang="en-US" sz="1200" dirty="0"/>
          </a:p>
        </p:txBody>
      </p:sp>
      <p:sp>
        <p:nvSpPr>
          <p:cNvPr id="17" name="Shape 14"/>
          <p:cNvSpPr/>
          <p:nvPr/>
        </p:nvSpPr>
        <p:spPr>
          <a:xfrm>
            <a:off x="4846320" y="1783080"/>
            <a:ext cx="1965960" cy="1325880"/>
          </a:xfrm>
          <a:prstGeom prst="roundRect">
            <a:avLst>
              <a:gd name="adj" fmla="val 8276"/>
            </a:avLst>
          </a:prstGeom>
          <a:solidFill>
            <a:srgbClr val="EFECFB"/>
          </a:solidFill>
          <a:ln w="12700">
            <a:solidFill>
              <a:schemeClr val="accent2"/>
            </a:solidFill>
            <a:prstDash val="dash"/>
          </a:ln>
        </p:spPr>
      </p:sp>
      <p:sp>
        <p:nvSpPr>
          <p:cNvPr id="18" name="Text 15"/>
          <p:cNvSpPr txBox="1"/>
          <p:nvPr/>
        </p:nvSpPr>
        <p:spPr>
          <a:xfrm>
            <a:off x="4983480" y="1892808"/>
            <a:ext cx="1691640" cy="274320"/>
          </a:xfrm>
          <a:prstGeom prst="rect">
            <a:avLst/>
          </a:prstGeom>
          <a:noFill/>
          <a:ln/>
        </p:spPr>
        <p:txBody>
          <a:bodyPr wrap="square" lIns="0" tIns="0" rIns="0" bIns="0" rtlCol="0" anchor="t"/>
          <a:lstStyle/>
          <a:p>
            <a:pPr algn="l" indent="0" marL="0">
              <a:buNone/>
            </a:pPr>
            <a:r>
              <a:rPr lang="en-US" sz="1400" b="1" dirty="0">
                <a:solidFill>
                  <a:srgbClr val="4B3FA0"/>
                </a:solidFill>
                <a:latin typeface="Calibri" pitchFamily="34" charset="0"/>
                <a:ea typeface="Calibri" pitchFamily="34" charset="-122"/>
                <a:cs typeface="Calibri" pitchFamily="34" charset="-120"/>
              </a:rPr>
              <a:t>Gemini</a:t>
            </a:r>
            <a:endParaRPr lang="en-US" sz="1400" dirty="0"/>
          </a:p>
        </p:txBody>
      </p:sp>
      <p:sp>
        <p:nvSpPr>
          <p:cNvPr id="19" name="Text 16"/>
          <p:cNvSpPr txBox="1"/>
          <p:nvPr/>
        </p:nvSpPr>
        <p:spPr>
          <a:xfrm>
            <a:off x="4983480" y="2240280"/>
            <a:ext cx="1691640" cy="822960"/>
          </a:xfrm>
          <a:prstGeom prst="rect">
            <a:avLst/>
          </a:prstGeom>
          <a:noFill/>
          <a:ln/>
        </p:spPr>
        <p:txBody>
          <a:bodyPr wrap="square" lIns="0" tIns="0" rIns="0" bIns="0" rtlCol="0" anchor="t"/>
          <a:lstStyle/>
          <a:p>
            <a:pPr algn="l" indent="0" marL="0">
              <a:buNone/>
            </a:pPr>
            <a:r>
              <a:rPr lang="en-US" sz="1200" dirty="0">
                <a:solidFill>
                  <a:srgbClr val="3A3D42"/>
                </a:solidFill>
                <a:latin typeface="Calibri" pitchFamily="34" charset="0"/>
                <a:ea typeface="Calibri" pitchFamily="34" charset="-122"/>
                <a:cs typeface="Calibri" pitchFamily="34" charset="-120"/>
              </a:rPr>
              <a:t>Reads the sentence and returns typed patch operations. Never does the maths.</a:t>
            </a:r>
            <a:endParaRPr lang="en-US" sz="1200" dirty="0"/>
          </a:p>
        </p:txBody>
      </p:sp>
      <p:sp>
        <p:nvSpPr>
          <p:cNvPr id="20" name="Shape 17"/>
          <p:cNvSpPr/>
          <p:nvPr/>
        </p:nvSpPr>
        <p:spPr>
          <a:xfrm>
            <a:off x="4846320" y="3383280"/>
            <a:ext cx="1965960" cy="1325880"/>
          </a:xfrm>
          <a:prstGeom prst="roundRect">
            <a:avLst>
              <a:gd name="adj" fmla="val 8276"/>
            </a:avLst>
          </a:prstGeom>
          <a:solidFill>
            <a:schemeClr val="bg1"/>
          </a:solidFill>
          <a:ln w="12700">
            <a:solidFill>
              <a:srgbClr val="DADCD6"/>
            </a:solidFill>
            <a:prstDash val="solid"/>
          </a:ln>
        </p:spPr>
      </p:sp>
      <p:sp>
        <p:nvSpPr>
          <p:cNvPr id="21" name="Text 18"/>
          <p:cNvSpPr txBox="1"/>
          <p:nvPr/>
        </p:nvSpPr>
        <p:spPr>
          <a:xfrm>
            <a:off x="4983480" y="3493008"/>
            <a:ext cx="1691640" cy="274320"/>
          </a:xfrm>
          <a:prstGeom prst="rect">
            <a:avLst/>
          </a:prstGeom>
          <a:noFill/>
          <a:ln/>
        </p:spPr>
        <p:txBody>
          <a:bodyPr wrap="square" lIns="0" tIns="0" rIns="0" bIns="0" rtlCol="0" anchor="t"/>
          <a:lstStyle/>
          <a:p>
            <a:pPr algn="l" indent="0" marL="0">
              <a:buNone/>
            </a:pPr>
            <a:r>
              <a:rPr lang="en-US" sz="1400" b="1" dirty="0">
                <a:solidFill>
                  <a:schemeClr val="tx1"/>
                </a:solidFill>
                <a:latin typeface="Calibri" pitchFamily="34" charset="0"/>
                <a:ea typeface="Calibri" pitchFamily="34" charset="-122"/>
                <a:cs typeface="Calibri" pitchFamily="34" charset="-120"/>
              </a:rPr>
              <a:t>ExcelJS</a:t>
            </a:r>
            <a:endParaRPr lang="en-US" sz="1400" dirty="0"/>
          </a:p>
        </p:txBody>
      </p:sp>
      <p:sp>
        <p:nvSpPr>
          <p:cNvPr id="22" name="Text 19"/>
          <p:cNvSpPr txBox="1"/>
          <p:nvPr/>
        </p:nvSpPr>
        <p:spPr>
          <a:xfrm>
            <a:off x="4983480" y="3840480"/>
            <a:ext cx="1691640" cy="822960"/>
          </a:xfrm>
          <a:prstGeom prst="rect">
            <a:avLst/>
          </a:prstGeom>
          <a:noFill/>
          <a:ln/>
        </p:spPr>
        <p:txBody>
          <a:bodyPr wrap="square" lIns="0" tIns="0" rIns="0" bIns="0" rtlCol="0" anchor="t"/>
          <a:lstStyle/>
          <a:p>
            <a:pPr algn="l" indent="0" marL="0">
              <a:buNone/>
            </a:pPr>
            <a:r>
              <a:rPr lang="en-US" sz="1200" dirty="0">
                <a:solidFill>
                  <a:srgbClr val="3A3D42"/>
                </a:solidFill>
                <a:latin typeface="Calibri" pitchFamily="34" charset="0"/>
                <a:ea typeface="Calibri" pitchFamily="34" charset="-122"/>
                <a:cs typeface="Calibri" pitchFamily="34" charset="-120"/>
              </a:rPr>
              <a:t>Reads the Bookings and Items sheets and finds the header row.</a:t>
            </a:r>
            <a:endParaRPr lang="en-US" sz="1200" dirty="0"/>
          </a:p>
        </p:txBody>
      </p:sp>
      <p:sp>
        <p:nvSpPr>
          <p:cNvPr id="23" name="Shape 20"/>
          <p:cNvSpPr/>
          <p:nvPr/>
        </p:nvSpPr>
        <p:spPr>
          <a:xfrm>
            <a:off x="7178040" y="1783080"/>
            <a:ext cx="1828800" cy="1325880"/>
          </a:xfrm>
          <a:prstGeom prst="roundRect">
            <a:avLst>
              <a:gd name="adj" fmla="val 8276"/>
            </a:avLst>
          </a:prstGeom>
          <a:solidFill>
            <a:schemeClr val="bg1"/>
          </a:solidFill>
          <a:ln w="12700">
            <a:solidFill>
              <a:srgbClr val="DADCD6"/>
            </a:solidFill>
            <a:prstDash val="solid"/>
          </a:ln>
        </p:spPr>
      </p:sp>
      <p:sp>
        <p:nvSpPr>
          <p:cNvPr id="24" name="Text 21"/>
          <p:cNvSpPr txBox="1"/>
          <p:nvPr/>
        </p:nvSpPr>
        <p:spPr>
          <a:xfrm>
            <a:off x="7315200" y="1892808"/>
            <a:ext cx="1554480" cy="274320"/>
          </a:xfrm>
          <a:prstGeom prst="rect">
            <a:avLst/>
          </a:prstGeom>
          <a:noFill/>
          <a:ln/>
        </p:spPr>
        <p:txBody>
          <a:bodyPr wrap="square" lIns="0" tIns="0" rIns="0" bIns="0" rtlCol="0" anchor="t"/>
          <a:lstStyle/>
          <a:p>
            <a:pPr algn="l" indent="0" marL="0">
              <a:buNone/>
            </a:pPr>
            <a:r>
              <a:rPr lang="en-US" sz="1400" b="1" dirty="0">
                <a:solidFill>
                  <a:schemeClr val="tx1"/>
                </a:solidFill>
                <a:latin typeface="Calibri" pitchFamily="34" charset="0"/>
                <a:ea typeface="Calibri" pitchFamily="34" charset="-122"/>
                <a:cs typeface="Calibri" pitchFamily="34" charset="-120"/>
              </a:rPr>
              <a:t>Zod + patch engine</a:t>
            </a:r>
            <a:endParaRPr lang="en-US" sz="1400" dirty="0"/>
          </a:p>
        </p:txBody>
      </p:sp>
      <p:sp>
        <p:nvSpPr>
          <p:cNvPr id="25" name="Text 22"/>
          <p:cNvSpPr txBox="1"/>
          <p:nvPr/>
        </p:nvSpPr>
        <p:spPr>
          <a:xfrm>
            <a:off x="7315200" y="2240280"/>
            <a:ext cx="1554480" cy="822960"/>
          </a:xfrm>
          <a:prstGeom prst="rect">
            <a:avLst/>
          </a:prstGeom>
          <a:noFill/>
          <a:ln/>
        </p:spPr>
        <p:txBody>
          <a:bodyPr wrap="square" lIns="0" tIns="0" rIns="0" bIns="0" rtlCol="0" anchor="t"/>
          <a:lstStyle/>
          <a:p>
            <a:pPr algn="l" indent="0" marL="0">
              <a:buNone/>
            </a:pPr>
            <a:r>
              <a:rPr lang="en-US" sz="1200" dirty="0">
                <a:solidFill>
                  <a:srgbClr val="3A3D42"/>
                </a:solidFill>
                <a:latin typeface="Calibri" pitchFamily="34" charset="0"/>
                <a:ea typeface="Calibri" pitchFamily="34" charset="-122"/>
                <a:cs typeface="Calibri" pitchFamily="34" charset="-120"/>
              </a:rPr>
              <a:t>Validates each operation, then set / increment / add / remove.</a:t>
            </a:r>
            <a:endParaRPr lang="en-US" sz="1200" dirty="0"/>
          </a:p>
        </p:txBody>
      </p:sp>
      <p:sp>
        <p:nvSpPr>
          <p:cNvPr id="26" name="Shape 23"/>
          <p:cNvSpPr/>
          <p:nvPr/>
        </p:nvSpPr>
        <p:spPr>
          <a:xfrm>
            <a:off x="7178040" y="3383280"/>
            <a:ext cx="1828800" cy="1325880"/>
          </a:xfrm>
          <a:prstGeom prst="roundRect">
            <a:avLst>
              <a:gd name="adj" fmla="val 8276"/>
            </a:avLst>
          </a:prstGeom>
          <a:solidFill>
            <a:schemeClr val="bg1"/>
          </a:solidFill>
          <a:ln w="12700">
            <a:solidFill>
              <a:srgbClr val="DADCD6"/>
            </a:solidFill>
            <a:prstDash val="solid"/>
          </a:ln>
        </p:spPr>
      </p:sp>
      <p:sp>
        <p:nvSpPr>
          <p:cNvPr id="27" name="Text 24"/>
          <p:cNvSpPr txBox="1"/>
          <p:nvPr/>
        </p:nvSpPr>
        <p:spPr>
          <a:xfrm>
            <a:off x="7315200" y="3493008"/>
            <a:ext cx="1554480" cy="274320"/>
          </a:xfrm>
          <a:prstGeom prst="rect">
            <a:avLst/>
          </a:prstGeom>
          <a:noFill/>
          <a:ln/>
        </p:spPr>
        <p:txBody>
          <a:bodyPr wrap="square" lIns="0" tIns="0" rIns="0" bIns="0" rtlCol="0" anchor="t"/>
          <a:lstStyle/>
          <a:p>
            <a:pPr algn="l" indent="0" marL="0">
              <a:buNone/>
            </a:pPr>
            <a:r>
              <a:rPr lang="en-US" sz="1400" b="1" dirty="0">
                <a:solidFill>
                  <a:schemeClr val="tx1"/>
                </a:solidFill>
                <a:latin typeface="Calibri" pitchFamily="34" charset="0"/>
                <a:ea typeface="Calibri" pitchFamily="34" charset="-122"/>
                <a:cs typeface="Calibri" pitchFamily="34" charset="-120"/>
              </a:rPr>
              <a:t>Zod + normaliser</a:t>
            </a:r>
            <a:endParaRPr lang="en-US" sz="1400" dirty="0"/>
          </a:p>
        </p:txBody>
      </p:sp>
      <p:sp>
        <p:nvSpPr>
          <p:cNvPr id="28" name="Text 25"/>
          <p:cNvSpPr txBox="1"/>
          <p:nvPr/>
        </p:nvSpPr>
        <p:spPr>
          <a:xfrm>
            <a:off x="7315200" y="3840480"/>
            <a:ext cx="1554480" cy="822960"/>
          </a:xfrm>
          <a:prstGeom prst="rect">
            <a:avLst/>
          </a:prstGeom>
          <a:noFill/>
          <a:ln/>
        </p:spPr>
        <p:txBody>
          <a:bodyPr wrap="square" lIns="0" tIns="0" rIns="0" bIns="0" rtlCol="0" anchor="t"/>
          <a:lstStyle/>
          <a:p>
            <a:pPr algn="l" indent="0" marL="0">
              <a:buNone/>
            </a:pPr>
            <a:r>
              <a:rPr lang="en-US" sz="1200" dirty="0">
                <a:solidFill>
                  <a:srgbClr val="3A3D42"/>
                </a:solidFill>
                <a:latin typeface="Calibri" pitchFamily="34" charset="0"/>
                <a:ea typeface="Calibri" pitchFamily="34" charset="-122"/>
                <a:cs typeface="Calibri" pitchFamily="34" charset="-120"/>
              </a:rPr>
              <a:t>Validates rows. Input problems kept apart from rule results.</a:t>
            </a:r>
            <a:endParaRPr lang="en-US" sz="1200" dirty="0"/>
          </a:p>
        </p:txBody>
      </p:sp>
      <p:sp>
        <p:nvSpPr>
          <p:cNvPr id="29" name="Shape 26"/>
          <p:cNvSpPr/>
          <p:nvPr/>
        </p:nvSpPr>
        <p:spPr>
          <a:xfrm>
            <a:off x="9372600" y="1783080"/>
            <a:ext cx="2267712" cy="2926080"/>
          </a:xfrm>
          <a:prstGeom prst="roundRect">
            <a:avLst>
              <a:gd name="adj" fmla="val 4839"/>
            </a:avLst>
          </a:prstGeom>
          <a:solidFill>
            <a:schemeClr val="tx1"/>
          </a:solidFill>
          <a:ln/>
        </p:spPr>
      </p:sp>
      <p:pic>
        <p:nvPicPr>
          <p:cNvPr id="30" name="Image 1" descr="code icon">    </p:cNvPr>
          <p:cNvPicPr>
            <a:picLocks noChangeAspect="1"/>
          </p:cNvPicPr>
          <p:nvPr/>
        </p:nvPicPr>
        <p:blipFill>
          <a:blip r:embed="rId2"/>
          <a:stretch>
            <a:fillRect/>
          </a:stretch>
        </p:blipFill>
        <p:spPr>
          <a:xfrm>
            <a:off x="9555480" y="1947672"/>
            <a:ext cx="292608" cy="292608"/>
          </a:xfrm>
          <a:prstGeom prst="rect">
            <a:avLst/>
          </a:prstGeom>
        </p:spPr>
      </p:pic>
      <p:sp>
        <p:nvSpPr>
          <p:cNvPr id="31" name="Text 27"/>
          <p:cNvSpPr txBox="1"/>
          <p:nvPr/>
        </p:nvSpPr>
        <p:spPr>
          <a:xfrm>
            <a:off x="9966960" y="1947672"/>
            <a:ext cx="1536192" cy="292608"/>
          </a:xfrm>
          <a:prstGeom prst="rect">
            <a:avLst/>
          </a:prstGeom>
          <a:noFill/>
          <a:ln/>
        </p:spPr>
        <p:txBody>
          <a:bodyPr wrap="square" lIns="0" tIns="0" rIns="0" bIns="0" rtlCol="0" anchor="ctr"/>
          <a:lstStyle/>
          <a:p>
            <a:pPr algn="l" indent="0" marL="0">
              <a:buNone/>
            </a:pPr>
            <a:r>
              <a:rPr lang="en-US" sz="1500" b="1" dirty="0">
                <a:solidFill>
                  <a:schemeClr val="accent1"/>
                </a:solidFill>
                <a:latin typeface="Calibri" pitchFamily="34" charset="0"/>
                <a:ea typeface="Calibri" pitchFamily="34" charset="-122"/>
                <a:cs typeface="Calibri" pitchFamily="34" charset="-120"/>
              </a:rPr>
              <a:t>TypeScript engine</a:t>
            </a:r>
            <a:endParaRPr lang="en-US" sz="1500" dirty="0"/>
          </a:p>
        </p:txBody>
      </p:sp>
      <p:sp>
        <p:nvSpPr>
          <p:cNvPr id="32" name="Text 28"/>
          <p:cNvSpPr txBox="1"/>
          <p:nvPr/>
        </p:nvSpPr>
        <p:spPr>
          <a:xfrm>
            <a:off x="9555480" y="2496312"/>
            <a:ext cx="1901952" cy="256032"/>
          </a:xfrm>
          <a:prstGeom prst="rect">
            <a:avLst/>
          </a:prstGeom>
          <a:noFill/>
          <a:ln/>
        </p:spPr>
        <p:txBody>
          <a:bodyPr wrap="square" lIns="0" tIns="0" rIns="0" bIns="0" rtlCol="0" anchor="t"/>
          <a:lstStyle/>
          <a:p>
            <a:pPr algn="l" indent="0" marL="0">
              <a:buNone/>
            </a:pPr>
            <a:r>
              <a:rPr lang="en-US" sz="1300" b="1" dirty="0">
                <a:solidFill>
                  <a:schemeClr val="bg1"/>
                </a:solidFill>
                <a:latin typeface="Calibri" pitchFamily="34" charset="0"/>
                <a:ea typeface="Calibri" pitchFamily="34" charset="-122"/>
                <a:cs typeface="Calibri" pitchFamily="34" charset="-120"/>
              </a:rPr>
              <a:t>10 rule checks, R-01 to R-10</a:t>
            </a:r>
            <a:endParaRPr lang="en-US" sz="1300" dirty="0"/>
          </a:p>
        </p:txBody>
      </p:sp>
      <p:sp>
        <p:nvSpPr>
          <p:cNvPr id="33" name="Text 29"/>
          <p:cNvSpPr txBox="1"/>
          <p:nvPr/>
        </p:nvSpPr>
        <p:spPr>
          <a:xfrm>
            <a:off x="9555480" y="2770632"/>
            <a:ext cx="1901952" cy="256032"/>
          </a:xfrm>
          <a:prstGeom prst="rect">
            <a:avLst/>
          </a:prstGeom>
          <a:noFill/>
          <a:ln/>
        </p:spPr>
        <p:txBody>
          <a:bodyPr wrap="square" lIns="0" tIns="0" rIns="0" bIns="0" rtlCol="0" anchor="t"/>
          <a:lstStyle/>
          <a:p>
            <a:pPr algn="l" indent="0" marL="0">
              <a:buNone/>
            </a:pPr>
            <a:r>
              <a:rPr lang="en-US" sz="1200" dirty="0">
                <a:solidFill>
                  <a:srgbClr val="C9CCD1"/>
                </a:solidFill>
                <a:latin typeface="Calibri" pitchFamily="34" charset="0"/>
                <a:ea typeface="Calibri" pitchFamily="34" charset="-122"/>
                <a:cs typeface="Calibri" pitchFamily="34" charset="-120"/>
              </a:rPr>
              <a:t>Exact decimal arithmetic</a:t>
            </a:r>
            <a:endParaRPr lang="en-US" sz="1200" dirty="0"/>
          </a:p>
        </p:txBody>
      </p:sp>
      <p:sp>
        <p:nvSpPr>
          <p:cNvPr id="34" name="Text 30"/>
          <p:cNvSpPr txBox="1"/>
          <p:nvPr/>
        </p:nvSpPr>
        <p:spPr>
          <a:xfrm>
            <a:off x="9555480" y="3246120"/>
            <a:ext cx="1901952" cy="256032"/>
          </a:xfrm>
          <a:prstGeom prst="rect">
            <a:avLst/>
          </a:prstGeom>
          <a:noFill/>
          <a:ln/>
        </p:spPr>
        <p:txBody>
          <a:bodyPr wrap="square" lIns="0" tIns="0" rIns="0" bIns="0" rtlCol="0" anchor="t"/>
          <a:lstStyle/>
          <a:p>
            <a:pPr algn="l" indent="0" marL="0">
              <a:buNone/>
            </a:pPr>
            <a:r>
              <a:rPr lang="en-US" sz="1300" b="1" dirty="0">
                <a:solidFill>
                  <a:schemeClr val="bg1"/>
                </a:solidFill>
                <a:latin typeface="Calibri" pitchFamily="34" charset="0"/>
                <a:ea typeface="Calibri" pitchFamily="34" charset="-122"/>
                <a:cs typeface="Calibri" pitchFamily="34" charset="-120"/>
              </a:rPr>
              <a:t>Carrier eligibility + ranking</a:t>
            </a:r>
            <a:endParaRPr lang="en-US" sz="1300" dirty="0"/>
          </a:p>
        </p:txBody>
      </p:sp>
      <p:sp>
        <p:nvSpPr>
          <p:cNvPr id="35" name="Text 31"/>
          <p:cNvSpPr txBox="1"/>
          <p:nvPr/>
        </p:nvSpPr>
        <p:spPr>
          <a:xfrm>
            <a:off x="9555480" y="3520440"/>
            <a:ext cx="1901952" cy="256032"/>
          </a:xfrm>
          <a:prstGeom prst="rect">
            <a:avLst/>
          </a:prstGeom>
          <a:noFill/>
          <a:ln/>
        </p:spPr>
        <p:txBody>
          <a:bodyPr wrap="square" lIns="0" tIns="0" rIns="0" bIns="0" rtlCol="0" anchor="t"/>
          <a:lstStyle/>
          <a:p>
            <a:pPr algn="l" indent="0" marL="0">
              <a:buNone/>
            </a:pPr>
            <a:r>
              <a:rPr lang="en-US" sz="1200" dirty="0">
                <a:solidFill>
                  <a:srgbClr val="C9CCD1"/>
                </a:solidFill>
                <a:latin typeface="Calibri" pitchFamily="34" charset="0"/>
                <a:ea typeface="Calibri" pitchFamily="34" charset="-122"/>
                <a:cs typeface="Calibri" pitchFamily="34" charset="-120"/>
              </a:rPr>
              <a:t>Route, weight, priority</a:t>
            </a:r>
            <a:endParaRPr lang="en-US" sz="1200" dirty="0"/>
          </a:p>
        </p:txBody>
      </p:sp>
      <p:sp>
        <p:nvSpPr>
          <p:cNvPr id="36" name="Text 32"/>
          <p:cNvSpPr txBox="1"/>
          <p:nvPr/>
        </p:nvSpPr>
        <p:spPr>
          <a:xfrm>
            <a:off x="9555480" y="3995928"/>
            <a:ext cx="1901952" cy="256032"/>
          </a:xfrm>
          <a:prstGeom prst="rect">
            <a:avLst/>
          </a:prstGeom>
          <a:noFill/>
          <a:ln/>
        </p:spPr>
        <p:txBody>
          <a:bodyPr wrap="square" lIns="0" tIns="0" rIns="0" bIns="0" rtlCol="0" anchor="t"/>
          <a:lstStyle/>
          <a:p>
            <a:pPr algn="l" indent="0" marL="0">
              <a:buNone/>
            </a:pPr>
            <a:r>
              <a:rPr lang="en-US" sz="1300" b="1" dirty="0">
                <a:solidFill>
                  <a:schemeClr val="bg1"/>
                </a:solidFill>
                <a:latin typeface="Calibri" pitchFamily="34" charset="0"/>
                <a:ea typeface="Calibri" pitchFamily="34" charset="-122"/>
                <a:cs typeface="Calibri" pitchFamily="34" charset="-120"/>
              </a:rPr>
              <a:t>Status, fixes, next steps</a:t>
            </a:r>
            <a:endParaRPr lang="en-US" sz="1300" dirty="0"/>
          </a:p>
        </p:txBody>
      </p:sp>
      <p:sp>
        <p:nvSpPr>
          <p:cNvPr id="37" name="Text 33"/>
          <p:cNvSpPr txBox="1"/>
          <p:nvPr/>
        </p:nvSpPr>
        <p:spPr>
          <a:xfrm>
            <a:off x="9555480" y="4270248"/>
            <a:ext cx="1901952" cy="256032"/>
          </a:xfrm>
          <a:prstGeom prst="rect">
            <a:avLst/>
          </a:prstGeom>
          <a:noFill/>
          <a:ln/>
        </p:spPr>
        <p:txBody>
          <a:bodyPr wrap="square" lIns="0" tIns="0" rIns="0" bIns="0" rtlCol="0" anchor="t"/>
          <a:lstStyle/>
          <a:p>
            <a:pPr algn="l" indent="0" marL="0">
              <a:buNone/>
            </a:pPr>
            <a:r>
              <a:rPr lang="en-US" sz="1200" dirty="0">
                <a:solidFill>
                  <a:srgbClr val="C9CCD1"/>
                </a:solidFill>
                <a:latin typeface="Calibri" pitchFamily="34" charset="0"/>
                <a:ea typeface="Calibri" pitchFamily="34" charset="-122"/>
                <a:cs typeface="Calibri" pitchFamily="34" charset="-120"/>
              </a:rPr>
              <a:t>Same inputs, same verdict</a:t>
            </a:r>
            <a:endParaRPr lang="en-US" sz="1200" dirty="0"/>
          </a:p>
        </p:txBody>
      </p:sp>
      <p:sp>
        <p:nvSpPr>
          <p:cNvPr id="38" name="Shape 34"/>
          <p:cNvSpPr/>
          <p:nvPr/>
        </p:nvSpPr>
        <p:spPr>
          <a:xfrm>
            <a:off x="2304288" y="2446020"/>
            <a:ext cx="329184" cy="0"/>
          </a:xfrm>
          <a:prstGeom prst="line">
            <a:avLst/>
          </a:prstGeom>
          <a:noFill/>
          <a:ln w="19050">
            <a:solidFill>
              <a:schemeClr val="tx1"/>
            </a:solidFill>
            <a:prstDash val="solid"/>
            <a:tailEnd type="triangle"/>
          </a:ln>
        </p:spPr>
      </p:sp>
      <p:sp>
        <p:nvSpPr>
          <p:cNvPr id="39" name="Shape 35"/>
          <p:cNvSpPr/>
          <p:nvPr/>
        </p:nvSpPr>
        <p:spPr>
          <a:xfrm>
            <a:off x="4498848" y="2446020"/>
            <a:ext cx="329184" cy="0"/>
          </a:xfrm>
          <a:prstGeom prst="line">
            <a:avLst/>
          </a:prstGeom>
          <a:noFill/>
          <a:ln w="19050">
            <a:solidFill>
              <a:schemeClr val="tx1"/>
            </a:solidFill>
            <a:prstDash val="solid"/>
            <a:tailEnd type="triangle"/>
          </a:ln>
        </p:spPr>
      </p:sp>
      <p:sp>
        <p:nvSpPr>
          <p:cNvPr id="40" name="Shape 36"/>
          <p:cNvSpPr/>
          <p:nvPr/>
        </p:nvSpPr>
        <p:spPr>
          <a:xfrm>
            <a:off x="6830568" y="2446020"/>
            <a:ext cx="329184" cy="0"/>
          </a:xfrm>
          <a:prstGeom prst="line">
            <a:avLst/>
          </a:prstGeom>
          <a:noFill/>
          <a:ln w="19050">
            <a:solidFill>
              <a:schemeClr val="tx1"/>
            </a:solidFill>
            <a:prstDash val="solid"/>
            <a:tailEnd type="triangle"/>
          </a:ln>
        </p:spPr>
      </p:sp>
      <p:sp>
        <p:nvSpPr>
          <p:cNvPr id="41" name="Shape 37"/>
          <p:cNvSpPr/>
          <p:nvPr/>
        </p:nvSpPr>
        <p:spPr>
          <a:xfrm>
            <a:off x="9025128" y="2446020"/>
            <a:ext cx="329184" cy="0"/>
          </a:xfrm>
          <a:prstGeom prst="line">
            <a:avLst/>
          </a:prstGeom>
          <a:noFill/>
          <a:ln w="19050">
            <a:solidFill>
              <a:schemeClr val="tx1"/>
            </a:solidFill>
            <a:prstDash val="solid"/>
            <a:tailEnd type="triangle"/>
          </a:ln>
        </p:spPr>
      </p:sp>
      <p:sp>
        <p:nvSpPr>
          <p:cNvPr id="42" name="Shape 38"/>
          <p:cNvSpPr/>
          <p:nvPr/>
        </p:nvSpPr>
        <p:spPr>
          <a:xfrm>
            <a:off x="2304288" y="4046220"/>
            <a:ext cx="329184" cy="0"/>
          </a:xfrm>
          <a:prstGeom prst="line">
            <a:avLst/>
          </a:prstGeom>
          <a:noFill/>
          <a:ln w="19050">
            <a:solidFill>
              <a:schemeClr val="tx1"/>
            </a:solidFill>
            <a:prstDash val="solid"/>
            <a:tailEnd type="triangle"/>
          </a:ln>
        </p:spPr>
      </p:sp>
      <p:sp>
        <p:nvSpPr>
          <p:cNvPr id="43" name="Shape 39"/>
          <p:cNvSpPr/>
          <p:nvPr/>
        </p:nvSpPr>
        <p:spPr>
          <a:xfrm>
            <a:off x="4498848" y="4046220"/>
            <a:ext cx="329184" cy="0"/>
          </a:xfrm>
          <a:prstGeom prst="line">
            <a:avLst/>
          </a:prstGeom>
          <a:noFill/>
          <a:ln w="19050">
            <a:solidFill>
              <a:schemeClr val="tx1"/>
            </a:solidFill>
            <a:prstDash val="solid"/>
            <a:tailEnd type="triangle"/>
          </a:ln>
        </p:spPr>
      </p:sp>
      <p:sp>
        <p:nvSpPr>
          <p:cNvPr id="44" name="Shape 40"/>
          <p:cNvSpPr/>
          <p:nvPr/>
        </p:nvSpPr>
        <p:spPr>
          <a:xfrm>
            <a:off x="6830568" y="4046220"/>
            <a:ext cx="329184" cy="0"/>
          </a:xfrm>
          <a:prstGeom prst="line">
            <a:avLst/>
          </a:prstGeom>
          <a:noFill/>
          <a:ln w="19050">
            <a:solidFill>
              <a:schemeClr val="tx1"/>
            </a:solidFill>
            <a:prstDash val="solid"/>
            <a:tailEnd type="triangle"/>
          </a:ln>
        </p:spPr>
      </p:sp>
      <p:sp>
        <p:nvSpPr>
          <p:cNvPr id="45" name="Shape 41"/>
          <p:cNvSpPr/>
          <p:nvPr/>
        </p:nvSpPr>
        <p:spPr>
          <a:xfrm>
            <a:off x="9025128" y="4046220"/>
            <a:ext cx="329184" cy="0"/>
          </a:xfrm>
          <a:prstGeom prst="line">
            <a:avLst/>
          </a:prstGeom>
          <a:noFill/>
          <a:ln w="19050">
            <a:solidFill>
              <a:schemeClr val="tx1"/>
            </a:solidFill>
            <a:prstDash val="solid"/>
            <a:tailEnd type="triangle"/>
          </a:ln>
        </p:spPr>
      </p:sp>
      <p:sp>
        <p:nvSpPr>
          <p:cNvPr id="46" name="Shape 42"/>
          <p:cNvSpPr/>
          <p:nvPr/>
        </p:nvSpPr>
        <p:spPr>
          <a:xfrm>
            <a:off x="2651760" y="4983480"/>
            <a:ext cx="8988552" cy="658368"/>
          </a:xfrm>
          <a:prstGeom prst="roundRect">
            <a:avLst>
              <a:gd name="adj" fmla="val 16667"/>
            </a:avLst>
          </a:prstGeom>
          <a:solidFill>
            <a:schemeClr val="bg1"/>
          </a:solidFill>
          <a:ln w="12700">
            <a:solidFill>
              <a:srgbClr val="DADCD6"/>
            </a:solidFill>
            <a:prstDash val="solid"/>
          </a:ln>
        </p:spPr>
      </p:sp>
      <p:pic>
        <p:nvPicPr>
          <p:cNvPr id="47" name="Image 2" descr="db icon">    </p:cNvPr>
          <p:cNvPicPr>
            <a:picLocks noChangeAspect="1"/>
          </p:cNvPicPr>
          <p:nvPr/>
        </p:nvPicPr>
        <p:blipFill>
          <a:blip r:embed="rId3"/>
          <a:stretch>
            <a:fillRect/>
          </a:stretch>
        </p:blipFill>
        <p:spPr>
          <a:xfrm>
            <a:off x="2834640" y="5138928"/>
            <a:ext cx="329184" cy="329184"/>
          </a:xfrm>
          <a:prstGeom prst="rect">
            <a:avLst/>
          </a:prstGeom>
        </p:spPr>
      </p:pic>
      <p:sp>
        <p:nvSpPr>
          <p:cNvPr id="48" name="Text 43"/>
          <p:cNvSpPr txBox="1"/>
          <p:nvPr/>
        </p:nvSpPr>
        <p:spPr>
          <a:xfrm>
            <a:off x="3337560" y="5029200"/>
            <a:ext cx="3840480" cy="274320"/>
          </a:xfrm>
          <a:prstGeom prst="rect">
            <a:avLst/>
          </a:prstGeom>
          <a:noFill/>
          <a:ln/>
        </p:spPr>
        <p:txBody>
          <a:bodyPr wrap="square" lIns="0" tIns="0" rIns="0" bIns="0" rtlCol="0" anchor="t"/>
          <a:lstStyle/>
          <a:p>
            <a:pPr algn="l" indent="0" marL="0">
              <a:buNone/>
            </a:pPr>
            <a:r>
              <a:rPr lang="en-US" sz="1400" b="1" dirty="0">
                <a:solidFill>
                  <a:schemeClr val="tx1"/>
                </a:solidFill>
                <a:latin typeface="Calibri" pitchFamily="34" charset="0"/>
                <a:ea typeface="Calibri" pitchFamily="34" charset="-122"/>
                <a:cs typeface="Calibri" pitchFamily="34" charset="-120"/>
              </a:rPr>
              <a:t>Neon PostgreSQL via Drizzle ORM</a:t>
            </a:r>
            <a:endParaRPr lang="en-US" sz="1400" dirty="0"/>
          </a:p>
        </p:txBody>
      </p:sp>
      <p:sp>
        <p:nvSpPr>
          <p:cNvPr id="49" name="Text 44"/>
          <p:cNvSpPr txBox="1"/>
          <p:nvPr/>
        </p:nvSpPr>
        <p:spPr>
          <a:xfrm>
            <a:off x="3337560" y="5303520"/>
            <a:ext cx="8046720" cy="274320"/>
          </a:xfrm>
          <a:prstGeom prst="rect">
            <a:avLst/>
          </a:prstGeom>
          <a:noFill/>
          <a:ln/>
        </p:spPr>
        <p:txBody>
          <a:bodyPr wrap="square" lIns="0" tIns="0" rIns="0" bIns="0" rtlCol="0" anchor="t"/>
          <a:lstStyle/>
          <a:p>
            <a:pPr algn="l" indent="0" marL="0">
              <a:buNone/>
            </a:pPr>
            <a:r>
              <a:rPr lang="en-US" sz="1200" dirty="0">
                <a:solidFill>
                  <a:srgbClr val="3A3D42"/>
                </a:solidFill>
                <a:latin typeface="Calibri" pitchFamily="34" charset="0"/>
                <a:ea typeface="Calibri" pitchFamily="34" charset="-122"/>
                <a:cs typeface="Calibri" pitchFamily="34" charset="-120"/>
              </a:rPr>
              <a:t>bookings · items · chat messages · revisions · evaluations · rate card + rulebook (9 + 10 rows). One transaction per turn.</a:t>
            </a:r>
            <a:endParaRPr lang="en-US" sz="1200" dirty="0"/>
          </a:p>
        </p:txBody>
      </p:sp>
      <p:sp>
        <p:nvSpPr>
          <p:cNvPr id="50" name="Shape 45"/>
          <p:cNvSpPr/>
          <p:nvPr/>
        </p:nvSpPr>
        <p:spPr>
          <a:xfrm>
            <a:off x="3566160" y="4727448"/>
            <a:ext cx="0" cy="237744"/>
          </a:xfrm>
          <a:prstGeom prst="line">
            <a:avLst/>
          </a:prstGeom>
          <a:noFill/>
          <a:ln w="15875">
            <a:solidFill>
              <a:schemeClr val="accent5"/>
            </a:solidFill>
            <a:prstDash val="solid"/>
            <a:headEnd type="triangle"/>
            <a:tailEnd type="triangle"/>
          </a:ln>
        </p:spPr>
      </p:sp>
      <p:sp>
        <p:nvSpPr>
          <p:cNvPr id="51" name="Shape 46"/>
          <p:cNvSpPr/>
          <p:nvPr/>
        </p:nvSpPr>
        <p:spPr>
          <a:xfrm>
            <a:off x="10506456" y="4727448"/>
            <a:ext cx="0" cy="237744"/>
          </a:xfrm>
          <a:prstGeom prst="line">
            <a:avLst/>
          </a:prstGeom>
          <a:noFill/>
          <a:ln w="15875">
            <a:solidFill>
              <a:schemeClr val="accent5"/>
            </a:solidFill>
            <a:prstDash val="solid"/>
            <a:headEnd type="triangle"/>
            <a:tailEnd type="triangle"/>
          </a:ln>
        </p:spPr>
      </p:sp>
      <p:sp>
        <p:nvSpPr>
          <p:cNvPr id="52" name="Shape 47"/>
          <p:cNvSpPr/>
          <p:nvPr/>
        </p:nvSpPr>
        <p:spPr>
          <a:xfrm>
            <a:off x="548640" y="5833872"/>
            <a:ext cx="3566160" cy="411480"/>
          </a:xfrm>
          <a:prstGeom prst="roundRect">
            <a:avLst>
              <a:gd name="adj" fmla="val 50000"/>
            </a:avLst>
          </a:prstGeom>
          <a:solidFill>
            <a:srgbClr val="EEF5CF"/>
          </a:solidFill>
          <a:ln/>
        </p:spPr>
      </p:sp>
      <p:sp>
        <p:nvSpPr>
          <p:cNvPr id="53" name="Text 48"/>
          <p:cNvSpPr txBox="1"/>
          <p:nvPr/>
        </p:nvSpPr>
        <p:spPr>
          <a:xfrm>
            <a:off x="548640" y="5833872"/>
            <a:ext cx="3566160" cy="411480"/>
          </a:xfrm>
          <a:prstGeom prst="rect">
            <a:avLst/>
          </a:prstGeom>
          <a:noFill/>
          <a:ln/>
        </p:spPr>
        <p:txBody>
          <a:bodyPr wrap="square" lIns="0" tIns="0" rIns="0" bIns="0" rtlCol="0" anchor="ctr"/>
          <a:lstStyle/>
          <a:p>
            <a:pPr algn="ctr" indent="0" marL="0">
              <a:buNone/>
            </a:pPr>
            <a:r>
              <a:rPr lang="en-US" sz="1300" b="1" dirty="0">
                <a:solidFill>
                  <a:srgbClr val="3C5200"/>
                </a:solidFill>
                <a:latin typeface="Calibri" pitchFamily="34" charset="0"/>
                <a:ea typeface="Calibri" pitchFamily="34" charset="-122"/>
                <a:cs typeface="Calibri" pitchFamily="34" charset="-120"/>
              </a:rPr>
              <a:t>Consistent: same input, same verdict</a:t>
            </a:r>
            <a:endParaRPr lang="en-US" sz="1300" dirty="0"/>
          </a:p>
        </p:txBody>
      </p:sp>
      <p:sp>
        <p:nvSpPr>
          <p:cNvPr id="54" name="Shape 49"/>
          <p:cNvSpPr/>
          <p:nvPr/>
        </p:nvSpPr>
        <p:spPr>
          <a:xfrm>
            <a:off x="4311396" y="5833872"/>
            <a:ext cx="3566160" cy="411480"/>
          </a:xfrm>
          <a:prstGeom prst="roundRect">
            <a:avLst>
              <a:gd name="adj" fmla="val 50000"/>
            </a:avLst>
          </a:prstGeom>
          <a:solidFill>
            <a:srgbClr val="EEF5CF"/>
          </a:solidFill>
          <a:ln/>
        </p:spPr>
      </p:sp>
      <p:sp>
        <p:nvSpPr>
          <p:cNvPr id="55" name="Text 50"/>
          <p:cNvSpPr txBox="1"/>
          <p:nvPr/>
        </p:nvSpPr>
        <p:spPr>
          <a:xfrm>
            <a:off x="4311396" y="5833872"/>
            <a:ext cx="3566160" cy="411480"/>
          </a:xfrm>
          <a:prstGeom prst="rect">
            <a:avLst/>
          </a:prstGeom>
          <a:noFill/>
          <a:ln/>
        </p:spPr>
        <p:txBody>
          <a:bodyPr wrap="square" lIns="0" tIns="0" rIns="0" bIns="0" rtlCol="0" anchor="ctr"/>
          <a:lstStyle/>
          <a:p>
            <a:pPr algn="ctr" indent="0" marL="0">
              <a:buNone/>
            </a:pPr>
            <a:r>
              <a:rPr lang="en-US" sz="1300" b="1" dirty="0">
                <a:solidFill>
                  <a:srgbClr val="3C5200"/>
                </a:solidFill>
                <a:latin typeface="Calibri" pitchFamily="34" charset="0"/>
                <a:ea typeface="Calibri" pitchFamily="34" charset="-122"/>
                <a:cs typeface="Calibri" pitchFamily="34" charset="-120"/>
              </a:rPr>
              <a:t>Explainable: actual vs expected, plus the fix</a:t>
            </a:r>
            <a:endParaRPr lang="en-US" sz="1300" dirty="0"/>
          </a:p>
        </p:txBody>
      </p:sp>
      <p:sp>
        <p:nvSpPr>
          <p:cNvPr id="56" name="Shape 51"/>
          <p:cNvSpPr/>
          <p:nvPr/>
        </p:nvSpPr>
        <p:spPr>
          <a:xfrm>
            <a:off x="8074152" y="5833872"/>
            <a:ext cx="3566160" cy="411480"/>
          </a:xfrm>
          <a:prstGeom prst="roundRect">
            <a:avLst>
              <a:gd name="adj" fmla="val 50000"/>
            </a:avLst>
          </a:prstGeom>
          <a:solidFill>
            <a:srgbClr val="EEF5CF"/>
          </a:solidFill>
          <a:ln/>
        </p:spPr>
      </p:sp>
      <p:sp>
        <p:nvSpPr>
          <p:cNvPr id="57" name="Text 52"/>
          <p:cNvSpPr txBox="1"/>
          <p:nvPr/>
        </p:nvSpPr>
        <p:spPr>
          <a:xfrm>
            <a:off x="8074152" y="5833872"/>
            <a:ext cx="3566160" cy="411480"/>
          </a:xfrm>
          <a:prstGeom prst="rect">
            <a:avLst/>
          </a:prstGeom>
          <a:noFill/>
          <a:ln/>
        </p:spPr>
        <p:txBody>
          <a:bodyPr wrap="square" lIns="0" tIns="0" rIns="0" bIns="0" rtlCol="0" anchor="ctr"/>
          <a:lstStyle/>
          <a:p>
            <a:pPr algn="ctr" indent="0" marL="0">
              <a:buNone/>
            </a:pPr>
            <a:r>
              <a:rPr lang="en-US" sz="1300" b="1" dirty="0">
                <a:solidFill>
                  <a:srgbClr val="3C5200"/>
                </a:solidFill>
                <a:latin typeface="Calibri" pitchFamily="34" charset="0"/>
                <a:ea typeface="Calibri" pitchFamily="34" charset="-122"/>
                <a:cs typeface="Calibri" pitchFamily="34" charset="-120"/>
              </a:rPr>
              <a:t>Resilient: Excel and Edit form work without AI</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914400"/>
          </a:xfrm>
          <a:prstGeom prst="rect">
            <a:avLst/>
          </a:prstGeom>
          <a:noFill/>
          <a:ln/>
        </p:spPr>
        <p:txBody>
          <a:bodyPr wrap="square" lIns="0" tIns="0" rIns="0" bIns="0" rtlCol="0" anchor="t"/>
          <a:lstStyle/>
          <a:p>
            <a:pPr algn="l" indent="0" marL="0">
              <a:buNone/>
            </a:pPr>
            <a:r>
              <a:rPr lang="en-US" sz="3000" b="1" dirty="0">
                <a:solidFill>
                  <a:schemeClr val="tx1"/>
                </a:solidFill>
                <a:latin typeface="Calibri" pitchFamily="34" charset="0"/>
                <a:ea typeface="Calibri" pitchFamily="34" charset="-122"/>
                <a:cs typeface="Calibri" pitchFamily="34" charset="-120"/>
              </a:rPr>
              <a:t>One booking. Ten checks. Clear fixes before dispatch.</a:t>
            </a:r>
            <a:endParaRPr lang="en-US" sz="3000" dirty="0"/>
          </a:p>
        </p:txBody>
      </p:sp>
      <p:sp>
        <p:nvSpPr>
          <p:cNvPr id="3" name="Text 1"/>
          <p:cNvSpPr txBox="1"/>
          <p:nvPr/>
        </p:nvSpPr>
        <p:spPr>
          <a:xfrm>
            <a:off x="548640" y="1508760"/>
            <a:ext cx="3017520" cy="228600"/>
          </a:xfrm>
          <a:prstGeom prst="rect">
            <a:avLst/>
          </a:prstGeom>
          <a:noFill/>
          <a:ln/>
        </p:spPr>
        <p:txBody>
          <a:bodyPr wrap="square" lIns="0" tIns="0" rIns="0" bIns="0" rtlCol="0" anchor="t"/>
          <a:lstStyle/>
          <a:p>
            <a:pPr algn="l" indent="0" marL="0">
              <a:buNone/>
            </a:pPr>
            <a:r>
              <a:rPr lang="en-US" sz="1100" b="1" spc="150" kern="0" dirty="0">
                <a:solidFill>
                  <a:schemeClr val="accent5"/>
                </a:solidFill>
                <a:latin typeface="Calibri" pitchFamily="34" charset="0"/>
                <a:ea typeface="Calibri" pitchFamily="34" charset="-122"/>
                <a:cs typeface="Calibri" pitchFamily="34" charset="-120"/>
              </a:rPr>
              <a:t>THE CASE RULEBOOK</a:t>
            </a:r>
            <a:endParaRPr lang="en-US" sz="1100" dirty="0"/>
          </a:p>
        </p:txBody>
      </p:sp>
      <p:sp>
        <p:nvSpPr>
          <p:cNvPr id="4" name="Shape 2"/>
          <p:cNvSpPr/>
          <p:nvPr/>
        </p:nvSpPr>
        <p:spPr>
          <a:xfrm>
            <a:off x="548640" y="1810512"/>
            <a:ext cx="3017520" cy="274320"/>
          </a:xfrm>
          <a:prstGeom prst="roundRect">
            <a:avLst>
              <a:gd name="adj" fmla="val 50000"/>
            </a:avLst>
          </a:prstGeom>
          <a:solidFill>
            <a:srgbClr val="FBE4E2"/>
          </a:solidFill>
          <a:ln/>
        </p:spPr>
      </p:sp>
      <p:sp>
        <p:nvSpPr>
          <p:cNvPr id="5" name="Text 3"/>
          <p:cNvSpPr txBox="1"/>
          <p:nvPr/>
        </p:nvSpPr>
        <p:spPr>
          <a:xfrm>
            <a:off x="548640" y="1810512"/>
            <a:ext cx="3017520" cy="274320"/>
          </a:xfrm>
          <a:prstGeom prst="rect">
            <a:avLst/>
          </a:prstGeom>
          <a:noFill/>
          <a:ln/>
        </p:spPr>
        <p:txBody>
          <a:bodyPr wrap="square" lIns="0" tIns="0" rIns="0" bIns="0" rtlCol="0" anchor="ctr"/>
          <a:lstStyle/>
          <a:p>
            <a:pPr algn="ctr" indent="0" marL="0">
              <a:buNone/>
            </a:pPr>
            <a:r>
              <a:rPr lang="en-US" sz="1100" b="1" dirty="0">
                <a:solidFill>
                  <a:srgbClr val="A12B2B"/>
                </a:solidFill>
                <a:latin typeface="Calibri" pitchFamily="34" charset="0"/>
                <a:ea typeface="Calibri" pitchFamily="34" charset="-122"/>
                <a:cs typeface="Calibri" pitchFamily="34" charset="-120"/>
              </a:rPr>
              <a:t>RED: must not ship until fixed</a:t>
            </a:r>
            <a:endParaRPr lang="en-US" sz="1100" dirty="0"/>
          </a:p>
        </p:txBody>
      </p:sp>
      <p:sp>
        <p:nvSpPr>
          <p:cNvPr id="6" name="Text 4"/>
          <p:cNvSpPr txBox="1"/>
          <p:nvPr/>
        </p:nvSpPr>
        <p:spPr>
          <a:xfrm>
            <a:off x="640080" y="2176272"/>
            <a:ext cx="548640" cy="274320"/>
          </a:xfrm>
          <a:prstGeom prst="rect">
            <a:avLst/>
          </a:prstGeom>
          <a:noFill/>
          <a:ln/>
        </p:spPr>
        <p:txBody>
          <a:bodyPr wrap="square" lIns="0" tIns="0" rIns="0" bIns="0" rtlCol="0" anchor="ctr"/>
          <a:lstStyle/>
          <a:p>
            <a:pPr algn="l" indent="0" marL="0">
              <a:buNone/>
            </a:pPr>
            <a:r>
              <a:rPr lang="en-US" sz="1200" b="1" dirty="0">
                <a:solidFill>
                  <a:srgbClr val="A12B2B"/>
                </a:solidFill>
                <a:latin typeface="Courier New" pitchFamily="34" charset="0"/>
                <a:ea typeface="Courier New" pitchFamily="34" charset="-122"/>
                <a:cs typeface="Courier New" pitchFamily="34" charset="-120"/>
              </a:rPr>
              <a:t>R-01</a:t>
            </a:r>
            <a:endParaRPr lang="en-US" sz="1200" dirty="0"/>
          </a:p>
        </p:txBody>
      </p:sp>
      <p:sp>
        <p:nvSpPr>
          <p:cNvPr id="7" name="Text 5"/>
          <p:cNvSpPr txBox="1"/>
          <p:nvPr/>
        </p:nvSpPr>
        <p:spPr>
          <a:xfrm>
            <a:off x="1261872" y="2176272"/>
            <a:ext cx="2331720" cy="274320"/>
          </a:xfrm>
          <a:prstGeom prst="rect">
            <a:avLst/>
          </a:prstGeom>
          <a:noFill/>
          <a:ln/>
        </p:spPr>
        <p:txBody>
          <a:bodyPr wrap="square" lIns="0" tIns="0" rIns="0" bIns="0" rtlCol="0" anchor="ctr"/>
          <a:lstStyle/>
          <a:p>
            <a:pPr algn="l" indent="0" marL="0">
              <a:buNone/>
            </a:pPr>
            <a:r>
              <a:rPr lang="en-US" sz="1300" dirty="0">
                <a:solidFill>
                  <a:schemeClr val="tx1"/>
                </a:solidFill>
                <a:latin typeface="Calibri" pitchFamily="34" charset="0"/>
                <a:ea typeface="Calibri" pitchFamily="34" charset="-122"/>
                <a:cs typeface="Calibri" pitchFamily="34" charset="-120"/>
              </a:rPr>
              <a:t>HS code, 6+ digits</a:t>
            </a:r>
            <a:endParaRPr lang="en-US" sz="1300" dirty="0"/>
          </a:p>
        </p:txBody>
      </p:sp>
      <p:sp>
        <p:nvSpPr>
          <p:cNvPr id="8" name="Text 6"/>
          <p:cNvSpPr txBox="1"/>
          <p:nvPr/>
        </p:nvSpPr>
        <p:spPr>
          <a:xfrm>
            <a:off x="640080" y="2487168"/>
            <a:ext cx="548640" cy="274320"/>
          </a:xfrm>
          <a:prstGeom prst="rect">
            <a:avLst/>
          </a:prstGeom>
          <a:noFill/>
          <a:ln/>
        </p:spPr>
        <p:txBody>
          <a:bodyPr wrap="square" lIns="0" tIns="0" rIns="0" bIns="0" rtlCol="0" anchor="ctr"/>
          <a:lstStyle/>
          <a:p>
            <a:pPr algn="l" indent="0" marL="0">
              <a:buNone/>
            </a:pPr>
            <a:r>
              <a:rPr lang="en-US" sz="1200" b="1" dirty="0">
                <a:solidFill>
                  <a:srgbClr val="A12B2B"/>
                </a:solidFill>
                <a:latin typeface="Courier New" pitchFamily="34" charset="0"/>
                <a:ea typeface="Courier New" pitchFamily="34" charset="-122"/>
                <a:cs typeface="Courier New" pitchFamily="34" charset="-120"/>
              </a:rPr>
              <a:t>R-02</a:t>
            </a:r>
            <a:endParaRPr lang="en-US" sz="1200" dirty="0"/>
          </a:p>
        </p:txBody>
      </p:sp>
      <p:sp>
        <p:nvSpPr>
          <p:cNvPr id="9" name="Text 7"/>
          <p:cNvSpPr txBox="1"/>
          <p:nvPr/>
        </p:nvSpPr>
        <p:spPr>
          <a:xfrm>
            <a:off x="1261872" y="2487168"/>
            <a:ext cx="2331720" cy="274320"/>
          </a:xfrm>
          <a:prstGeom prst="rect">
            <a:avLst/>
          </a:prstGeom>
          <a:noFill/>
          <a:ln/>
        </p:spPr>
        <p:txBody>
          <a:bodyPr wrap="square" lIns="0" tIns="0" rIns="0" bIns="0" rtlCol="0" anchor="ctr"/>
          <a:lstStyle/>
          <a:p>
            <a:pPr algn="l" indent="0" marL="0">
              <a:buNone/>
            </a:pPr>
            <a:r>
              <a:rPr lang="en-US" sz="1300" dirty="0">
                <a:solidFill>
                  <a:schemeClr val="tx1"/>
                </a:solidFill>
                <a:latin typeface="Calibri" pitchFamily="34" charset="0"/>
                <a:ea typeface="Calibri" pitchFamily="34" charset="-122"/>
                <a:cs typeface="Calibri" pitchFamily="34" charset="-120"/>
              </a:rPr>
              <a:t>Declared value within 1%</a:t>
            </a:r>
            <a:endParaRPr lang="en-US" sz="1300" dirty="0"/>
          </a:p>
        </p:txBody>
      </p:sp>
      <p:sp>
        <p:nvSpPr>
          <p:cNvPr id="10" name="Text 8"/>
          <p:cNvSpPr txBox="1"/>
          <p:nvPr/>
        </p:nvSpPr>
        <p:spPr>
          <a:xfrm>
            <a:off x="640080" y="2798064"/>
            <a:ext cx="548640" cy="274320"/>
          </a:xfrm>
          <a:prstGeom prst="rect">
            <a:avLst/>
          </a:prstGeom>
          <a:noFill/>
          <a:ln/>
        </p:spPr>
        <p:txBody>
          <a:bodyPr wrap="square" lIns="0" tIns="0" rIns="0" bIns="0" rtlCol="0" anchor="ctr"/>
          <a:lstStyle/>
          <a:p>
            <a:pPr algn="l" indent="0" marL="0">
              <a:buNone/>
            </a:pPr>
            <a:r>
              <a:rPr lang="en-US" sz="1200" b="1" dirty="0">
                <a:solidFill>
                  <a:srgbClr val="A12B2B"/>
                </a:solidFill>
                <a:latin typeface="Courier New" pitchFamily="34" charset="0"/>
                <a:ea typeface="Courier New" pitchFamily="34" charset="-122"/>
                <a:cs typeface="Courier New" pitchFamily="34" charset="-120"/>
              </a:rPr>
              <a:t>R-03</a:t>
            </a:r>
            <a:endParaRPr lang="en-US" sz="1200" dirty="0"/>
          </a:p>
        </p:txBody>
      </p:sp>
      <p:sp>
        <p:nvSpPr>
          <p:cNvPr id="11" name="Text 9"/>
          <p:cNvSpPr txBox="1"/>
          <p:nvPr/>
        </p:nvSpPr>
        <p:spPr>
          <a:xfrm>
            <a:off x="1261872" y="2798064"/>
            <a:ext cx="2331720" cy="274320"/>
          </a:xfrm>
          <a:prstGeom prst="rect">
            <a:avLst/>
          </a:prstGeom>
          <a:noFill/>
          <a:ln/>
        </p:spPr>
        <p:txBody>
          <a:bodyPr wrap="square" lIns="0" tIns="0" rIns="0" bIns="0" rtlCol="0" anchor="ctr"/>
          <a:lstStyle/>
          <a:p>
            <a:pPr algn="l" indent="0" marL="0">
              <a:buNone/>
            </a:pPr>
            <a:r>
              <a:rPr lang="en-US" sz="1300" dirty="0">
                <a:solidFill>
                  <a:schemeClr val="tx1"/>
                </a:solidFill>
                <a:latin typeface="Calibri" pitchFamily="34" charset="0"/>
                <a:ea typeface="Calibri" pitchFamily="34" charset="-122"/>
                <a:cs typeface="Calibri" pitchFamily="34" charset="-120"/>
              </a:rPr>
              <a:t>Units/carton × cartons</a:t>
            </a:r>
            <a:endParaRPr lang="en-US" sz="1300" dirty="0"/>
          </a:p>
        </p:txBody>
      </p:sp>
      <p:sp>
        <p:nvSpPr>
          <p:cNvPr id="12" name="Text 10"/>
          <p:cNvSpPr txBox="1"/>
          <p:nvPr/>
        </p:nvSpPr>
        <p:spPr>
          <a:xfrm>
            <a:off x="640080" y="3108960"/>
            <a:ext cx="548640" cy="274320"/>
          </a:xfrm>
          <a:prstGeom prst="rect">
            <a:avLst/>
          </a:prstGeom>
          <a:noFill/>
          <a:ln/>
        </p:spPr>
        <p:txBody>
          <a:bodyPr wrap="square" lIns="0" tIns="0" rIns="0" bIns="0" rtlCol="0" anchor="ctr"/>
          <a:lstStyle/>
          <a:p>
            <a:pPr algn="l" indent="0" marL="0">
              <a:buNone/>
            </a:pPr>
            <a:r>
              <a:rPr lang="en-US" sz="1200" b="1" dirty="0">
                <a:solidFill>
                  <a:srgbClr val="A12B2B"/>
                </a:solidFill>
                <a:latin typeface="Courier New" pitchFamily="34" charset="0"/>
                <a:ea typeface="Courier New" pitchFamily="34" charset="-122"/>
                <a:cs typeface="Courier New" pitchFamily="34" charset="-120"/>
              </a:rPr>
              <a:t>R-04</a:t>
            </a:r>
            <a:endParaRPr lang="en-US" sz="1200" dirty="0"/>
          </a:p>
        </p:txBody>
      </p:sp>
      <p:sp>
        <p:nvSpPr>
          <p:cNvPr id="13" name="Text 11"/>
          <p:cNvSpPr txBox="1"/>
          <p:nvPr/>
        </p:nvSpPr>
        <p:spPr>
          <a:xfrm>
            <a:off x="1261872" y="3108960"/>
            <a:ext cx="2331720" cy="274320"/>
          </a:xfrm>
          <a:prstGeom prst="rect">
            <a:avLst/>
          </a:prstGeom>
          <a:noFill/>
          <a:ln/>
        </p:spPr>
        <p:txBody>
          <a:bodyPr wrap="square" lIns="0" tIns="0" rIns="0" bIns="0" rtlCol="0" anchor="ctr"/>
          <a:lstStyle/>
          <a:p>
            <a:pPr algn="l" indent="0" marL="0">
              <a:buNone/>
            </a:pPr>
            <a:r>
              <a:rPr lang="en-US" sz="1300" dirty="0">
                <a:solidFill>
                  <a:schemeClr val="tx1"/>
                </a:solidFill>
                <a:latin typeface="Calibri" pitchFamily="34" charset="0"/>
                <a:ea typeface="Calibri" pitchFamily="34" charset="-122"/>
                <a:cs typeface="Calibri" pitchFamily="34" charset="-120"/>
              </a:rPr>
              <a:t>Total cartons add up</a:t>
            </a:r>
            <a:endParaRPr lang="en-US" sz="1300" dirty="0"/>
          </a:p>
        </p:txBody>
      </p:sp>
      <p:sp>
        <p:nvSpPr>
          <p:cNvPr id="14" name="Text 12"/>
          <p:cNvSpPr txBox="1"/>
          <p:nvPr/>
        </p:nvSpPr>
        <p:spPr>
          <a:xfrm>
            <a:off x="640080" y="3419856"/>
            <a:ext cx="548640" cy="274320"/>
          </a:xfrm>
          <a:prstGeom prst="rect">
            <a:avLst/>
          </a:prstGeom>
          <a:noFill/>
          <a:ln/>
        </p:spPr>
        <p:txBody>
          <a:bodyPr wrap="square" lIns="0" tIns="0" rIns="0" bIns="0" rtlCol="0" anchor="ctr"/>
          <a:lstStyle/>
          <a:p>
            <a:pPr algn="l" indent="0" marL="0">
              <a:buNone/>
            </a:pPr>
            <a:r>
              <a:rPr lang="en-US" sz="1200" b="1" dirty="0">
                <a:solidFill>
                  <a:srgbClr val="A12B2B"/>
                </a:solidFill>
                <a:latin typeface="Courier New" pitchFamily="34" charset="0"/>
                <a:ea typeface="Courier New" pitchFamily="34" charset="-122"/>
                <a:cs typeface="Courier New" pitchFamily="34" charset="-120"/>
              </a:rPr>
              <a:t>R-05</a:t>
            </a:r>
            <a:endParaRPr lang="en-US" sz="1200" dirty="0"/>
          </a:p>
        </p:txBody>
      </p:sp>
      <p:sp>
        <p:nvSpPr>
          <p:cNvPr id="15" name="Text 13"/>
          <p:cNvSpPr txBox="1"/>
          <p:nvPr/>
        </p:nvSpPr>
        <p:spPr>
          <a:xfrm>
            <a:off x="1261872" y="3419856"/>
            <a:ext cx="2331720" cy="274320"/>
          </a:xfrm>
          <a:prstGeom prst="rect">
            <a:avLst/>
          </a:prstGeom>
          <a:noFill/>
          <a:ln/>
        </p:spPr>
        <p:txBody>
          <a:bodyPr wrap="square" lIns="0" tIns="0" rIns="0" bIns="0" rtlCol="0" anchor="ctr"/>
          <a:lstStyle/>
          <a:p>
            <a:pPr algn="l" indent="0" marL="0">
              <a:buNone/>
            </a:pPr>
            <a:r>
              <a:rPr lang="en-US" sz="1300" dirty="0">
                <a:solidFill>
                  <a:schemeClr val="tx1"/>
                </a:solidFill>
                <a:latin typeface="Calibri" pitchFamily="34" charset="0"/>
                <a:ea typeface="Calibri" pitchFamily="34" charset="-122"/>
                <a:cs typeface="Calibri" pitchFamily="34" charset="-120"/>
              </a:rPr>
              <a:t>Pallet weight ≤ carrier max</a:t>
            </a:r>
            <a:endParaRPr lang="en-US" sz="1300" dirty="0"/>
          </a:p>
        </p:txBody>
      </p:sp>
      <p:sp>
        <p:nvSpPr>
          <p:cNvPr id="16" name="Text 14"/>
          <p:cNvSpPr txBox="1"/>
          <p:nvPr/>
        </p:nvSpPr>
        <p:spPr>
          <a:xfrm>
            <a:off x="640080" y="3730752"/>
            <a:ext cx="548640" cy="274320"/>
          </a:xfrm>
          <a:prstGeom prst="rect">
            <a:avLst/>
          </a:prstGeom>
          <a:noFill/>
          <a:ln/>
        </p:spPr>
        <p:txBody>
          <a:bodyPr wrap="square" lIns="0" tIns="0" rIns="0" bIns="0" rtlCol="0" anchor="ctr"/>
          <a:lstStyle/>
          <a:p>
            <a:pPr algn="l" indent="0" marL="0">
              <a:buNone/>
            </a:pPr>
            <a:r>
              <a:rPr lang="en-US" sz="1200" b="1" dirty="0">
                <a:solidFill>
                  <a:srgbClr val="A12B2B"/>
                </a:solidFill>
                <a:latin typeface="Courier New" pitchFamily="34" charset="0"/>
                <a:ea typeface="Courier New" pitchFamily="34" charset="-122"/>
                <a:cs typeface="Courier New" pitchFamily="34" charset="-120"/>
              </a:rPr>
              <a:t>R-06</a:t>
            </a:r>
            <a:endParaRPr lang="en-US" sz="1200" dirty="0"/>
          </a:p>
        </p:txBody>
      </p:sp>
      <p:sp>
        <p:nvSpPr>
          <p:cNvPr id="17" name="Text 15"/>
          <p:cNvSpPr txBox="1"/>
          <p:nvPr/>
        </p:nvSpPr>
        <p:spPr>
          <a:xfrm>
            <a:off x="1261872" y="3730752"/>
            <a:ext cx="2331720" cy="274320"/>
          </a:xfrm>
          <a:prstGeom prst="rect">
            <a:avLst/>
          </a:prstGeom>
          <a:noFill/>
          <a:ln/>
        </p:spPr>
        <p:txBody>
          <a:bodyPr wrap="square" lIns="0" tIns="0" rIns="0" bIns="0" rtlCol="0" anchor="ctr"/>
          <a:lstStyle/>
          <a:p>
            <a:pPr algn="l" indent="0" marL="0">
              <a:buNone/>
            </a:pPr>
            <a:r>
              <a:rPr lang="en-US" sz="1300" dirty="0">
                <a:solidFill>
                  <a:schemeClr val="tx1"/>
                </a:solidFill>
                <a:latin typeface="Calibri" pitchFamily="34" charset="0"/>
                <a:ea typeface="Calibri" pitchFamily="34" charset="-122"/>
                <a:cs typeface="Calibri" pitchFamily="34" charset="-120"/>
              </a:rPr>
              <a:t>No lithium, aerosol, flammable</a:t>
            </a:r>
            <a:endParaRPr lang="en-US" sz="1300" dirty="0"/>
          </a:p>
        </p:txBody>
      </p:sp>
      <p:sp>
        <p:nvSpPr>
          <p:cNvPr id="18" name="Shape 16"/>
          <p:cNvSpPr/>
          <p:nvPr/>
        </p:nvSpPr>
        <p:spPr>
          <a:xfrm>
            <a:off x="548640" y="4151376"/>
            <a:ext cx="3017520" cy="274320"/>
          </a:xfrm>
          <a:prstGeom prst="roundRect">
            <a:avLst>
              <a:gd name="adj" fmla="val 50000"/>
            </a:avLst>
          </a:prstGeom>
          <a:solidFill>
            <a:srgbClr val="FCF0D6"/>
          </a:solidFill>
          <a:ln/>
        </p:spPr>
      </p:sp>
      <p:sp>
        <p:nvSpPr>
          <p:cNvPr id="19" name="Text 17"/>
          <p:cNvSpPr txBox="1"/>
          <p:nvPr/>
        </p:nvSpPr>
        <p:spPr>
          <a:xfrm>
            <a:off x="548640" y="4151376"/>
            <a:ext cx="3017520" cy="274320"/>
          </a:xfrm>
          <a:prstGeom prst="rect">
            <a:avLst/>
          </a:prstGeom>
          <a:noFill/>
          <a:ln/>
        </p:spPr>
        <p:txBody>
          <a:bodyPr wrap="square" lIns="0" tIns="0" rIns="0" bIns="0" rtlCol="0" anchor="ctr"/>
          <a:lstStyle/>
          <a:p>
            <a:pPr algn="ctr" indent="0" marL="0">
              <a:buNone/>
            </a:pPr>
            <a:r>
              <a:rPr lang="en-US" sz="1100" b="1" dirty="0">
                <a:solidFill>
                  <a:srgbClr val="8A5A00"/>
                </a:solidFill>
                <a:latin typeface="Calibri" pitchFamily="34" charset="0"/>
                <a:ea typeface="Calibri" pitchFamily="34" charset="-122"/>
                <a:cs typeface="Calibri" pitchFamily="34" charset="-120"/>
              </a:rPr>
              <a:t>AMBER: risky, check it</a:t>
            </a:r>
            <a:endParaRPr lang="en-US" sz="1100" dirty="0"/>
          </a:p>
        </p:txBody>
      </p:sp>
      <p:sp>
        <p:nvSpPr>
          <p:cNvPr id="20" name="Text 18"/>
          <p:cNvSpPr txBox="1"/>
          <p:nvPr/>
        </p:nvSpPr>
        <p:spPr>
          <a:xfrm>
            <a:off x="640080" y="4517136"/>
            <a:ext cx="548640" cy="274320"/>
          </a:xfrm>
          <a:prstGeom prst="rect">
            <a:avLst/>
          </a:prstGeom>
          <a:noFill/>
          <a:ln/>
        </p:spPr>
        <p:txBody>
          <a:bodyPr wrap="square" lIns="0" tIns="0" rIns="0" bIns="0" rtlCol="0" anchor="ctr"/>
          <a:lstStyle/>
          <a:p>
            <a:pPr algn="l" indent="0" marL="0">
              <a:buNone/>
            </a:pPr>
            <a:r>
              <a:rPr lang="en-US" sz="1200" b="1" dirty="0">
                <a:solidFill>
                  <a:srgbClr val="8A5A00"/>
                </a:solidFill>
                <a:latin typeface="Courier New" pitchFamily="34" charset="0"/>
                <a:ea typeface="Courier New" pitchFamily="34" charset="-122"/>
                <a:cs typeface="Courier New" pitchFamily="34" charset="-120"/>
              </a:rPr>
              <a:t>R-07</a:t>
            </a:r>
            <a:endParaRPr lang="en-US" sz="1200" dirty="0"/>
          </a:p>
        </p:txBody>
      </p:sp>
      <p:sp>
        <p:nvSpPr>
          <p:cNvPr id="21" name="Text 19"/>
          <p:cNvSpPr txBox="1"/>
          <p:nvPr/>
        </p:nvSpPr>
        <p:spPr>
          <a:xfrm>
            <a:off x="1261872" y="4517136"/>
            <a:ext cx="2331720" cy="274320"/>
          </a:xfrm>
          <a:prstGeom prst="rect">
            <a:avLst/>
          </a:prstGeom>
          <a:noFill/>
          <a:ln/>
        </p:spPr>
        <p:txBody>
          <a:bodyPr wrap="square" lIns="0" tIns="0" rIns="0" bIns="0" rtlCol="0" anchor="ctr"/>
          <a:lstStyle/>
          <a:p>
            <a:pPr algn="l" indent="0" marL="0">
              <a:buNone/>
            </a:pPr>
            <a:r>
              <a:rPr lang="en-US" sz="1300" dirty="0">
                <a:solidFill>
                  <a:schemeClr val="tx1"/>
                </a:solidFill>
                <a:latin typeface="Calibri" pitchFamily="34" charset="0"/>
                <a:ea typeface="Calibri" pitchFamily="34" charset="-122"/>
                <a:cs typeface="Calibri" pitchFamily="34" charset="-120"/>
              </a:rPr>
              <a:t>Gross ≥ sum of unit weights</a:t>
            </a:r>
            <a:endParaRPr lang="en-US" sz="1300" dirty="0"/>
          </a:p>
        </p:txBody>
      </p:sp>
      <p:sp>
        <p:nvSpPr>
          <p:cNvPr id="22" name="Text 20"/>
          <p:cNvSpPr txBox="1"/>
          <p:nvPr/>
        </p:nvSpPr>
        <p:spPr>
          <a:xfrm>
            <a:off x="640080" y="4828032"/>
            <a:ext cx="548640" cy="274320"/>
          </a:xfrm>
          <a:prstGeom prst="rect">
            <a:avLst/>
          </a:prstGeom>
          <a:noFill/>
          <a:ln/>
        </p:spPr>
        <p:txBody>
          <a:bodyPr wrap="square" lIns="0" tIns="0" rIns="0" bIns="0" rtlCol="0" anchor="ctr"/>
          <a:lstStyle/>
          <a:p>
            <a:pPr algn="l" indent="0" marL="0">
              <a:buNone/>
            </a:pPr>
            <a:r>
              <a:rPr lang="en-US" sz="1200" b="1" dirty="0">
                <a:solidFill>
                  <a:srgbClr val="8A5A00"/>
                </a:solidFill>
                <a:latin typeface="Courier New" pitchFamily="34" charset="0"/>
                <a:ea typeface="Courier New" pitchFamily="34" charset="-122"/>
                <a:cs typeface="Courier New" pitchFamily="34" charset="-120"/>
              </a:rPr>
              <a:t>R-08</a:t>
            </a:r>
            <a:endParaRPr lang="en-US" sz="1200" dirty="0"/>
          </a:p>
        </p:txBody>
      </p:sp>
      <p:sp>
        <p:nvSpPr>
          <p:cNvPr id="23" name="Text 21"/>
          <p:cNvSpPr txBox="1"/>
          <p:nvPr/>
        </p:nvSpPr>
        <p:spPr>
          <a:xfrm>
            <a:off x="1261872" y="4828032"/>
            <a:ext cx="2331720" cy="274320"/>
          </a:xfrm>
          <a:prstGeom prst="rect">
            <a:avLst/>
          </a:prstGeom>
          <a:noFill/>
          <a:ln/>
        </p:spPr>
        <p:txBody>
          <a:bodyPr wrap="square" lIns="0" tIns="0" rIns="0" bIns="0" rtlCol="0" anchor="ctr"/>
          <a:lstStyle/>
          <a:p>
            <a:pPr algn="l" indent="0" marL="0">
              <a:buNone/>
            </a:pPr>
            <a:r>
              <a:rPr lang="en-US" sz="1300" dirty="0">
                <a:solidFill>
                  <a:schemeClr val="tx1"/>
                </a:solidFill>
                <a:latin typeface="Calibri" pitchFamily="34" charset="0"/>
                <a:ea typeface="Calibri" pitchFamily="34" charset="-122"/>
                <a:cs typeface="Calibri" pitchFamily="34" charset="-120"/>
              </a:rPr>
              <a:t>Warehouse needs a slot</a:t>
            </a:r>
            <a:endParaRPr lang="en-US" sz="1300" dirty="0"/>
          </a:p>
        </p:txBody>
      </p:sp>
      <p:sp>
        <p:nvSpPr>
          <p:cNvPr id="24" name="Text 22"/>
          <p:cNvSpPr txBox="1"/>
          <p:nvPr/>
        </p:nvSpPr>
        <p:spPr>
          <a:xfrm>
            <a:off x="640080" y="5138928"/>
            <a:ext cx="548640" cy="274320"/>
          </a:xfrm>
          <a:prstGeom prst="rect">
            <a:avLst/>
          </a:prstGeom>
          <a:noFill/>
          <a:ln/>
        </p:spPr>
        <p:txBody>
          <a:bodyPr wrap="square" lIns="0" tIns="0" rIns="0" bIns="0" rtlCol="0" anchor="ctr"/>
          <a:lstStyle/>
          <a:p>
            <a:pPr algn="l" indent="0" marL="0">
              <a:buNone/>
            </a:pPr>
            <a:r>
              <a:rPr lang="en-US" sz="1200" b="1" dirty="0">
                <a:solidFill>
                  <a:srgbClr val="8A5A00"/>
                </a:solidFill>
                <a:latin typeface="Courier New" pitchFamily="34" charset="0"/>
                <a:ea typeface="Courier New" pitchFamily="34" charset="-122"/>
                <a:cs typeface="Courier New" pitchFamily="34" charset="-120"/>
              </a:rPr>
              <a:t>R-09</a:t>
            </a:r>
            <a:endParaRPr lang="en-US" sz="1200" dirty="0"/>
          </a:p>
        </p:txBody>
      </p:sp>
      <p:sp>
        <p:nvSpPr>
          <p:cNvPr id="25" name="Text 23"/>
          <p:cNvSpPr txBox="1"/>
          <p:nvPr/>
        </p:nvSpPr>
        <p:spPr>
          <a:xfrm>
            <a:off x="1261872" y="5138928"/>
            <a:ext cx="2331720" cy="274320"/>
          </a:xfrm>
          <a:prstGeom prst="rect">
            <a:avLst/>
          </a:prstGeom>
          <a:noFill/>
          <a:ln/>
        </p:spPr>
        <p:txBody>
          <a:bodyPr wrap="square" lIns="0" tIns="0" rIns="0" bIns="0" rtlCol="0" anchor="ctr"/>
          <a:lstStyle/>
          <a:p>
            <a:pPr algn="l" indent="0" marL="0">
              <a:buNone/>
            </a:pPr>
            <a:r>
              <a:rPr lang="en-US" sz="1300" dirty="0">
                <a:solidFill>
                  <a:schemeClr val="tx1"/>
                </a:solidFill>
                <a:latin typeface="Calibri" pitchFamily="34" charset="0"/>
                <a:ea typeface="Calibri" pitchFamily="34" charset="-122"/>
                <a:cs typeface="Calibri" pitchFamily="34" charset="-120"/>
              </a:rPr>
              <a:t>Country of origin present</a:t>
            </a:r>
            <a:endParaRPr lang="en-US" sz="1300" dirty="0"/>
          </a:p>
        </p:txBody>
      </p:sp>
      <p:sp>
        <p:nvSpPr>
          <p:cNvPr id="26" name="Text 24"/>
          <p:cNvSpPr txBox="1"/>
          <p:nvPr/>
        </p:nvSpPr>
        <p:spPr>
          <a:xfrm>
            <a:off x="640080" y="5449824"/>
            <a:ext cx="548640" cy="274320"/>
          </a:xfrm>
          <a:prstGeom prst="rect">
            <a:avLst/>
          </a:prstGeom>
          <a:noFill/>
          <a:ln/>
        </p:spPr>
        <p:txBody>
          <a:bodyPr wrap="square" lIns="0" tIns="0" rIns="0" bIns="0" rtlCol="0" anchor="ctr"/>
          <a:lstStyle/>
          <a:p>
            <a:pPr algn="l" indent="0" marL="0">
              <a:buNone/>
            </a:pPr>
            <a:r>
              <a:rPr lang="en-US" sz="1200" b="1" dirty="0">
                <a:solidFill>
                  <a:srgbClr val="8A5A00"/>
                </a:solidFill>
                <a:latin typeface="Courier New" pitchFamily="34" charset="0"/>
                <a:ea typeface="Courier New" pitchFamily="34" charset="-122"/>
                <a:cs typeface="Courier New" pitchFamily="34" charset="-120"/>
              </a:rPr>
              <a:t>R-10</a:t>
            </a:r>
            <a:endParaRPr lang="en-US" sz="1200" dirty="0"/>
          </a:p>
        </p:txBody>
      </p:sp>
      <p:sp>
        <p:nvSpPr>
          <p:cNvPr id="27" name="Text 25"/>
          <p:cNvSpPr txBox="1"/>
          <p:nvPr/>
        </p:nvSpPr>
        <p:spPr>
          <a:xfrm>
            <a:off x="1261872" y="5449824"/>
            <a:ext cx="2331720" cy="274320"/>
          </a:xfrm>
          <a:prstGeom prst="rect">
            <a:avLst/>
          </a:prstGeom>
          <a:noFill/>
          <a:ln/>
        </p:spPr>
        <p:txBody>
          <a:bodyPr wrap="square" lIns="0" tIns="0" rIns="0" bIns="0" rtlCol="0" anchor="ctr"/>
          <a:lstStyle/>
          <a:p>
            <a:pPr algn="l" indent="0" marL="0">
              <a:buNone/>
            </a:pPr>
            <a:r>
              <a:rPr lang="en-US" sz="1300" dirty="0">
                <a:solidFill>
                  <a:schemeClr val="tx1"/>
                </a:solidFill>
                <a:latin typeface="Calibri" pitchFamily="34" charset="0"/>
                <a:ea typeface="Calibri" pitchFamily="34" charset="-122"/>
                <a:cs typeface="Calibri" pitchFamily="34" charset="-120"/>
              </a:rPr>
              <a:t>Ready date not in the past</a:t>
            </a:r>
            <a:endParaRPr lang="en-US" sz="1300" dirty="0"/>
          </a:p>
        </p:txBody>
      </p:sp>
      <p:sp>
        <p:nvSpPr>
          <p:cNvPr id="28" name="Shape 26"/>
          <p:cNvSpPr/>
          <p:nvPr/>
        </p:nvSpPr>
        <p:spPr>
          <a:xfrm>
            <a:off x="3931920" y="1508760"/>
            <a:ext cx="3886200" cy="4709160"/>
          </a:xfrm>
          <a:prstGeom prst="roundRect">
            <a:avLst>
              <a:gd name="adj" fmla="val 2824"/>
            </a:avLst>
          </a:prstGeom>
          <a:solidFill>
            <a:schemeClr val="bg1"/>
          </a:solidFill>
          <a:ln w="9525">
            <a:solidFill>
              <a:srgbClr val="DADCD6"/>
            </a:solidFill>
            <a:prstDash val="solid"/>
          </a:ln>
          <a:effectLst>
            <a:outerShdw sx="100000" sy="100000" kx="0" ky="0" algn="bl" rotWithShape="0" blurRad="127000" dist="38100" dir="5400000">
              <a:srgbClr val="000000">
                <a:alpha val="12000"/>
              </a:srgbClr>
            </a:outerShdw>
          </a:effectLst>
        </p:spPr>
      </p:sp>
      <p:sp>
        <p:nvSpPr>
          <p:cNvPr id="29" name="Shape 27"/>
          <p:cNvSpPr/>
          <p:nvPr/>
        </p:nvSpPr>
        <p:spPr>
          <a:xfrm>
            <a:off x="4114800" y="1664208"/>
            <a:ext cx="1005840" cy="256032"/>
          </a:xfrm>
          <a:prstGeom prst="roundRect">
            <a:avLst>
              <a:gd name="adj" fmla="val 50000"/>
            </a:avLst>
          </a:prstGeom>
          <a:solidFill>
            <a:srgbClr val="FBE4E2"/>
          </a:solidFill>
          <a:ln/>
        </p:spPr>
      </p:sp>
      <p:sp>
        <p:nvSpPr>
          <p:cNvPr id="30" name="Text 28"/>
          <p:cNvSpPr txBox="1"/>
          <p:nvPr/>
        </p:nvSpPr>
        <p:spPr>
          <a:xfrm>
            <a:off x="4114800" y="1664208"/>
            <a:ext cx="1005840" cy="256032"/>
          </a:xfrm>
          <a:prstGeom prst="rect">
            <a:avLst/>
          </a:prstGeom>
          <a:noFill/>
          <a:ln/>
        </p:spPr>
        <p:txBody>
          <a:bodyPr wrap="square" lIns="0" tIns="0" rIns="0" bIns="0" rtlCol="0" anchor="ctr"/>
          <a:lstStyle/>
          <a:p>
            <a:pPr algn="ctr" indent="0" marL="0">
              <a:buNone/>
            </a:pPr>
            <a:r>
              <a:rPr lang="en-US" sz="1100" b="1" dirty="0">
                <a:solidFill>
                  <a:srgbClr val="A12B2B"/>
                </a:solidFill>
                <a:latin typeface="Courier New" pitchFamily="34" charset="0"/>
                <a:ea typeface="Courier New" pitchFamily="34" charset="-122"/>
                <a:cs typeface="Courier New" pitchFamily="34" charset="-120"/>
              </a:rPr>
              <a:t>R-03  RED</a:t>
            </a:r>
            <a:endParaRPr lang="en-US" sz="1100" dirty="0"/>
          </a:p>
        </p:txBody>
      </p:sp>
      <p:sp>
        <p:nvSpPr>
          <p:cNvPr id="31" name="Text 29"/>
          <p:cNvSpPr txBox="1"/>
          <p:nvPr/>
        </p:nvSpPr>
        <p:spPr>
          <a:xfrm>
            <a:off x="5257800" y="1664208"/>
            <a:ext cx="2377440" cy="256032"/>
          </a:xfrm>
          <a:prstGeom prst="rect">
            <a:avLst/>
          </a:prstGeom>
          <a:noFill/>
          <a:ln/>
        </p:spPr>
        <p:txBody>
          <a:bodyPr wrap="square" lIns="0" tIns="0" rIns="0" bIns="0" rtlCol="0" anchor="ctr"/>
          <a:lstStyle/>
          <a:p>
            <a:pPr algn="l" indent="0" marL="0">
              <a:buNone/>
            </a:pPr>
            <a:r>
              <a:rPr lang="en-US" sz="1300" b="1" dirty="0">
                <a:solidFill>
                  <a:schemeClr val="tx1"/>
                </a:solidFill>
                <a:latin typeface="Calibri" pitchFamily="34" charset="0"/>
                <a:ea typeface="Calibri" pitchFamily="34" charset="-122"/>
                <a:cs typeface="Calibri" pitchFamily="34" charset="-120"/>
              </a:rPr>
              <a:t>Carton quantity, BK-203</a:t>
            </a:r>
            <a:endParaRPr lang="en-US" sz="1300" dirty="0"/>
          </a:p>
        </p:txBody>
      </p:sp>
      <p:sp>
        <p:nvSpPr>
          <p:cNvPr id="32" name="Shape 30"/>
          <p:cNvSpPr/>
          <p:nvPr/>
        </p:nvSpPr>
        <p:spPr>
          <a:xfrm>
            <a:off x="4114800" y="2103120"/>
            <a:ext cx="1600200" cy="1051560"/>
          </a:xfrm>
          <a:prstGeom prst="roundRect">
            <a:avLst>
              <a:gd name="adj" fmla="val 8696"/>
            </a:avLst>
          </a:prstGeom>
          <a:solidFill>
            <a:srgbClr val="EEF5CF"/>
          </a:solidFill>
          <a:ln/>
        </p:spPr>
      </p:sp>
      <p:sp>
        <p:nvSpPr>
          <p:cNvPr id="33" name="Text 31"/>
          <p:cNvSpPr txBox="1"/>
          <p:nvPr/>
        </p:nvSpPr>
        <p:spPr>
          <a:xfrm>
            <a:off x="4114800" y="2157984"/>
            <a:ext cx="1600200" cy="502920"/>
          </a:xfrm>
          <a:prstGeom prst="rect">
            <a:avLst/>
          </a:prstGeom>
          <a:noFill/>
          <a:ln/>
        </p:spPr>
        <p:txBody>
          <a:bodyPr wrap="square" lIns="0" tIns="0" rIns="0" bIns="0" rtlCol="0" anchor="t"/>
          <a:lstStyle/>
          <a:p>
            <a:pPr algn="ctr" indent="0" marL="0">
              <a:buNone/>
            </a:pPr>
            <a:r>
              <a:rPr lang="en-US" sz="3200" b="1" dirty="0">
                <a:solidFill>
                  <a:schemeClr val="tx1"/>
                </a:solidFill>
                <a:latin typeface="Calibri" pitchFamily="34" charset="0"/>
                <a:ea typeface="Calibri" pitchFamily="34" charset="-122"/>
                <a:cs typeface="Calibri" pitchFamily="34" charset="-120"/>
              </a:rPr>
              <a:t>1,080</a:t>
            </a:r>
            <a:endParaRPr lang="en-US" sz="3200" dirty="0"/>
          </a:p>
        </p:txBody>
      </p:sp>
      <p:sp>
        <p:nvSpPr>
          <p:cNvPr id="34" name="Text 32"/>
          <p:cNvSpPr txBox="1"/>
          <p:nvPr/>
        </p:nvSpPr>
        <p:spPr>
          <a:xfrm>
            <a:off x="4114800" y="2724912"/>
            <a:ext cx="1600200" cy="274320"/>
          </a:xfrm>
          <a:prstGeom prst="rect">
            <a:avLst/>
          </a:prstGeom>
          <a:noFill/>
          <a:ln/>
        </p:spPr>
        <p:txBody>
          <a:bodyPr wrap="square" lIns="0" tIns="0" rIns="0" bIns="0" rtlCol="0" anchor="t"/>
          <a:lstStyle/>
          <a:p>
            <a:pPr algn="ctr" indent="0" marL="0">
              <a:buNone/>
            </a:pPr>
            <a:r>
              <a:rPr lang="en-US" sz="1200" dirty="0">
                <a:solidFill>
                  <a:srgbClr val="3A3D42"/>
                </a:solidFill>
                <a:latin typeface="Calibri" pitchFamily="34" charset="0"/>
                <a:ea typeface="Calibri" pitchFamily="34" charset="-122"/>
                <a:cs typeface="Calibri" pitchFamily="34" charset="-120"/>
              </a:rPr>
              <a:t>units declared</a:t>
            </a:r>
            <a:endParaRPr lang="en-US" sz="1200" dirty="0"/>
          </a:p>
        </p:txBody>
      </p:sp>
      <p:sp>
        <p:nvSpPr>
          <p:cNvPr id="35" name="Text 33"/>
          <p:cNvSpPr txBox="1"/>
          <p:nvPr/>
        </p:nvSpPr>
        <p:spPr>
          <a:xfrm>
            <a:off x="5715000" y="2331720"/>
            <a:ext cx="320040" cy="548640"/>
          </a:xfrm>
          <a:prstGeom prst="rect">
            <a:avLst/>
          </a:prstGeom>
          <a:noFill/>
          <a:ln/>
        </p:spPr>
        <p:txBody>
          <a:bodyPr wrap="square" lIns="0" tIns="0" rIns="0" bIns="0" rtlCol="0" anchor="t"/>
          <a:lstStyle/>
          <a:p>
            <a:pPr algn="ctr" indent="0" marL="0">
              <a:buNone/>
            </a:pPr>
            <a:r>
              <a:rPr lang="en-US" sz="2600" b="1" dirty="0">
                <a:solidFill>
                  <a:schemeClr val="accent3"/>
                </a:solidFill>
                <a:latin typeface="Calibri" pitchFamily="34" charset="0"/>
                <a:ea typeface="Calibri" pitchFamily="34" charset="-122"/>
                <a:cs typeface="Calibri" pitchFamily="34" charset="-120"/>
              </a:rPr>
              <a:t>≠</a:t>
            </a:r>
            <a:endParaRPr lang="en-US" sz="2600" dirty="0"/>
          </a:p>
        </p:txBody>
      </p:sp>
      <p:sp>
        <p:nvSpPr>
          <p:cNvPr id="36" name="Shape 34"/>
          <p:cNvSpPr/>
          <p:nvPr/>
        </p:nvSpPr>
        <p:spPr>
          <a:xfrm>
            <a:off x="6035040" y="2103120"/>
            <a:ext cx="1600200" cy="1051560"/>
          </a:xfrm>
          <a:prstGeom prst="roundRect">
            <a:avLst>
              <a:gd name="adj" fmla="val 8696"/>
            </a:avLst>
          </a:prstGeom>
          <a:solidFill>
            <a:srgbClr val="FBE4E2"/>
          </a:solidFill>
          <a:ln/>
        </p:spPr>
      </p:sp>
      <p:sp>
        <p:nvSpPr>
          <p:cNvPr id="37" name="Text 35"/>
          <p:cNvSpPr txBox="1"/>
          <p:nvPr/>
        </p:nvSpPr>
        <p:spPr>
          <a:xfrm>
            <a:off x="6035040" y="2157984"/>
            <a:ext cx="1600200" cy="502920"/>
          </a:xfrm>
          <a:prstGeom prst="rect">
            <a:avLst/>
          </a:prstGeom>
          <a:noFill/>
          <a:ln/>
        </p:spPr>
        <p:txBody>
          <a:bodyPr wrap="square" lIns="0" tIns="0" rIns="0" bIns="0" rtlCol="0" anchor="t"/>
          <a:lstStyle/>
          <a:p>
            <a:pPr algn="ctr" indent="0" marL="0">
              <a:buNone/>
            </a:pPr>
            <a:r>
              <a:rPr lang="en-US" sz="3200" b="1" dirty="0">
                <a:solidFill>
                  <a:srgbClr val="A12B2B"/>
                </a:solidFill>
                <a:latin typeface="Calibri" pitchFamily="34" charset="0"/>
                <a:ea typeface="Calibri" pitchFamily="34" charset="-122"/>
                <a:cs typeface="Calibri" pitchFamily="34" charset="-120"/>
              </a:rPr>
              <a:t>960</a:t>
            </a:r>
            <a:endParaRPr lang="en-US" sz="3200" dirty="0"/>
          </a:p>
        </p:txBody>
      </p:sp>
      <p:sp>
        <p:nvSpPr>
          <p:cNvPr id="38" name="Text 36"/>
          <p:cNvSpPr txBox="1"/>
          <p:nvPr/>
        </p:nvSpPr>
        <p:spPr>
          <a:xfrm>
            <a:off x="6035040" y="2724912"/>
            <a:ext cx="1600200" cy="274320"/>
          </a:xfrm>
          <a:prstGeom prst="rect">
            <a:avLst/>
          </a:prstGeom>
          <a:noFill/>
          <a:ln/>
        </p:spPr>
        <p:txBody>
          <a:bodyPr wrap="square" lIns="0" tIns="0" rIns="0" bIns="0" rtlCol="0" anchor="t"/>
          <a:lstStyle/>
          <a:p>
            <a:pPr algn="ctr" indent="0" marL="0">
              <a:buNone/>
            </a:pPr>
            <a:r>
              <a:rPr lang="en-US" sz="1200" dirty="0">
                <a:solidFill>
                  <a:srgbClr val="3A3D42"/>
                </a:solidFill>
                <a:latin typeface="Calibri" pitchFamily="34" charset="0"/>
                <a:ea typeface="Calibri" pitchFamily="34" charset="-122"/>
                <a:cs typeface="Calibri" pitchFamily="34" charset="-120"/>
              </a:rPr>
              <a:t>12 units × 80 cartons</a:t>
            </a:r>
            <a:endParaRPr lang="en-US" sz="1200" dirty="0"/>
          </a:p>
        </p:txBody>
      </p:sp>
      <p:sp>
        <p:nvSpPr>
          <p:cNvPr id="39" name="Text 37"/>
          <p:cNvSpPr txBox="1"/>
          <p:nvPr/>
        </p:nvSpPr>
        <p:spPr>
          <a:xfrm>
            <a:off x="4114800" y="3337560"/>
            <a:ext cx="3520440" cy="640080"/>
          </a:xfrm>
          <a:prstGeom prst="rect">
            <a:avLst/>
          </a:prstGeom>
          <a:noFill/>
          <a:ln/>
        </p:spPr>
        <p:txBody>
          <a:bodyPr wrap="square" lIns="0" tIns="0" rIns="0" bIns="0" rtlCol="0" anchor="t"/>
          <a:lstStyle/>
          <a:p>
            <a:pPr algn="l" indent="0" marL="0">
              <a:buNone/>
            </a:pPr>
            <a:r>
              <a:rPr lang="en-US" sz="1400" b="1" dirty="0">
                <a:solidFill>
                  <a:schemeClr val="tx1"/>
                </a:solidFill>
                <a:latin typeface="Calibri" pitchFamily="34" charset="0"/>
                <a:ea typeface="Calibri" pitchFamily="34" charset="-122"/>
                <a:cs typeface="Calibri" pitchFamily="34" charset="-120"/>
              </a:rPr>
              <a:t>To fix: </a:t>
            </a:r>
            <a:pPr algn="l" indent="0" marL="0">
              <a:buNone/>
            </a:pPr>
            <a:r>
              <a:rPr lang="en-US" sz="1400" dirty="0">
                <a:solidFill>
                  <a:schemeClr val="tx1"/>
                </a:solidFill>
                <a:latin typeface="Calibri" pitchFamily="34" charset="0"/>
                <a:ea typeface="Calibri" pitchFamily="34" charset="-122"/>
                <a:cs typeface="Calibri" pitchFamily="34" charset="-120"/>
              </a:rPr>
              <a:t>update cartons to 90, or quantity to 960, after checking physical stock.</a:t>
            </a:r>
            <a:endParaRPr lang="en-US" sz="1400" dirty="0"/>
          </a:p>
        </p:txBody>
      </p:sp>
      <p:sp>
        <p:nvSpPr>
          <p:cNvPr id="40" name="Text 38"/>
          <p:cNvSpPr txBox="1"/>
          <p:nvPr/>
        </p:nvSpPr>
        <p:spPr>
          <a:xfrm>
            <a:off x="4114800" y="4023360"/>
            <a:ext cx="3520440" cy="457200"/>
          </a:xfrm>
          <a:prstGeom prst="rect">
            <a:avLst/>
          </a:prstGeom>
          <a:noFill/>
          <a:ln/>
        </p:spPr>
        <p:txBody>
          <a:bodyPr wrap="square" lIns="0" tIns="0" rIns="0" bIns="0" rtlCol="0" anchor="t"/>
          <a:lstStyle/>
          <a:p>
            <a:pPr algn="l" indent="0" marL="0">
              <a:buNone/>
            </a:pPr>
            <a:r>
              <a:rPr lang="en-US" sz="1200" dirty="0">
                <a:solidFill>
                  <a:schemeClr val="accent5"/>
                </a:solidFill>
                <a:latin typeface="Calibri" pitchFamily="34" charset="0"/>
                <a:ea typeface="Calibri" pitchFamily="34" charset="-122"/>
                <a:cs typeface="Calibri" pitchFamily="34" charset="-120"/>
              </a:rPr>
              <a:t>Offers both directions and never edits the seller’s data. The booking is Blocked until fixed.</a:t>
            </a:r>
            <a:endParaRPr lang="en-US" sz="1200" dirty="0"/>
          </a:p>
        </p:txBody>
      </p:sp>
      <p:pic>
        <p:nvPicPr>
          <p:cNvPr id="41" name="Image 0" descr="Live app output for rule R-03">    </p:cNvPr>
          <p:cNvPicPr>
            <a:picLocks noChangeAspect="1"/>
          </p:cNvPicPr>
          <p:nvPr/>
        </p:nvPicPr>
        <p:blipFill>
          <a:blip r:embed="rId1"/>
          <a:stretch>
            <a:fillRect/>
          </a:stretch>
        </p:blipFill>
        <p:spPr>
          <a:xfrm>
            <a:off x="4114800" y="4572000"/>
            <a:ext cx="3520440" cy="1190487"/>
          </a:xfrm>
          <a:prstGeom prst="rect">
            <a:avLst/>
          </a:prstGeom>
        </p:spPr>
      </p:pic>
      <p:sp>
        <p:nvSpPr>
          <p:cNvPr id="42" name="Text 39"/>
          <p:cNvSpPr txBox="1"/>
          <p:nvPr/>
        </p:nvSpPr>
        <p:spPr>
          <a:xfrm>
            <a:off x="4114800" y="5897880"/>
            <a:ext cx="3520440" cy="228600"/>
          </a:xfrm>
          <a:prstGeom prst="rect">
            <a:avLst/>
          </a:prstGeom>
          <a:noFill/>
          <a:ln/>
        </p:spPr>
        <p:txBody>
          <a:bodyPr wrap="square" lIns="0" tIns="0" rIns="0" bIns="0" rtlCol="0" anchor="t"/>
          <a:lstStyle/>
          <a:p>
            <a:pPr algn="l" indent="0" marL="0">
              <a:buNone/>
            </a:pPr>
            <a:r>
              <a:rPr lang="en-US" sz="1000" dirty="0">
                <a:solidFill>
                  <a:schemeClr val="accent5"/>
                </a:solidFill>
                <a:latin typeface="Calibri" pitchFamily="34" charset="0"/>
                <a:ea typeface="Calibri" pitchFamily="34" charset="-122"/>
                <a:cs typeface="Calibri" pitchFamily="34" charset="-120"/>
              </a:rPr>
              <a:t>Actual output from the live app</a:t>
            </a:r>
            <a:endParaRPr lang="en-US" sz="1000" dirty="0"/>
          </a:p>
        </p:txBody>
      </p:sp>
      <p:sp>
        <p:nvSpPr>
          <p:cNvPr id="43" name="Text 40"/>
          <p:cNvSpPr txBox="1"/>
          <p:nvPr/>
        </p:nvSpPr>
        <p:spPr>
          <a:xfrm>
            <a:off x="8092440" y="1508760"/>
            <a:ext cx="3547872" cy="320040"/>
          </a:xfrm>
          <a:prstGeom prst="rect">
            <a:avLst/>
          </a:prstGeom>
          <a:noFill/>
          <a:ln/>
        </p:spPr>
        <p:txBody>
          <a:bodyPr wrap="square" lIns="0" tIns="0" rIns="0" bIns="0" rtlCol="0" anchor="t"/>
          <a:lstStyle/>
          <a:p>
            <a:pPr algn="l" indent="0" marL="0">
              <a:buNone/>
            </a:pPr>
            <a:r>
              <a:rPr lang="en-US" sz="1700" b="1" dirty="0">
                <a:solidFill>
                  <a:schemeClr val="tx1"/>
                </a:solidFill>
                <a:latin typeface="Calibri" pitchFamily="34" charset="0"/>
                <a:ea typeface="Calibri" pitchFamily="34" charset="-122"/>
                <a:cs typeface="Calibri" pitchFamily="34" charset="-120"/>
              </a:rPr>
              <a:t>How the carrier is picked</a:t>
            </a:r>
            <a:endParaRPr lang="en-US" sz="1700" dirty="0"/>
          </a:p>
        </p:txBody>
      </p:sp>
      <p:sp>
        <p:nvSpPr>
          <p:cNvPr id="44" name="Shape 41"/>
          <p:cNvSpPr/>
          <p:nvPr/>
        </p:nvSpPr>
        <p:spPr>
          <a:xfrm>
            <a:off x="8092440" y="1920240"/>
            <a:ext cx="274320" cy="274320"/>
          </a:xfrm>
          <a:prstGeom prst="roundRect">
            <a:avLst>
              <a:gd name="adj" fmla="val 50000"/>
            </a:avLst>
          </a:prstGeom>
          <a:solidFill>
            <a:schemeClr val="tx1"/>
          </a:solidFill>
          <a:ln/>
        </p:spPr>
      </p:sp>
      <p:sp>
        <p:nvSpPr>
          <p:cNvPr id="45" name="Text 42"/>
          <p:cNvSpPr txBox="1"/>
          <p:nvPr/>
        </p:nvSpPr>
        <p:spPr>
          <a:xfrm>
            <a:off x="8092440" y="192024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1</a:t>
            </a:r>
            <a:endParaRPr lang="en-US" sz="1200" dirty="0"/>
          </a:p>
        </p:txBody>
      </p:sp>
      <p:sp>
        <p:nvSpPr>
          <p:cNvPr id="46" name="Text 43"/>
          <p:cNvSpPr txBox="1"/>
          <p:nvPr/>
        </p:nvSpPr>
        <p:spPr>
          <a:xfrm>
            <a:off x="8476488" y="1901952"/>
            <a:ext cx="3163824" cy="274320"/>
          </a:xfrm>
          <a:prstGeom prst="rect">
            <a:avLst/>
          </a:prstGeom>
          <a:noFill/>
          <a:ln/>
        </p:spPr>
        <p:txBody>
          <a:bodyPr wrap="square" lIns="0" tIns="0" rIns="0" bIns="0" rtlCol="0" anchor="t"/>
          <a:lstStyle/>
          <a:p>
            <a:pPr algn="l" indent="0" marL="0">
              <a:buNone/>
            </a:pPr>
            <a:r>
              <a:rPr lang="en-US" sz="1300" b="1" dirty="0">
                <a:solidFill>
                  <a:schemeClr val="tx1"/>
                </a:solidFill>
                <a:latin typeface="Calibri" pitchFamily="34" charset="0"/>
                <a:ea typeface="Calibri" pitchFamily="34" charset="-122"/>
                <a:cs typeface="Calibri" pitchFamily="34" charset="-120"/>
              </a:rPr>
              <a:t>Route. </a:t>
            </a:r>
            <a:pPr algn="l" indent="0" marL="0">
              <a:buNone/>
            </a:pPr>
            <a:r>
              <a:rPr lang="en-US" sz="1300" dirty="0">
                <a:solidFill>
                  <a:schemeClr val="tx1"/>
                </a:solidFill>
                <a:latin typeface="Calibri" pitchFamily="34" charset="0"/>
                <a:ea typeface="Calibri" pitchFamily="34" charset="-122"/>
                <a:cs typeface="Calibri" pitchFamily="34" charset="-120"/>
              </a:rPr>
              <a:t>UK to the destination country.</a:t>
            </a:r>
            <a:endParaRPr lang="en-US" sz="1300" dirty="0"/>
          </a:p>
        </p:txBody>
      </p:sp>
      <p:sp>
        <p:nvSpPr>
          <p:cNvPr id="47" name="Shape 44"/>
          <p:cNvSpPr/>
          <p:nvPr/>
        </p:nvSpPr>
        <p:spPr>
          <a:xfrm>
            <a:off x="8092440" y="2267712"/>
            <a:ext cx="274320" cy="274320"/>
          </a:xfrm>
          <a:prstGeom prst="roundRect">
            <a:avLst>
              <a:gd name="adj" fmla="val 50000"/>
            </a:avLst>
          </a:prstGeom>
          <a:solidFill>
            <a:schemeClr val="tx1"/>
          </a:solidFill>
          <a:ln/>
        </p:spPr>
      </p:sp>
      <p:sp>
        <p:nvSpPr>
          <p:cNvPr id="48" name="Text 45"/>
          <p:cNvSpPr txBox="1"/>
          <p:nvPr/>
        </p:nvSpPr>
        <p:spPr>
          <a:xfrm>
            <a:off x="8092440" y="2267712"/>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2</a:t>
            </a:r>
            <a:endParaRPr lang="en-US" sz="1200" dirty="0"/>
          </a:p>
        </p:txBody>
      </p:sp>
      <p:sp>
        <p:nvSpPr>
          <p:cNvPr id="49" name="Text 46"/>
          <p:cNvSpPr txBox="1"/>
          <p:nvPr/>
        </p:nvSpPr>
        <p:spPr>
          <a:xfrm>
            <a:off x="8476488" y="2249424"/>
            <a:ext cx="3163824" cy="548640"/>
          </a:xfrm>
          <a:prstGeom prst="rect">
            <a:avLst/>
          </a:prstGeom>
          <a:noFill/>
          <a:ln/>
        </p:spPr>
        <p:txBody>
          <a:bodyPr wrap="square" lIns="0" tIns="0" rIns="0" bIns="0" rtlCol="0" anchor="t"/>
          <a:lstStyle/>
          <a:p>
            <a:pPr algn="l" indent="0" marL="0">
              <a:buNone/>
            </a:pPr>
            <a:r>
              <a:rPr lang="en-US" sz="1300" b="1" dirty="0">
                <a:solidFill>
                  <a:schemeClr val="tx1"/>
                </a:solidFill>
                <a:latin typeface="Calibri" pitchFamily="34" charset="0"/>
                <a:ea typeface="Calibri" pitchFamily="34" charset="-122"/>
                <a:cs typeface="Calibri" pitchFamily="34" charset="-120"/>
              </a:rPr>
              <a:t>Weight. </a:t>
            </a:r>
            <a:pPr algn="l" indent="0" marL="0">
              <a:buNone/>
            </a:pPr>
            <a:r>
              <a:rPr lang="en-US" sz="1300" dirty="0">
                <a:solidFill>
                  <a:schemeClr val="tx1"/>
                </a:solidFill>
                <a:latin typeface="Calibri" pitchFamily="34" charset="0"/>
                <a:ea typeface="Calibri" pitchFamily="34" charset="-122"/>
                <a:cs typeface="Calibri" pitchFamily="34" charset="-120"/>
              </a:rPr>
              <a:t>Gross ÷ pallets must fit the service. Heavier ones are excluded before ranking.</a:t>
            </a:r>
            <a:endParaRPr lang="en-US" sz="1300" dirty="0"/>
          </a:p>
        </p:txBody>
      </p:sp>
      <p:sp>
        <p:nvSpPr>
          <p:cNvPr id="50" name="Shape 47"/>
          <p:cNvSpPr/>
          <p:nvPr/>
        </p:nvSpPr>
        <p:spPr>
          <a:xfrm>
            <a:off x="8092440" y="2889504"/>
            <a:ext cx="274320" cy="274320"/>
          </a:xfrm>
          <a:prstGeom prst="roundRect">
            <a:avLst>
              <a:gd name="adj" fmla="val 50000"/>
            </a:avLst>
          </a:prstGeom>
          <a:solidFill>
            <a:schemeClr val="tx1"/>
          </a:solidFill>
          <a:ln/>
        </p:spPr>
      </p:sp>
      <p:sp>
        <p:nvSpPr>
          <p:cNvPr id="51" name="Text 48"/>
          <p:cNvSpPr txBox="1"/>
          <p:nvPr/>
        </p:nvSpPr>
        <p:spPr>
          <a:xfrm>
            <a:off x="8092440" y="288950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3</a:t>
            </a:r>
            <a:endParaRPr lang="en-US" sz="1200" dirty="0"/>
          </a:p>
        </p:txBody>
      </p:sp>
      <p:sp>
        <p:nvSpPr>
          <p:cNvPr id="52" name="Text 49"/>
          <p:cNvSpPr txBox="1"/>
          <p:nvPr/>
        </p:nvSpPr>
        <p:spPr>
          <a:xfrm>
            <a:off x="8476488" y="2871216"/>
            <a:ext cx="3163824" cy="1051560"/>
          </a:xfrm>
          <a:prstGeom prst="rect">
            <a:avLst/>
          </a:prstGeom>
          <a:noFill/>
          <a:ln/>
        </p:spPr>
        <p:txBody>
          <a:bodyPr wrap="square" lIns="0" tIns="0" rIns="0" bIns="0" rtlCol="0" anchor="t"/>
          <a:lstStyle/>
          <a:p>
            <a:pPr algn="l" indent="0" marL="0">
              <a:buNone/>
            </a:pPr>
            <a:r>
              <a:rPr lang="en-US" sz="1300" b="1" dirty="0">
                <a:solidFill>
                  <a:schemeClr val="tx1"/>
                </a:solidFill>
                <a:latin typeface="Calibri" pitchFamily="34" charset="0"/>
                <a:ea typeface="Calibri" pitchFamily="34" charset="-122"/>
                <a:cs typeface="Calibri" pitchFamily="34" charset="-120"/>
              </a:rPr>
              <a:t>Priority. </a:t>
            </a:r>
            <a:pPr algn="l" indent="0" marL="0">
              <a:buNone/>
            </a:pPr>
            <a:r>
              <a:rPr lang="en-US" sz="1300" dirty="0">
                <a:solidFill>
                  <a:schemeClr val="tx1"/>
                </a:solidFill>
                <a:latin typeface="Calibri" pitchFamily="34" charset="0"/>
                <a:ea typeface="Calibri" pitchFamily="34" charset="-122"/>
                <a:cs typeface="Calibri" pitchFamily="34" charset="-120"/>
              </a:rPr>
              <a:t>Cheapest, Fastest or Most reliable sort on one field. Balanced = 40% cost + 30% speed + 30% reliability. Ties: cheaper, faster, more reliable.</a:t>
            </a:r>
            <a:endParaRPr lang="en-US" sz="1300" dirty="0"/>
          </a:p>
        </p:txBody>
      </p:sp>
      <p:sp>
        <p:nvSpPr>
          <p:cNvPr id="53" name="Text 50"/>
          <p:cNvSpPr txBox="1"/>
          <p:nvPr/>
        </p:nvSpPr>
        <p:spPr>
          <a:xfrm>
            <a:off x="8092440" y="4087368"/>
            <a:ext cx="3547872" cy="228600"/>
          </a:xfrm>
          <a:prstGeom prst="rect">
            <a:avLst/>
          </a:prstGeom>
          <a:noFill/>
          <a:ln/>
        </p:spPr>
        <p:txBody>
          <a:bodyPr wrap="square" lIns="0" tIns="0" rIns="0" bIns="0" rtlCol="0" anchor="t"/>
          <a:lstStyle/>
          <a:p>
            <a:pPr algn="l" indent="0" marL="0">
              <a:buNone/>
            </a:pPr>
            <a:r>
              <a:rPr lang="en-US" sz="1200" b="1" dirty="0">
                <a:solidFill>
                  <a:schemeClr val="accent5"/>
                </a:solidFill>
                <a:latin typeface="Calibri" pitchFamily="34" charset="0"/>
                <a:ea typeface="Calibri" pitchFamily="34" charset="-122"/>
                <a:cs typeface="Calibri" pitchFamily="34" charset="-120"/>
              </a:rPr>
              <a:t>Example: 3 pallets, 620 kg, UK → Germany</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092440" y="4361688"/>
          <a:ext cx="3547872" cy="914400"/>
        </p:xfrm>
        <a:graphic>
          <a:graphicData uri="http://schemas.openxmlformats.org/drawingml/2006/table">
            <a:tbl>
              <a:tblPr/>
              <a:tblGrid>
                <a:gridCol w="1234440"/>
                <a:gridCol w="2313432"/>
              </a:tblGrid>
              <a:tr h="26517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Priority</a:t>
                      </a:r>
                      <a:endParaRPr lang="en-US" sz="1200" dirty="0">
                        <a:latin typeface="Calibri" charset="0"/>
                        <a:ea typeface="Calibri" charset="0"/>
                        <a:cs typeface="Calibri" charset="0"/>
                      </a:endParaRPr>
                    </a:p>
                  </a:txBody>
                  <a:tcPr marL="73152" marR="73152" marT="0" marB="0" anchor="ctr">
                    <a:lnL w="9525" cap="flat" cmpd="sng" algn="ctr">
                      <a:solidFill>
                        <a:srgbClr val="DADCD6"/>
                      </a:solidFill>
                      <a:prstDash val="solid"/>
                      <a:round/>
                      <a:headEnd type="none" w="med" len="med"/>
                      <a:tailEnd type="none" w="med" len="med"/>
                    </a:lnL>
                    <a:lnR w="9525" cap="flat" cmpd="sng" algn="ctr">
                      <a:solidFill>
                        <a:srgbClr val="DADCD6"/>
                      </a:solidFill>
                      <a:prstDash val="solid"/>
                      <a:round/>
                      <a:headEnd type="none" w="med" len="med"/>
                      <a:tailEnd type="none" w="med" len="med"/>
                    </a:lnR>
                    <a:lnT w="9525" cap="flat" cmpd="sng" algn="ctr">
                      <a:solidFill>
                        <a:srgbClr val="DADCD6"/>
                      </a:solidFill>
                      <a:prstDash val="solid"/>
                      <a:round/>
                      <a:headEnd type="none" w="med" len="med"/>
                      <a:tailEnd type="none" w="med" len="med"/>
                    </a:lnT>
                    <a:lnB w="9525" cap="flat" cmpd="sng" algn="ctr">
                      <a:solidFill>
                        <a:srgbClr val="DADCD6"/>
                      </a:solidFill>
                      <a:prstDash val="solid"/>
                      <a:round/>
                      <a:headEnd type="none" w="med" len="med"/>
                      <a:tailEnd type="none" w="med" len="med"/>
                    </a:lnB>
                    <a:solidFill>
                      <a:srgbClr val="15171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Pick</a:t>
                      </a:r>
                      <a:endParaRPr lang="en-US" sz="1200" dirty="0">
                        <a:latin typeface="Calibri" charset="0"/>
                        <a:ea typeface="Calibri" charset="0"/>
                        <a:cs typeface="Calibri" charset="0"/>
                      </a:endParaRPr>
                    </a:p>
                  </a:txBody>
                  <a:tcPr marL="73152" marR="73152" marT="0" marB="0" anchor="ctr">
                    <a:lnL w="9525" cap="flat" cmpd="sng" algn="ctr">
                      <a:solidFill>
                        <a:srgbClr val="DADCD6"/>
                      </a:solidFill>
                      <a:prstDash val="solid"/>
                      <a:round/>
                      <a:headEnd type="none" w="med" len="med"/>
                      <a:tailEnd type="none" w="med" len="med"/>
                    </a:lnL>
                    <a:lnR w="9525" cap="flat" cmpd="sng" algn="ctr">
                      <a:solidFill>
                        <a:srgbClr val="DADCD6"/>
                      </a:solidFill>
                      <a:prstDash val="solid"/>
                      <a:round/>
                      <a:headEnd type="none" w="med" len="med"/>
                      <a:tailEnd type="none" w="med" len="med"/>
                    </a:lnR>
                    <a:lnT w="9525" cap="flat" cmpd="sng" algn="ctr">
                      <a:solidFill>
                        <a:srgbClr val="DADCD6"/>
                      </a:solidFill>
                      <a:prstDash val="solid"/>
                      <a:round/>
                      <a:headEnd type="none" w="med" len="med"/>
                      <a:tailEnd type="none" w="med" len="med"/>
                    </a:lnT>
                    <a:lnB w="9525" cap="flat" cmpd="sng" algn="ctr">
                      <a:solidFill>
                        <a:srgbClr val="DADCD6"/>
                      </a:solidFill>
                      <a:prstDash val="solid"/>
                      <a:round/>
                      <a:headEnd type="none" w="med" len="med"/>
                      <a:tailEnd type="none" w="med" len="med"/>
                    </a:lnB>
                    <a:solidFill>
                      <a:srgbClr val="15171A"/>
                    </a:solidFill>
                  </a:tcPr>
                </a:tc>
              </a:tr>
              <a:tr h="265176">
                <a:tc>
                  <a:txBody>
                    <a:bodyPr/>
                    <a:lstStyle/>
                    <a:p>
                      <a:pPr indent="0" marL="0">
                        <a:buNone/>
                      </a:pPr>
                      <a:r>
                        <a:rPr lang="en-US" sz="1200" dirty="0">
                          <a:solidFill>
                            <a:srgbClr val="15171A"/>
                          </a:solidFill>
                          <a:latin typeface="Calibri" pitchFamily="34" charset="0"/>
                          <a:ea typeface="Calibri" pitchFamily="34" charset="-122"/>
                          <a:cs typeface="Calibri" pitchFamily="34" charset="-120"/>
                        </a:rPr>
                        <a:t>Cheapest</a:t>
                      </a:r>
                      <a:endParaRPr lang="en-US" sz="1200" dirty="0">
                        <a:latin typeface="Calibri" charset="0"/>
                        <a:ea typeface="Calibri" charset="0"/>
                        <a:cs typeface="Calibri" charset="0"/>
                      </a:endParaRPr>
                    </a:p>
                  </a:txBody>
                  <a:tcPr marL="73152" marR="73152" marT="0" marB="0" anchor="ctr">
                    <a:lnL w="9525" cap="flat" cmpd="sng" algn="ctr">
                      <a:solidFill>
                        <a:srgbClr val="DADCD6"/>
                      </a:solidFill>
                      <a:prstDash val="solid"/>
                      <a:round/>
                      <a:headEnd type="none" w="med" len="med"/>
                      <a:tailEnd type="none" w="med" len="med"/>
                    </a:lnL>
                    <a:lnR w="9525" cap="flat" cmpd="sng" algn="ctr">
                      <a:solidFill>
                        <a:srgbClr val="DADCD6"/>
                      </a:solidFill>
                      <a:prstDash val="solid"/>
                      <a:round/>
                      <a:headEnd type="none" w="med" len="med"/>
                      <a:tailEnd type="none" w="med" len="med"/>
                    </a:lnR>
                    <a:lnT w="9525" cap="flat" cmpd="sng" algn="ctr">
                      <a:solidFill>
                        <a:srgbClr val="DADCD6"/>
                      </a:solidFill>
                      <a:prstDash val="solid"/>
                      <a:round/>
                      <a:headEnd type="none" w="med" len="med"/>
                      <a:tailEnd type="none" w="med" len="med"/>
                    </a:lnT>
                    <a:lnB w="9525" cap="flat" cmpd="sng" algn="ctr">
                      <a:solidFill>
                        <a:srgbClr val="DADCD6"/>
                      </a:solidFill>
                      <a:prstDash val="solid"/>
                      <a:round/>
                      <a:headEnd type="none" w="med" len="med"/>
                      <a:tailEnd type="none" w="med" len="med"/>
                    </a:lnB>
                    <a:solidFill>
                      <a:srgbClr val="FFFFFF"/>
                    </a:solidFill>
                  </a:tcPr>
                </a:tc>
                <a:tc>
                  <a:txBody>
                    <a:bodyPr/>
                    <a:lstStyle/>
                    <a:p>
                      <a:pPr indent="0" marL="0">
                        <a:buNone/>
                      </a:pPr>
                      <a:r>
                        <a:rPr lang="en-US" sz="1200" b="1" dirty="0">
                          <a:solidFill>
                            <a:srgbClr val="15171A"/>
                          </a:solidFill>
                          <a:latin typeface="Calibri" pitchFamily="34" charset="0"/>
                          <a:ea typeface="Calibri" pitchFamily="34" charset="-122"/>
                          <a:cs typeface="Calibri" pitchFamily="34" charset="-120"/>
                        </a:rPr>
                        <a:t>A: £540 · 5 days</a:t>
                      </a:r>
                      <a:endParaRPr lang="en-US" sz="1200" dirty="0">
                        <a:latin typeface="Calibri" charset="0"/>
                        <a:ea typeface="Calibri" charset="0"/>
                        <a:cs typeface="Calibri" charset="0"/>
                      </a:endParaRPr>
                    </a:p>
                  </a:txBody>
                  <a:tcPr marL="73152" marR="73152" marT="0" marB="0" anchor="ctr">
                    <a:lnL w="9525" cap="flat" cmpd="sng" algn="ctr">
                      <a:solidFill>
                        <a:srgbClr val="DADCD6"/>
                      </a:solidFill>
                      <a:prstDash val="solid"/>
                      <a:round/>
                      <a:headEnd type="none" w="med" len="med"/>
                      <a:tailEnd type="none" w="med" len="med"/>
                    </a:lnL>
                    <a:lnR w="9525" cap="flat" cmpd="sng" algn="ctr">
                      <a:solidFill>
                        <a:srgbClr val="DADCD6"/>
                      </a:solidFill>
                      <a:prstDash val="solid"/>
                      <a:round/>
                      <a:headEnd type="none" w="med" len="med"/>
                      <a:tailEnd type="none" w="med" len="med"/>
                    </a:lnR>
                    <a:lnT w="9525" cap="flat" cmpd="sng" algn="ctr">
                      <a:solidFill>
                        <a:srgbClr val="DADCD6"/>
                      </a:solidFill>
                      <a:prstDash val="solid"/>
                      <a:round/>
                      <a:headEnd type="none" w="med" len="med"/>
                      <a:tailEnd type="none" w="med" len="med"/>
                    </a:lnT>
                    <a:lnB w="9525" cap="flat" cmpd="sng" algn="ctr">
                      <a:solidFill>
                        <a:srgbClr val="DADCD6"/>
                      </a:solidFill>
                      <a:prstDash val="solid"/>
                      <a:round/>
                      <a:headEnd type="none" w="med" len="med"/>
                      <a:tailEnd type="none" w="med" len="med"/>
                    </a:lnB>
                    <a:solidFill>
                      <a:srgbClr val="FFFFFF"/>
                    </a:solidFill>
                  </a:tcPr>
                </a:tc>
              </a:tr>
              <a:tr h="265176">
                <a:tc>
                  <a:txBody>
                    <a:bodyPr/>
                    <a:lstStyle/>
                    <a:p>
                      <a:pPr indent="0" marL="0">
                        <a:buNone/>
                      </a:pPr>
                      <a:r>
                        <a:rPr lang="en-US" sz="1200" dirty="0">
                          <a:solidFill>
                            <a:srgbClr val="15171A"/>
                          </a:solidFill>
                          <a:latin typeface="Calibri" pitchFamily="34" charset="0"/>
                          <a:ea typeface="Calibri" pitchFamily="34" charset="-122"/>
                          <a:cs typeface="Calibri" pitchFamily="34" charset="-120"/>
                        </a:rPr>
                        <a:t>Fastest</a:t>
                      </a:r>
                      <a:endParaRPr lang="en-US" sz="1200" dirty="0">
                        <a:latin typeface="Calibri" charset="0"/>
                        <a:ea typeface="Calibri" charset="0"/>
                        <a:cs typeface="Calibri" charset="0"/>
                      </a:endParaRPr>
                    </a:p>
                  </a:txBody>
                  <a:tcPr marL="73152" marR="73152" marT="0" marB="0" anchor="ctr">
                    <a:lnL w="9525" cap="flat" cmpd="sng" algn="ctr">
                      <a:solidFill>
                        <a:srgbClr val="DADCD6"/>
                      </a:solidFill>
                      <a:prstDash val="solid"/>
                      <a:round/>
                      <a:headEnd type="none" w="med" len="med"/>
                      <a:tailEnd type="none" w="med" len="med"/>
                    </a:lnL>
                    <a:lnR w="9525" cap="flat" cmpd="sng" algn="ctr">
                      <a:solidFill>
                        <a:srgbClr val="DADCD6"/>
                      </a:solidFill>
                      <a:prstDash val="solid"/>
                      <a:round/>
                      <a:headEnd type="none" w="med" len="med"/>
                      <a:tailEnd type="none" w="med" len="med"/>
                    </a:lnR>
                    <a:lnT w="9525" cap="flat" cmpd="sng" algn="ctr">
                      <a:solidFill>
                        <a:srgbClr val="DADCD6"/>
                      </a:solidFill>
                      <a:prstDash val="solid"/>
                      <a:round/>
                      <a:headEnd type="none" w="med" len="med"/>
                      <a:tailEnd type="none" w="med" len="med"/>
                    </a:lnT>
                    <a:lnB w="9525" cap="flat" cmpd="sng" algn="ctr">
                      <a:solidFill>
                        <a:srgbClr val="DADCD6"/>
                      </a:solidFill>
                      <a:prstDash val="solid"/>
                      <a:round/>
                      <a:headEnd type="none" w="med" len="med"/>
                      <a:tailEnd type="none" w="med" len="med"/>
                    </a:lnB>
                    <a:solidFill>
                      <a:srgbClr val="FFFFFF"/>
                    </a:solidFill>
                  </a:tcPr>
                </a:tc>
                <a:tc>
                  <a:txBody>
                    <a:bodyPr/>
                    <a:lstStyle/>
                    <a:p>
                      <a:pPr indent="0" marL="0">
                        <a:buNone/>
                      </a:pPr>
                      <a:r>
                        <a:rPr lang="en-US" sz="1200" b="1" dirty="0">
                          <a:solidFill>
                            <a:srgbClr val="15171A"/>
                          </a:solidFill>
                          <a:latin typeface="Calibri" pitchFamily="34" charset="0"/>
                          <a:ea typeface="Calibri" pitchFamily="34" charset="-122"/>
                          <a:cs typeface="Calibri" pitchFamily="34" charset="-120"/>
                        </a:rPr>
                        <a:t>C: £1,020 · 2 days</a:t>
                      </a:r>
                      <a:endParaRPr lang="en-US" sz="1200" dirty="0">
                        <a:latin typeface="Calibri" charset="0"/>
                        <a:ea typeface="Calibri" charset="0"/>
                        <a:cs typeface="Calibri" charset="0"/>
                      </a:endParaRPr>
                    </a:p>
                  </a:txBody>
                  <a:tcPr marL="73152" marR="73152" marT="0" marB="0" anchor="ctr">
                    <a:lnL w="9525" cap="flat" cmpd="sng" algn="ctr">
                      <a:solidFill>
                        <a:srgbClr val="DADCD6"/>
                      </a:solidFill>
                      <a:prstDash val="solid"/>
                      <a:round/>
                      <a:headEnd type="none" w="med" len="med"/>
                      <a:tailEnd type="none" w="med" len="med"/>
                    </a:lnL>
                    <a:lnR w="9525" cap="flat" cmpd="sng" algn="ctr">
                      <a:solidFill>
                        <a:srgbClr val="DADCD6"/>
                      </a:solidFill>
                      <a:prstDash val="solid"/>
                      <a:round/>
                      <a:headEnd type="none" w="med" len="med"/>
                      <a:tailEnd type="none" w="med" len="med"/>
                    </a:lnR>
                    <a:lnT w="9525" cap="flat" cmpd="sng" algn="ctr">
                      <a:solidFill>
                        <a:srgbClr val="DADCD6"/>
                      </a:solidFill>
                      <a:prstDash val="solid"/>
                      <a:round/>
                      <a:headEnd type="none" w="med" len="med"/>
                      <a:tailEnd type="none" w="med" len="med"/>
                    </a:lnT>
                    <a:lnB w="9525" cap="flat" cmpd="sng" algn="ctr">
                      <a:solidFill>
                        <a:srgbClr val="DADCD6"/>
                      </a:solidFill>
                      <a:prstDash val="solid"/>
                      <a:round/>
                      <a:headEnd type="none" w="med" len="med"/>
                      <a:tailEnd type="none" w="med" len="med"/>
                    </a:lnB>
                    <a:solidFill>
                      <a:srgbClr val="FFFFFF"/>
                    </a:solidFill>
                  </a:tcPr>
                </a:tc>
              </a:tr>
              <a:tr h="265176">
                <a:tc>
                  <a:txBody>
                    <a:bodyPr/>
                    <a:lstStyle/>
                    <a:p>
                      <a:pPr indent="0" marL="0">
                        <a:buNone/>
                      </a:pPr>
                      <a:r>
                        <a:rPr lang="en-US" sz="1200" dirty="0">
                          <a:solidFill>
                            <a:srgbClr val="15171A"/>
                          </a:solidFill>
                          <a:latin typeface="Calibri" pitchFamily="34" charset="0"/>
                          <a:ea typeface="Calibri" pitchFamily="34" charset="-122"/>
                          <a:cs typeface="Calibri" pitchFamily="34" charset="-120"/>
                        </a:rPr>
                        <a:t>Most reliable</a:t>
                      </a:r>
                      <a:endParaRPr lang="en-US" sz="1200" dirty="0">
                        <a:latin typeface="Calibri" charset="0"/>
                        <a:ea typeface="Calibri" charset="0"/>
                        <a:cs typeface="Calibri" charset="0"/>
                      </a:endParaRPr>
                    </a:p>
                  </a:txBody>
                  <a:tcPr marL="73152" marR="73152" marT="0" marB="0" anchor="ctr">
                    <a:lnL w="9525" cap="flat" cmpd="sng" algn="ctr">
                      <a:solidFill>
                        <a:srgbClr val="DADCD6"/>
                      </a:solidFill>
                      <a:prstDash val="solid"/>
                      <a:round/>
                      <a:headEnd type="none" w="med" len="med"/>
                      <a:tailEnd type="none" w="med" len="med"/>
                    </a:lnL>
                    <a:lnR w="9525" cap="flat" cmpd="sng" algn="ctr">
                      <a:solidFill>
                        <a:srgbClr val="DADCD6"/>
                      </a:solidFill>
                      <a:prstDash val="solid"/>
                      <a:round/>
                      <a:headEnd type="none" w="med" len="med"/>
                      <a:tailEnd type="none" w="med" len="med"/>
                    </a:lnR>
                    <a:lnT w="9525" cap="flat" cmpd="sng" algn="ctr">
                      <a:solidFill>
                        <a:srgbClr val="DADCD6"/>
                      </a:solidFill>
                      <a:prstDash val="solid"/>
                      <a:round/>
                      <a:headEnd type="none" w="med" len="med"/>
                      <a:tailEnd type="none" w="med" len="med"/>
                    </a:lnT>
                    <a:lnB w="9525" cap="flat" cmpd="sng" algn="ctr">
                      <a:solidFill>
                        <a:srgbClr val="DADCD6"/>
                      </a:solidFill>
                      <a:prstDash val="solid"/>
                      <a:round/>
                      <a:headEnd type="none" w="med" len="med"/>
                      <a:tailEnd type="none" w="med" len="med"/>
                    </a:lnB>
                    <a:solidFill>
                      <a:srgbClr val="FFFFFF"/>
                    </a:solidFill>
                  </a:tcPr>
                </a:tc>
                <a:tc>
                  <a:txBody>
                    <a:bodyPr/>
                    <a:lstStyle/>
                    <a:p>
                      <a:pPr indent="0" marL="0">
                        <a:buNone/>
                      </a:pPr>
                      <a:r>
                        <a:rPr lang="en-US" sz="1200" b="1" dirty="0">
                          <a:solidFill>
                            <a:srgbClr val="15171A"/>
                          </a:solidFill>
                          <a:latin typeface="Calibri" pitchFamily="34" charset="0"/>
                          <a:ea typeface="Calibri" pitchFamily="34" charset="-122"/>
                          <a:cs typeface="Calibri" pitchFamily="34" charset="-120"/>
                        </a:rPr>
                        <a:t>C: 98% on time</a:t>
                      </a:r>
                      <a:endParaRPr lang="en-US" sz="1200" dirty="0">
                        <a:latin typeface="Calibri" charset="0"/>
                        <a:ea typeface="Calibri" charset="0"/>
                        <a:cs typeface="Calibri" charset="0"/>
                      </a:endParaRPr>
                    </a:p>
                  </a:txBody>
                  <a:tcPr marL="73152" marR="73152" marT="0" marB="0" anchor="ctr">
                    <a:lnL w="9525" cap="flat" cmpd="sng" algn="ctr">
                      <a:solidFill>
                        <a:srgbClr val="DADCD6"/>
                      </a:solidFill>
                      <a:prstDash val="solid"/>
                      <a:round/>
                      <a:headEnd type="none" w="med" len="med"/>
                      <a:tailEnd type="none" w="med" len="med"/>
                    </a:lnL>
                    <a:lnR w="9525" cap="flat" cmpd="sng" algn="ctr">
                      <a:solidFill>
                        <a:srgbClr val="DADCD6"/>
                      </a:solidFill>
                      <a:prstDash val="solid"/>
                      <a:round/>
                      <a:headEnd type="none" w="med" len="med"/>
                      <a:tailEnd type="none" w="med" len="med"/>
                    </a:lnR>
                    <a:lnT w="9525" cap="flat" cmpd="sng" algn="ctr">
                      <a:solidFill>
                        <a:srgbClr val="DADCD6"/>
                      </a:solidFill>
                      <a:prstDash val="solid"/>
                      <a:round/>
                      <a:headEnd type="none" w="med" len="med"/>
                      <a:tailEnd type="none" w="med" len="med"/>
                    </a:lnT>
                    <a:lnB w="9525" cap="flat" cmpd="sng" algn="ctr">
                      <a:solidFill>
                        <a:srgbClr val="DADCD6"/>
                      </a:solidFill>
                      <a:prstDash val="solid"/>
                      <a:round/>
                      <a:headEnd type="none" w="med" len="med"/>
                      <a:tailEnd type="none" w="med" len="med"/>
                    </a:lnB>
                    <a:solidFill>
                      <a:srgbClr val="FFFFFF"/>
                    </a:solidFill>
                  </a:tcPr>
                </a:tc>
              </a:tr>
              <a:tr h="265176">
                <a:tc>
                  <a:txBody>
                    <a:bodyPr/>
                    <a:lstStyle/>
                    <a:p>
                      <a:pPr indent="0" marL="0">
                        <a:buNone/>
                      </a:pPr>
                      <a:r>
                        <a:rPr lang="en-US" sz="1200" dirty="0">
                          <a:solidFill>
                            <a:srgbClr val="15171A"/>
                          </a:solidFill>
                          <a:latin typeface="Calibri" pitchFamily="34" charset="0"/>
                          <a:ea typeface="Calibri" pitchFamily="34" charset="-122"/>
                          <a:cs typeface="Calibri" pitchFamily="34" charset="-120"/>
                        </a:rPr>
                        <a:t>Balanced</a:t>
                      </a:r>
                      <a:endParaRPr lang="en-US" sz="1200" dirty="0">
                        <a:latin typeface="Calibri" charset="0"/>
                        <a:ea typeface="Calibri" charset="0"/>
                        <a:cs typeface="Calibri" charset="0"/>
                      </a:endParaRPr>
                    </a:p>
                  </a:txBody>
                  <a:tcPr marL="73152" marR="73152" marT="0" marB="0" anchor="ctr">
                    <a:lnL w="9525" cap="flat" cmpd="sng" algn="ctr">
                      <a:solidFill>
                        <a:srgbClr val="DADCD6"/>
                      </a:solidFill>
                      <a:prstDash val="solid"/>
                      <a:round/>
                      <a:headEnd type="none" w="med" len="med"/>
                      <a:tailEnd type="none" w="med" len="med"/>
                    </a:lnL>
                    <a:lnR w="9525" cap="flat" cmpd="sng" algn="ctr">
                      <a:solidFill>
                        <a:srgbClr val="DADCD6"/>
                      </a:solidFill>
                      <a:prstDash val="solid"/>
                      <a:round/>
                      <a:headEnd type="none" w="med" len="med"/>
                      <a:tailEnd type="none" w="med" len="med"/>
                    </a:lnR>
                    <a:lnT w="9525" cap="flat" cmpd="sng" algn="ctr">
                      <a:solidFill>
                        <a:srgbClr val="DADCD6"/>
                      </a:solidFill>
                      <a:prstDash val="solid"/>
                      <a:round/>
                      <a:headEnd type="none" w="med" len="med"/>
                      <a:tailEnd type="none" w="med" len="med"/>
                    </a:lnT>
                    <a:lnB w="9525" cap="flat" cmpd="sng" algn="ctr">
                      <a:solidFill>
                        <a:srgbClr val="DADCD6"/>
                      </a:solidFill>
                      <a:prstDash val="solid"/>
                      <a:round/>
                      <a:headEnd type="none" w="med" len="med"/>
                      <a:tailEnd type="none" w="med" len="med"/>
                    </a:lnB>
                    <a:solidFill>
                      <a:srgbClr val="FFFFFF"/>
                    </a:solidFill>
                  </a:tcPr>
                </a:tc>
                <a:tc>
                  <a:txBody>
                    <a:bodyPr/>
                    <a:lstStyle/>
                    <a:p>
                      <a:pPr indent="0" marL="0">
                        <a:buNone/>
                      </a:pPr>
                      <a:r>
                        <a:rPr lang="en-US" sz="1200" b="1" dirty="0">
                          <a:solidFill>
                            <a:srgbClr val="15171A"/>
                          </a:solidFill>
                          <a:latin typeface="Calibri" pitchFamily="34" charset="0"/>
                          <a:ea typeface="Calibri" pitchFamily="34" charset="-122"/>
                          <a:cs typeface="Calibri" pitchFamily="34" charset="-120"/>
                        </a:rPr>
                        <a:t>B: £660 · score 0.65</a:t>
                      </a:r>
                      <a:endParaRPr lang="en-US" sz="1200" dirty="0">
                        <a:latin typeface="Calibri" charset="0"/>
                        <a:ea typeface="Calibri" charset="0"/>
                        <a:cs typeface="Calibri" charset="0"/>
                      </a:endParaRPr>
                    </a:p>
                  </a:txBody>
                  <a:tcPr marL="73152" marR="73152" marT="0" marB="0" anchor="ctr">
                    <a:lnL w="9525" cap="flat" cmpd="sng" algn="ctr">
                      <a:solidFill>
                        <a:srgbClr val="DADCD6"/>
                      </a:solidFill>
                      <a:prstDash val="solid"/>
                      <a:round/>
                      <a:headEnd type="none" w="med" len="med"/>
                      <a:tailEnd type="none" w="med" len="med"/>
                    </a:lnL>
                    <a:lnR w="9525" cap="flat" cmpd="sng" algn="ctr">
                      <a:solidFill>
                        <a:srgbClr val="DADCD6"/>
                      </a:solidFill>
                      <a:prstDash val="solid"/>
                      <a:round/>
                      <a:headEnd type="none" w="med" len="med"/>
                      <a:tailEnd type="none" w="med" len="med"/>
                    </a:lnR>
                    <a:lnT w="9525" cap="flat" cmpd="sng" algn="ctr">
                      <a:solidFill>
                        <a:srgbClr val="DADCD6"/>
                      </a:solidFill>
                      <a:prstDash val="solid"/>
                      <a:round/>
                      <a:headEnd type="none" w="med" len="med"/>
                      <a:tailEnd type="none" w="med" len="med"/>
                    </a:lnT>
                    <a:lnB w="9525" cap="flat" cmpd="sng" algn="ctr">
                      <a:solidFill>
                        <a:srgbClr val="DADCD6"/>
                      </a:solidFill>
                      <a:prstDash val="solid"/>
                      <a:round/>
                      <a:headEnd type="none" w="med" len="med"/>
                      <a:tailEnd type="none" w="med" len="med"/>
                    </a:lnB>
                    <a:solidFill>
                      <a:srgbClr val="FFFFFF"/>
                    </a:solidFill>
                  </a:tcPr>
                </a:tc>
              </a:tr>
            </a:tbl>
          </a:graphicData>
        </a:graphic>
      </p:graphicFrame>
      <p:sp>
        <p:nvSpPr>
          <p:cNvPr id="55" name="Text 51"/>
          <p:cNvSpPr txBox="1"/>
          <p:nvPr/>
        </p:nvSpPr>
        <p:spPr>
          <a:xfrm>
            <a:off x="8092440" y="5751576"/>
            <a:ext cx="3547872" cy="228600"/>
          </a:xfrm>
          <a:prstGeom prst="rect">
            <a:avLst/>
          </a:prstGeom>
          <a:noFill/>
          <a:ln/>
        </p:spPr>
        <p:txBody>
          <a:bodyPr wrap="square" lIns="0" tIns="0" rIns="0" bIns="0" rtlCol="0" anchor="t"/>
          <a:lstStyle/>
          <a:p>
            <a:pPr algn="l" indent="0" marL="0">
              <a:buNone/>
            </a:pPr>
            <a:r>
              <a:rPr lang="en-US" sz="1100" dirty="0">
                <a:solidFill>
                  <a:schemeClr val="accent5"/>
                </a:solidFill>
                <a:latin typeface="Calibri" pitchFamily="34" charset="0"/>
                <a:ea typeface="Calibri" pitchFamily="34" charset="-122"/>
                <a:cs typeface="Calibri" pitchFamily="34" charset="-120"/>
              </a:rPr>
              <a:t>Balanced scores: A 0.40, B 0.65, C 0.60.</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914400"/>
          </a:xfrm>
          <a:prstGeom prst="rect">
            <a:avLst/>
          </a:prstGeom>
          <a:noFill/>
          <a:ln/>
        </p:spPr>
        <p:txBody>
          <a:bodyPr wrap="square" lIns="0" tIns="0" rIns="0" bIns="0" rtlCol="0" anchor="t"/>
          <a:lstStyle/>
          <a:p>
            <a:pPr algn="l" indent="0" marL="0">
              <a:buNone/>
            </a:pPr>
            <a:r>
              <a:rPr lang="en-US" sz="3000" b="1" dirty="0">
                <a:solidFill>
                  <a:schemeClr val="tx1"/>
                </a:solidFill>
                <a:latin typeface="Calibri" pitchFamily="34" charset="0"/>
                <a:ea typeface="Calibri" pitchFamily="34" charset="-122"/>
                <a:cs typeface="Calibri" pitchFamily="34" charset="-120"/>
              </a:rPr>
              <a:t>Not a chatbot on a form: four decisions that change the outcome</a:t>
            </a:r>
            <a:endParaRPr lang="en-US" sz="3000" dirty="0"/>
          </a:p>
        </p:txBody>
      </p:sp>
      <p:sp>
        <p:nvSpPr>
          <p:cNvPr id="3" name="Text 1"/>
          <p:cNvSpPr txBox="1"/>
          <p:nvPr/>
        </p:nvSpPr>
        <p:spPr>
          <a:xfrm>
            <a:off x="548640" y="1481328"/>
            <a:ext cx="2057400" cy="274320"/>
          </a:xfrm>
          <a:prstGeom prst="rect">
            <a:avLst/>
          </a:prstGeom>
          <a:noFill/>
          <a:ln/>
        </p:spPr>
        <p:txBody>
          <a:bodyPr wrap="square" lIns="0" tIns="0" rIns="0" bIns="0" rtlCol="0" anchor="ctr"/>
          <a:lstStyle/>
          <a:p>
            <a:pPr algn="l" indent="0" marL="0">
              <a:buNone/>
            </a:pPr>
            <a:r>
              <a:rPr lang="en-US" sz="1100" b="1" spc="150" kern="0" dirty="0">
                <a:solidFill>
                  <a:schemeClr val="accent5"/>
                </a:solidFill>
                <a:latin typeface="Calibri" pitchFamily="34" charset="0"/>
                <a:ea typeface="Calibri" pitchFamily="34" charset="-122"/>
                <a:cs typeface="Calibri" pitchFamily="34" charset="-120"/>
              </a:rPr>
              <a:t>DECISION</a:t>
            </a:r>
            <a:endParaRPr lang="en-US" sz="1100" dirty="0"/>
          </a:p>
        </p:txBody>
      </p:sp>
      <p:sp>
        <p:nvSpPr>
          <p:cNvPr id="4" name="Text 2"/>
          <p:cNvSpPr txBox="1"/>
          <p:nvPr/>
        </p:nvSpPr>
        <p:spPr>
          <a:xfrm>
            <a:off x="2926080" y="1481328"/>
            <a:ext cx="3383280" cy="274320"/>
          </a:xfrm>
          <a:prstGeom prst="rect">
            <a:avLst/>
          </a:prstGeom>
          <a:noFill/>
          <a:ln/>
        </p:spPr>
        <p:txBody>
          <a:bodyPr wrap="square" lIns="0" tIns="0" rIns="0" bIns="0" rtlCol="0" anchor="ctr"/>
          <a:lstStyle/>
          <a:p>
            <a:pPr algn="l" indent="0" marL="0">
              <a:buNone/>
            </a:pPr>
            <a:r>
              <a:rPr lang="en-US" sz="1100" b="1" spc="150" kern="0" dirty="0">
                <a:solidFill>
                  <a:schemeClr val="accent5"/>
                </a:solidFill>
                <a:latin typeface="Calibri" pitchFamily="34" charset="0"/>
                <a:ea typeface="Calibri" pitchFamily="34" charset="-122"/>
                <a:cs typeface="Calibri" pitchFamily="34" charset="-120"/>
              </a:rPr>
              <a:t>ORDINARY MANUAL WORKFLOW</a:t>
            </a:r>
            <a:endParaRPr lang="en-US" sz="1100" dirty="0"/>
          </a:p>
        </p:txBody>
      </p:sp>
      <p:sp>
        <p:nvSpPr>
          <p:cNvPr id="5" name="Shape 3"/>
          <p:cNvSpPr/>
          <p:nvPr/>
        </p:nvSpPr>
        <p:spPr>
          <a:xfrm>
            <a:off x="6446520" y="1481328"/>
            <a:ext cx="1280160" cy="274320"/>
          </a:xfrm>
          <a:prstGeom prst="roundRect">
            <a:avLst>
              <a:gd name="adj" fmla="val 50000"/>
            </a:avLst>
          </a:prstGeom>
          <a:solidFill>
            <a:schemeClr val="accent1"/>
          </a:solidFill>
          <a:ln/>
        </p:spPr>
      </p:sp>
      <p:sp>
        <p:nvSpPr>
          <p:cNvPr id="6" name="Text 4"/>
          <p:cNvSpPr txBox="1"/>
          <p:nvPr/>
        </p:nvSpPr>
        <p:spPr>
          <a:xfrm>
            <a:off x="6446520" y="1481328"/>
            <a:ext cx="1280160" cy="274320"/>
          </a:xfrm>
          <a:prstGeom prst="rect">
            <a:avLst/>
          </a:prstGeom>
          <a:noFill/>
          <a:ln/>
        </p:spPr>
        <p:txBody>
          <a:bodyPr wrap="square" lIns="0" tIns="0" rIns="0" bIns="0" rtlCol="0" anchor="ctr"/>
          <a:lstStyle/>
          <a:p>
            <a:pPr algn="ctr" indent="0" marL="0">
              <a:buNone/>
            </a:pPr>
            <a:r>
              <a:rPr lang="en-US" sz="1100" b="1" spc="150" kern="0" dirty="0">
                <a:solidFill>
                  <a:schemeClr val="tx1"/>
                </a:solidFill>
                <a:latin typeface="Calibri" pitchFamily="34" charset="0"/>
                <a:ea typeface="Calibri" pitchFamily="34" charset="-122"/>
                <a:cs typeface="Calibri" pitchFamily="34" charset="-120"/>
              </a:rPr>
              <a:t>SHIPMENTOS</a:t>
            </a:r>
            <a:endParaRPr lang="en-US" sz="1100" dirty="0"/>
          </a:p>
        </p:txBody>
      </p:sp>
      <p:sp>
        <p:nvSpPr>
          <p:cNvPr id="7" name="Shape 5"/>
          <p:cNvSpPr/>
          <p:nvPr/>
        </p:nvSpPr>
        <p:spPr>
          <a:xfrm>
            <a:off x="548640" y="1874520"/>
            <a:ext cx="2057400" cy="987552"/>
          </a:xfrm>
          <a:prstGeom prst="roundRect">
            <a:avLst>
              <a:gd name="adj" fmla="val 11111"/>
            </a:avLst>
          </a:prstGeom>
          <a:solidFill>
            <a:srgbClr val="EFECFB"/>
          </a:solidFill>
          <a:ln/>
        </p:spPr>
      </p:sp>
      <p:pic>
        <p:nvPicPr>
          <p:cNvPr id="8" name="Image 0" descr="bolt icon">    </p:cNvPr>
          <p:cNvPicPr>
            <a:picLocks noChangeAspect="1"/>
          </p:cNvPicPr>
          <p:nvPr/>
        </p:nvPicPr>
        <p:blipFill>
          <a:blip r:embed="rId1"/>
          <a:stretch>
            <a:fillRect/>
          </a:stretch>
        </p:blipFill>
        <p:spPr>
          <a:xfrm>
            <a:off x="685800" y="1984248"/>
            <a:ext cx="274320" cy="274320"/>
          </a:xfrm>
          <a:prstGeom prst="rect">
            <a:avLst/>
          </a:prstGeom>
        </p:spPr>
      </p:pic>
      <p:sp>
        <p:nvSpPr>
          <p:cNvPr id="9" name="Text 6"/>
          <p:cNvSpPr txBox="1"/>
          <p:nvPr/>
        </p:nvSpPr>
        <p:spPr>
          <a:xfrm>
            <a:off x="685800" y="2331720"/>
            <a:ext cx="1828800" cy="502920"/>
          </a:xfrm>
          <a:prstGeom prst="rect">
            <a:avLst/>
          </a:prstGeom>
          <a:noFill/>
          <a:ln/>
        </p:spPr>
        <p:txBody>
          <a:bodyPr wrap="square" lIns="0" tIns="0" rIns="0" bIns="0" rtlCol="0" anchor="t"/>
          <a:lstStyle/>
          <a:p>
            <a:pPr algn="l" indent="0" marL="0">
              <a:buNone/>
            </a:pPr>
            <a:r>
              <a:rPr lang="en-US" sz="1400" b="1" dirty="0">
                <a:solidFill>
                  <a:schemeClr val="tx1"/>
                </a:solidFill>
                <a:latin typeface="Calibri" pitchFamily="34" charset="0"/>
                <a:ea typeface="Calibri" pitchFamily="34" charset="-122"/>
                <a:cs typeface="Calibri" pitchFamily="34" charset="-120"/>
              </a:rPr>
              <a:t>Typed patches, not a restart</a:t>
            </a:r>
            <a:endParaRPr lang="en-US" sz="1400" dirty="0"/>
          </a:p>
        </p:txBody>
      </p:sp>
      <p:sp>
        <p:nvSpPr>
          <p:cNvPr id="10" name="Shape 7"/>
          <p:cNvSpPr/>
          <p:nvPr/>
        </p:nvSpPr>
        <p:spPr>
          <a:xfrm>
            <a:off x="2834640" y="1874520"/>
            <a:ext cx="3383280" cy="987552"/>
          </a:xfrm>
          <a:prstGeom prst="roundRect">
            <a:avLst>
              <a:gd name="adj" fmla="val 11111"/>
            </a:avLst>
          </a:prstGeom>
          <a:solidFill>
            <a:srgbClr val="E9EAE5"/>
          </a:solidFill>
          <a:ln/>
        </p:spPr>
      </p:sp>
      <p:sp>
        <p:nvSpPr>
          <p:cNvPr id="11" name="Text 8"/>
          <p:cNvSpPr txBox="1"/>
          <p:nvPr/>
        </p:nvSpPr>
        <p:spPr>
          <a:xfrm>
            <a:off x="3017520" y="1965960"/>
            <a:ext cx="3017520" cy="804672"/>
          </a:xfrm>
          <a:prstGeom prst="rect">
            <a:avLst/>
          </a:prstGeom>
          <a:noFill/>
          <a:ln/>
        </p:spPr>
        <p:txBody>
          <a:bodyPr wrap="square" lIns="0" tIns="0" rIns="0" bIns="0" rtlCol="0" anchor="ctr"/>
          <a:lstStyle/>
          <a:p>
            <a:pPr algn="l" indent="0" marL="0">
              <a:buNone/>
            </a:pPr>
            <a:r>
              <a:rPr lang="en-US" sz="1400" dirty="0">
                <a:solidFill>
                  <a:srgbClr val="4A4E54"/>
                </a:solidFill>
                <a:latin typeface="Calibri" pitchFamily="34" charset="0"/>
                <a:ea typeface="Calibri" pitchFamily="34" charset="-122"/>
                <a:cs typeface="Calibri" pitchFamily="34" charset="-120"/>
              </a:rPr>
              <a:t>Change a detail and you re-enter the form, then re-check every number by hand.</a:t>
            </a:r>
            <a:endParaRPr lang="en-US" sz="1400" dirty="0"/>
          </a:p>
        </p:txBody>
      </p:sp>
      <p:sp>
        <p:nvSpPr>
          <p:cNvPr id="12" name="Shape 9"/>
          <p:cNvSpPr/>
          <p:nvPr/>
        </p:nvSpPr>
        <p:spPr>
          <a:xfrm>
            <a:off x="6281928" y="2231136"/>
            <a:ext cx="164592" cy="274320"/>
          </a:xfrm>
          <a:prstGeom prst="chevron">
            <a:avLst/>
          </a:prstGeom>
          <a:solidFill>
            <a:schemeClr val="accent1"/>
          </a:solidFill>
          <a:ln w="12700">
            <a:solidFill>
              <a:schemeClr val="accent1"/>
            </a:solidFill>
            <a:prstDash val="solid"/>
          </a:ln>
        </p:spPr>
      </p:sp>
      <p:sp>
        <p:nvSpPr>
          <p:cNvPr id="13" name="Shape 10"/>
          <p:cNvSpPr/>
          <p:nvPr/>
        </p:nvSpPr>
        <p:spPr>
          <a:xfrm>
            <a:off x="6446520" y="1874520"/>
            <a:ext cx="5193792" cy="987552"/>
          </a:xfrm>
          <a:prstGeom prst="roundRect">
            <a:avLst>
              <a:gd name="adj" fmla="val 11111"/>
            </a:avLst>
          </a:prstGeom>
          <a:solidFill>
            <a:schemeClr val="bg1"/>
          </a:solidFill>
          <a:ln w="19050">
            <a:solidFill>
              <a:schemeClr val="accent1"/>
            </a:solidFill>
            <a:prstDash val="solid"/>
          </a:ln>
        </p:spPr>
      </p:sp>
      <p:sp>
        <p:nvSpPr>
          <p:cNvPr id="14" name="Text 11"/>
          <p:cNvSpPr txBox="1"/>
          <p:nvPr/>
        </p:nvSpPr>
        <p:spPr>
          <a:xfrm>
            <a:off x="6629400" y="1947672"/>
            <a:ext cx="4828032" cy="841248"/>
          </a:xfrm>
          <a:prstGeom prst="rect">
            <a:avLst/>
          </a:prstGeom>
          <a:noFill/>
          <a:ln/>
        </p:spPr>
        <p:txBody>
          <a:bodyPr wrap="square" lIns="0" tIns="0" rIns="0" bIns="0" rtlCol="0" anchor="ctr"/>
          <a:lstStyle/>
          <a:p>
            <a:pPr algn="l" indent="0" marL="0">
              <a:buNone/>
            </a:pPr>
            <a:r>
              <a:rPr lang="en-US" sz="1400" b="1" dirty="0">
                <a:solidFill>
                  <a:schemeClr val="tx1"/>
                </a:solidFill>
                <a:latin typeface="Calibri" pitchFamily="34" charset="0"/>
                <a:ea typeface="Calibri" pitchFamily="34" charset="-122"/>
                <a:cs typeface="Calibri" pitchFamily="34" charset="-120"/>
              </a:rPr>
              <a:t>“Actually, 4 pallets” changes one field. </a:t>
            </a:r>
            <a:pPr algn="l" indent="0" marL="0">
              <a:buNone/>
            </a:pPr>
            <a:r>
              <a:rPr lang="en-US" sz="1400" dirty="0">
                <a:solidFill>
                  <a:schemeClr val="tx1"/>
                </a:solidFill>
                <a:latin typeface="Calibri" pitchFamily="34" charset="0"/>
                <a:ea typeface="Calibri" pitchFamily="34" charset="-122"/>
                <a:cs typeface="Calibri" pitchFamily="34" charset="-120"/>
              </a:rPr>
              <a:t>Every check and the price recompute (£540 → £720). Retried requests apply once; stale edits get a conflict, not an overwrite.</a:t>
            </a:r>
            <a:endParaRPr lang="en-US" sz="1400" dirty="0"/>
          </a:p>
        </p:txBody>
      </p:sp>
      <p:sp>
        <p:nvSpPr>
          <p:cNvPr id="15" name="Shape 12"/>
          <p:cNvSpPr/>
          <p:nvPr/>
        </p:nvSpPr>
        <p:spPr>
          <a:xfrm>
            <a:off x="548640" y="2971800"/>
            <a:ext cx="2057400" cy="987552"/>
          </a:xfrm>
          <a:prstGeom prst="roundRect">
            <a:avLst>
              <a:gd name="adj" fmla="val 11111"/>
            </a:avLst>
          </a:prstGeom>
          <a:solidFill>
            <a:srgbClr val="EFECFB"/>
          </a:solidFill>
          <a:ln/>
        </p:spPr>
      </p:sp>
      <p:pic>
        <p:nvPicPr>
          <p:cNvPr id="16" name="Image 1" descr="scale icon">    </p:cNvPr>
          <p:cNvPicPr>
            <a:picLocks noChangeAspect="1"/>
          </p:cNvPicPr>
          <p:nvPr/>
        </p:nvPicPr>
        <p:blipFill>
          <a:blip r:embed="rId2"/>
          <a:stretch>
            <a:fillRect/>
          </a:stretch>
        </p:blipFill>
        <p:spPr>
          <a:xfrm>
            <a:off x="685800" y="3081528"/>
            <a:ext cx="274320" cy="274320"/>
          </a:xfrm>
          <a:prstGeom prst="rect">
            <a:avLst/>
          </a:prstGeom>
        </p:spPr>
      </p:pic>
      <p:sp>
        <p:nvSpPr>
          <p:cNvPr id="17" name="Text 13"/>
          <p:cNvSpPr txBox="1"/>
          <p:nvPr/>
        </p:nvSpPr>
        <p:spPr>
          <a:xfrm>
            <a:off x="685800" y="3429000"/>
            <a:ext cx="1828800" cy="502920"/>
          </a:xfrm>
          <a:prstGeom prst="rect">
            <a:avLst/>
          </a:prstGeom>
          <a:noFill/>
          <a:ln/>
        </p:spPr>
        <p:txBody>
          <a:bodyPr wrap="square" lIns="0" tIns="0" rIns="0" bIns="0" rtlCol="0" anchor="t"/>
          <a:lstStyle/>
          <a:p>
            <a:pPr algn="l" indent="0" marL="0">
              <a:buNone/>
            </a:pPr>
            <a:r>
              <a:rPr lang="en-US" sz="1400" b="1" dirty="0">
                <a:solidFill>
                  <a:schemeClr val="tx1"/>
                </a:solidFill>
                <a:latin typeface="Calibri" pitchFamily="34" charset="0"/>
                <a:ea typeface="Calibri" pitchFamily="34" charset="-122"/>
                <a:cs typeface="Calibri" pitchFamily="34" charset="-120"/>
              </a:rPr>
              <a:t>Rules decide, AI never does</a:t>
            </a:r>
            <a:endParaRPr lang="en-US" sz="1400" dirty="0"/>
          </a:p>
        </p:txBody>
      </p:sp>
      <p:sp>
        <p:nvSpPr>
          <p:cNvPr id="18" name="Shape 14"/>
          <p:cNvSpPr/>
          <p:nvPr/>
        </p:nvSpPr>
        <p:spPr>
          <a:xfrm>
            <a:off x="2834640" y="2971800"/>
            <a:ext cx="3383280" cy="987552"/>
          </a:xfrm>
          <a:prstGeom prst="roundRect">
            <a:avLst>
              <a:gd name="adj" fmla="val 11111"/>
            </a:avLst>
          </a:prstGeom>
          <a:solidFill>
            <a:srgbClr val="E9EAE5"/>
          </a:solidFill>
          <a:ln/>
        </p:spPr>
      </p:sp>
      <p:sp>
        <p:nvSpPr>
          <p:cNvPr id="19" name="Text 15"/>
          <p:cNvSpPr txBox="1"/>
          <p:nvPr/>
        </p:nvSpPr>
        <p:spPr>
          <a:xfrm>
            <a:off x="3017520" y="3063240"/>
            <a:ext cx="3017520" cy="804672"/>
          </a:xfrm>
          <a:prstGeom prst="rect">
            <a:avLst/>
          </a:prstGeom>
          <a:noFill/>
          <a:ln/>
        </p:spPr>
        <p:txBody>
          <a:bodyPr wrap="square" lIns="0" tIns="0" rIns="0" bIns="0" rtlCol="0" anchor="ctr"/>
          <a:lstStyle/>
          <a:p>
            <a:pPr algn="l" indent="0" marL="0">
              <a:buNone/>
            </a:pPr>
            <a:r>
              <a:rPr lang="en-US" sz="1400" dirty="0">
                <a:solidFill>
                  <a:srgbClr val="4A4E54"/>
                </a:solidFill>
                <a:latin typeface="Calibri" pitchFamily="34" charset="0"/>
                <a:ea typeface="Calibri" pitchFamily="34" charset="-122"/>
                <a:cs typeface="Calibri" pitchFamily="34" charset="-120"/>
              </a:rPr>
              <a:t>Whether a booking is “OK” rests on someone’s judgement, which is hard to audit.</a:t>
            </a:r>
            <a:endParaRPr lang="en-US" sz="1400" dirty="0"/>
          </a:p>
        </p:txBody>
      </p:sp>
      <p:sp>
        <p:nvSpPr>
          <p:cNvPr id="20" name="Shape 16"/>
          <p:cNvSpPr/>
          <p:nvPr/>
        </p:nvSpPr>
        <p:spPr>
          <a:xfrm>
            <a:off x="6281928" y="3328416"/>
            <a:ext cx="164592" cy="274320"/>
          </a:xfrm>
          <a:prstGeom prst="chevron">
            <a:avLst/>
          </a:prstGeom>
          <a:solidFill>
            <a:schemeClr val="accent1"/>
          </a:solidFill>
          <a:ln w="12700">
            <a:solidFill>
              <a:schemeClr val="accent1"/>
            </a:solidFill>
            <a:prstDash val="solid"/>
          </a:ln>
        </p:spPr>
      </p:sp>
      <p:sp>
        <p:nvSpPr>
          <p:cNvPr id="21" name="Shape 17"/>
          <p:cNvSpPr/>
          <p:nvPr/>
        </p:nvSpPr>
        <p:spPr>
          <a:xfrm>
            <a:off x="6446520" y="2971800"/>
            <a:ext cx="5193792" cy="987552"/>
          </a:xfrm>
          <a:prstGeom prst="roundRect">
            <a:avLst>
              <a:gd name="adj" fmla="val 11111"/>
            </a:avLst>
          </a:prstGeom>
          <a:solidFill>
            <a:schemeClr val="bg1"/>
          </a:solidFill>
          <a:ln w="19050">
            <a:solidFill>
              <a:schemeClr val="accent1"/>
            </a:solidFill>
            <a:prstDash val="solid"/>
          </a:ln>
        </p:spPr>
      </p:sp>
      <p:sp>
        <p:nvSpPr>
          <p:cNvPr id="22" name="Text 18"/>
          <p:cNvSpPr txBox="1"/>
          <p:nvPr/>
        </p:nvSpPr>
        <p:spPr>
          <a:xfrm>
            <a:off x="6629400" y="3044952"/>
            <a:ext cx="4828032" cy="841248"/>
          </a:xfrm>
          <a:prstGeom prst="rect">
            <a:avLst/>
          </a:prstGeom>
          <a:noFill/>
          <a:ln/>
        </p:spPr>
        <p:txBody>
          <a:bodyPr wrap="square" lIns="0" tIns="0" rIns="0" bIns="0" rtlCol="0" anchor="ctr"/>
          <a:lstStyle/>
          <a:p>
            <a:pPr algn="l" indent="0" marL="0">
              <a:buNone/>
            </a:pPr>
            <a:r>
              <a:rPr lang="en-US" sz="1400" b="1" dirty="0">
                <a:solidFill>
                  <a:schemeClr val="tx1"/>
                </a:solidFill>
                <a:latin typeface="Calibri" pitchFamily="34" charset="0"/>
                <a:ea typeface="Calibri" pitchFamily="34" charset="-122"/>
                <a:cs typeface="Calibri" pitchFamily="34" charset="-120"/>
              </a:rPr>
              <a:t>Rules are plain TypeScript with exact decimal maths. </a:t>
            </a:r>
            <a:pPr algn="l" indent="0" marL="0">
              <a:buNone/>
            </a:pPr>
            <a:r>
              <a:rPr lang="en-US" sz="1400" dirty="0">
                <a:solidFill>
                  <a:schemeClr val="tx1"/>
                </a:solidFill>
                <a:latin typeface="Calibri" pitchFamily="34" charset="0"/>
                <a:ea typeface="Calibri" pitchFamily="34" charset="-122"/>
                <a:cs typeface="Calibri" pitchFamily="34" charset="-120"/>
              </a:rPr>
              <a:t>Same input, same verdict, and each finding shows actual vs expected plus the fix.</a:t>
            </a:r>
            <a:endParaRPr lang="en-US" sz="1400" dirty="0"/>
          </a:p>
        </p:txBody>
      </p:sp>
      <p:sp>
        <p:nvSpPr>
          <p:cNvPr id="23" name="Shape 19"/>
          <p:cNvSpPr/>
          <p:nvPr/>
        </p:nvSpPr>
        <p:spPr>
          <a:xfrm>
            <a:off x="548640" y="4069080"/>
            <a:ext cx="2057400" cy="987552"/>
          </a:xfrm>
          <a:prstGeom prst="roundRect">
            <a:avLst>
              <a:gd name="adj" fmla="val 11111"/>
            </a:avLst>
          </a:prstGeom>
          <a:solidFill>
            <a:srgbClr val="EFECFB"/>
          </a:solidFill>
          <a:ln/>
        </p:spPr>
      </p:sp>
      <p:pic>
        <p:nvPicPr>
          <p:cNvPr id="24" name="Image 2" descr="layers icon">    </p:cNvPr>
          <p:cNvPicPr>
            <a:picLocks noChangeAspect="1"/>
          </p:cNvPicPr>
          <p:nvPr/>
        </p:nvPicPr>
        <p:blipFill>
          <a:blip r:embed="rId3"/>
          <a:stretch>
            <a:fillRect/>
          </a:stretch>
        </p:blipFill>
        <p:spPr>
          <a:xfrm>
            <a:off x="685800" y="4178808"/>
            <a:ext cx="274320" cy="274320"/>
          </a:xfrm>
          <a:prstGeom prst="rect">
            <a:avLst/>
          </a:prstGeom>
        </p:spPr>
      </p:pic>
      <p:sp>
        <p:nvSpPr>
          <p:cNvPr id="25" name="Text 20"/>
          <p:cNvSpPr txBox="1"/>
          <p:nvPr/>
        </p:nvSpPr>
        <p:spPr>
          <a:xfrm>
            <a:off x="685800" y="4526280"/>
            <a:ext cx="1828800" cy="502920"/>
          </a:xfrm>
          <a:prstGeom prst="rect">
            <a:avLst/>
          </a:prstGeom>
          <a:noFill/>
          <a:ln/>
        </p:spPr>
        <p:txBody>
          <a:bodyPr wrap="square" lIns="0" tIns="0" rIns="0" bIns="0" rtlCol="0" anchor="t"/>
          <a:lstStyle/>
          <a:p>
            <a:pPr algn="l" indent="0" marL="0">
              <a:buNone/>
            </a:pPr>
            <a:r>
              <a:rPr lang="en-US" sz="1400" b="1" dirty="0">
                <a:solidFill>
                  <a:schemeClr val="tx1"/>
                </a:solidFill>
                <a:latin typeface="Calibri" pitchFamily="34" charset="0"/>
                <a:ea typeface="Calibri" pitchFamily="34" charset="-122"/>
                <a:cs typeface="Calibri" pitchFamily="34" charset="-120"/>
              </a:rPr>
              <a:t>One shared engine</a:t>
            </a:r>
            <a:endParaRPr lang="en-US" sz="1400" dirty="0"/>
          </a:p>
        </p:txBody>
      </p:sp>
      <p:sp>
        <p:nvSpPr>
          <p:cNvPr id="26" name="Shape 21"/>
          <p:cNvSpPr/>
          <p:nvPr/>
        </p:nvSpPr>
        <p:spPr>
          <a:xfrm>
            <a:off x="2834640" y="4069080"/>
            <a:ext cx="3383280" cy="987552"/>
          </a:xfrm>
          <a:prstGeom prst="roundRect">
            <a:avLst>
              <a:gd name="adj" fmla="val 11111"/>
            </a:avLst>
          </a:prstGeom>
          <a:solidFill>
            <a:srgbClr val="E9EAE5"/>
          </a:solidFill>
          <a:ln/>
        </p:spPr>
      </p:sp>
      <p:sp>
        <p:nvSpPr>
          <p:cNvPr id="27" name="Text 22"/>
          <p:cNvSpPr txBox="1"/>
          <p:nvPr/>
        </p:nvSpPr>
        <p:spPr>
          <a:xfrm>
            <a:off x="3017520" y="4160520"/>
            <a:ext cx="3017520" cy="804672"/>
          </a:xfrm>
          <a:prstGeom prst="rect">
            <a:avLst/>
          </a:prstGeom>
          <a:noFill/>
          <a:ln/>
        </p:spPr>
        <p:txBody>
          <a:bodyPr wrap="square" lIns="0" tIns="0" rIns="0" bIns="0" rtlCol="0" anchor="ctr"/>
          <a:lstStyle/>
          <a:p>
            <a:pPr algn="l" indent="0" marL="0">
              <a:buNone/>
            </a:pPr>
            <a:r>
              <a:rPr lang="en-US" sz="1400" dirty="0">
                <a:solidFill>
                  <a:srgbClr val="4A4E54"/>
                </a:solidFill>
                <a:latin typeface="Calibri" pitchFamily="34" charset="0"/>
                <a:ea typeface="Calibri" pitchFamily="34" charset="-122"/>
                <a:cs typeface="Calibri" pitchFamily="34" charset="-120"/>
              </a:rPr>
              <a:t>A chat flow and a spreadsheet flow each carry their own logic and can disagree.</a:t>
            </a:r>
            <a:endParaRPr lang="en-US" sz="1400" dirty="0"/>
          </a:p>
        </p:txBody>
      </p:sp>
      <p:sp>
        <p:nvSpPr>
          <p:cNvPr id="28" name="Shape 23"/>
          <p:cNvSpPr/>
          <p:nvPr/>
        </p:nvSpPr>
        <p:spPr>
          <a:xfrm>
            <a:off x="6281928" y="4425696"/>
            <a:ext cx="164592" cy="274320"/>
          </a:xfrm>
          <a:prstGeom prst="chevron">
            <a:avLst/>
          </a:prstGeom>
          <a:solidFill>
            <a:schemeClr val="accent1"/>
          </a:solidFill>
          <a:ln w="12700">
            <a:solidFill>
              <a:schemeClr val="accent1"/>
            </a:solidFill>
            <a:prstDash val="solid"/>
          </a:ln>
        </p:spPr>
      </p:sp>
      <p:sp>
        <p:nvSpPr>
          <p:cNvPr id="29" name="Shape 24"/>
          <p:cNvSpPr/>
          <p:nvPr/>
        </p:nvSpPr>
        <p:spPr>
          <a:xfrm>
            <a:off x="6446520" y="4069080"/>
            <a:ext cx="5193792" cy="987552"/>
          </a:xfrm>
          <a:prstGeom prst="roundRect">
            <a:avLst>
              <a:gd name="adj" fmla="val 11111"/>
            </a:avLst>
          </a:prstGeom>
          <a:solidFill>
            <a:schemeClr val="bg1"/>
          </a:solidFill>
          <a:ln w="19050">
            <a:solidFill>
              <a:schemeClr val="accent1"/>
            </a:solidFill>
            <a:prstDash val="solid"/>
          </a:ln>
        </p:spPr>
      </p:sp>
      <p:sp>
        <p:nvSpPr>
          <p:cNvPr id="30" name="Text 25"/>
          <p:cNvSpPr txBox="1"/>
          <p:nvPr/>
        </p:nvSpPr>
        <p:spPr>
          <a:xfrm>
            <a:off x="6629400" y="4142232"/>
            <a:ext cx="4828032" cy="841248"/>
          </a:xfrm>
          <a:prstGeom prst="rect">
            <a:avLst/>
          </a:prstGeom>
          <a:noFill/>
          <a:ln/>
        </p:spPr>
        <p:txBody>
          <a:bodyPr wrap="square" lIns="0" tIns="0" rIns="0" bIns="0" rtlCol="0" anchor="ctr"/>
          <a:lstStyle/>
          <a:p>
            <a:pPr algn="l" indent="0" marL="0">
              <a:buNone/>
            </a:pPr>
            <a:r>
              <a:rPr lang="en-US" sz="1400" b="1" dirty="0">
                <a:solidFill>
                  <a:schemeClr val="tx1"/>
                </a:solidFill>
                <a:latin typeface="Calibri" pitchFamily="34" charset="0"/>
                <a:ea typeface="Calibri" pitchFamily="34" charset="-122"/>
                <a:cs typeface="Calibri" pitchFamily="34" charset="-120"/>
              </a:rPr>
              <a:t>Chat and Excel feed one evaluation function. </a:t>
            </a:r>
            <a:pPr algn="l" indent="0" marL="0">
              <a:buNone/>
            </a:pPr>
            <a:r>
              <a:rPr lang="en-US" sz="1400" dirty="0">
                <a:solidFill>
                  <a:schemeClr val="tx1"/>
                </a:solidFill>
                <a:latin typeface="Calibri" pitchFamily="34" charset="0"/>
                <a:ea typeface="Calibri" pitchFamily="34" charset="-122"/>
                <a:cs typeface="Calibri" pitchFamily="34" charset="-120"/>
              </a:rPr>
              <a:t>A booking gets the same checks and the same carrier logic whichever door it used.</a:t>
            </a:r>
            <a:endParaRPr lang="en-US" sz="1400" dirty="0"/>
          </a:p>
        </p:txBody>
      </p:sp>
      <p:sp>
        <p:nvSpPr>
          <p:cNvPr id="31" name="Shape 26"/>
          <p:cNvSpPr/>
          <p:nvPr/>
        </p:nvSpPr>
        <p:spPr>
          <a:xfrm>
            <a:off x="548640" y="5166360"/>
            <a:ext cx="2057400" cy="987552"/>
          </a:xfrm>
          <a:prstGeom prst="roundRect">
            <a:avLst>
              <a:gd name="adj" fmla="val 11111"/>
            </a:avLst>
          </a:prstGeom>
          <a:solidFill>
            <a:srgbClr val="EFECFB"/>
          </a:solidFill>
          <a:ln/>
        </p:spPr>
      </p:sp>
      <p:pic>
        <p:nvPicPr>
          <p:cNvPr id="32" name="Image 3" descr="clock icon">    </p:cNvPr>
          <p:cNvPicPr>
            <a:picLocks noChangeAspect="1"/>
          </p:cNvPicPr>
          <p:nvPr/>
        </p:nvPicPr>
        <p:blipFill>
          <a:blip r:embed="rId4"/>
          <a:stretch>
            <a:fillRect/>
          </a:stretch>
        </p:blipFill>
        <p:spPr>
          <a:xfrm>
            <a:off x="685800" y="5276088"/>
            <a:ext cx="274320" cy="274320"/>
          </a:xfrm>
          <a:prstGeom prst="rect">
            <a:avLst/>
          </a:prstGeom>
        </p:spPr>
      </p:pic>
      <p:sp>
        <p:nvSpPr>
          <p:cNvPr id="33" name="Text 27"/>
          <p:cNvSpPr txBox="1"/>
          <p:nvPr/>
        </p:nvSpPr>
        <p:spPr>
          <a:xfrm>
            <a:off x="685800" y="5623560"/>
            <a:ext cx="1828800" cy="502920"/>
          </a:xfrm>
          <a:prstGeom prst="rect">
            <a:avLst/>
          </a:prstGeom>
          <a:noFill/>
          <a:ln/>
        </p:spPr>
        <p:txBody>
          <a:bodyPr wrap="square" lIns="0" tIns="0" rIns="0" bIns="0" rtlCol="0" anchor="t"/>
          <a:lstStyle/>
          <a:p>
            <a:pPr algn="l" indent="0" marL="0">
              <a:buNone/>
            </a:pPr>
            <a:r>
              <a:rPr lang="en-US" sz="1400" b="1" dirty="0">
                <a:solidFill>
                  <a:schemeClr val="tx1"/>
                </a:solidFill>
                <a:latin typeface="Calibri" pitchFamily="34" charset="0"/>
                <a:ea typeface="Calibri" pitchFamily="34" charset="-122"/>
                <a:cs typeface="Calibri" pitchFamily="34" charset="-120"/>
              </a:rPr>
              <a:t>Saved, versioned, no login</a:t>
            </a:r>
            <a:endParaRPr lang="en-US" sz="1400" dirty="0"/>
          </a:p>
        </p:txBody>
      </p:sp>
      <p:sp>
        <p:nvSpPr>
          <p:cNvPr id="34" name="Shape 28"/>
          <p:cNvSpPr/>
          <p:nvPr/>
        </p:nvSpPr>
        <p:spPr>
          <a:xfrm>
            <a:off x="2834640" y="5166360"/>
            <a:ext cx="3383280" cy="987552"/>
          </a:xfrm>
          <a:prstGeom prst="roundRect">
            <a:avLst>
              <a:gd name="adj" fmla="val 11111"/>
            </a:avLst>
          </a:prstGeom>
          <a:solidFill>
            <a:srgbClr val="E9EAE5"/>
          </a:solidFill>
          <a:ln/>
        </p:spPr>
      </p:sp>
      <p:sp>
        <p:nvSpPr>
          <p:cNvPr id="35" name="Text 29"/>
          <p:cNvSpPr txBox="1"/>
          <p:nvPr/>
        </p:nvSpPr>
        <p:spPr>
          <a:xfrm>
            <a:off x="3017520" y="5257800"/>
            <a:ext cx="3017520" cy="804672"/>
          </a:xfrm>
          <a:prstGeom prst="rect">
            <a:avLst/>
          </a:prstGeom>
          <a:noFill/>
          <a:ln/>
        </p:spPr>
        <p:txBody>
          <a:bodyPr wrap="square" lIns="0" tIns="0" rIns="0" bIns="0" rtlCol="0" anchor="ctr"/>
          <a:lstStyle/>
          <a:p>
            <a:pPr algn="l" indent="0" marL="0">
              <a:buNone/>
            </a:pPr>
            <a:r>
              <a:rPr lang="en-US" sz="1400" dirty="0">
                <a:solidFill>
                  <a:srgbClr val="4A4E54"/>
                </a:solidFill>
                <a:latin typeface="Calibri" pitchFamily="34" charset="0"/>
                <a:ea typeface="Calibri" pitchFamily="34" charset="-122"/>
                <a:cs typeface="Calibri" pitchFamily="34" charset="-120"/>
              </a:rPr>
              <a:t>Work lives in a form or an email. Changes leave no trail.</a:t>
            </a:r>
            <a:endParaRPr lang="en-US" sz="1400" dirty="0"/>
          </a:p>
        </p:txBody>
      </p:sp>
      <p:sp>
        <p:nvSpPr>
          <p:cNvPr id="36" name="Shape 30"/>
          <p:cNvSpPr/>
          <p:nvPr/>
        </p:nvSpPr>
        <p:spPr>
          <a:xfrm>
            <a:off x="6281928" y="5522976"/>
            <a:ext cx="164592" cy="274320"/>
          </a:xfrm>
          <a:prstGeom prst="chevron">
            <a:avLst/>
          </a:prstGeom>
          <a:solidFill>
            <a:schemeClr val="accent1"/>
          </a:solidFill>
          <a:ln w="12700">
            <a:solidFill>
              <a:schemeClr val="accent1"/>
            </a:solidFill>
            <a:prstDash val="solid"/>
          </a:ln>
        </p:spPr>
      </p:sp>
      <p:sp>
        <p:nvSpPr>
          <p:cNvPr id="37" name="Shape 31"/>
          <p:cNvSpPr/>
          <p:nvPr/>
        </p:nvSpPr>
        <p:spPr>
          <a:xfrm>
            <a:off x="6446520" y="5166360"/>
            <a:ext cx="5193792" cy="987552"/>
          </a:xfrm>
          <a:prstGeom prst="roundRect">
            <a:avLst>
              <a:gd name="adj" fmla="val 11111"/>
            </a:avLst>
          </a:prstGeom>
          <a:solidFill>
            <a:schemeClr val="bg1"/>
          </a:solidFill>
          <a:ln w="19050">
            <a:solidFill>
              <a:schemeClr val="accent1"/>
            </a:solidFill>
            <a:prstDash val="solid"/>
          </a:ln>
        </p:spPr>
      </p:sp>
      <p:sp>
        <p:nvSpPr>
          <p:cNvPr id="38" name="Text 32"/>
          <p:cNvSpPr txBox="1"/>
          <p:nvPr/>
        </p:nvSpPr>
        <p:spPr>
          <a:xfrm>
            <a:off x="6629400" y="5239512"/>
            <a:ext cx="4828032" cy="841248"/>
          </a:xfrm>
          <a:prstGeom prst="rect">
            <a:avLst/>
          </a:prstGeom>
          <a:noFill/>
          <a:ln/>
        </p:spPr>
        <p:txBody>
          <a:bodyPr wrap="square" lIns="0" tIns="0" rIns="0" bIns="0" rtlCol="0" anchor="ctr"/>
          <a:lstStyle/>
          <a:p>
            <a:pPr algn="l" indent="0" marL="0">
              <a:buNone/>
            </a:pPr>
            <a:r>
              <a:rPr lang="en-US" sz="1400" b="1" dirty="0">
                <a:solidFill>
                  <a:schemeClr val="tx1"/>
                </a:solidFill>
                <a:latin typeface="Calibri" pitchFamily="34" charset="0"/>
                <a:ea typeface="Calibri" pitchFamily="34" charset="-122"/>
                <a:cs typeface="Calibri" pitchFamily="34" charset="-120"/>
              </a:rPr>
              <a:t>Every change is saved to Neon as a numbered revision. </a:t>
            </a:r>
            <a:pPr algn="l" indent="0" marL="0">
              <a:buNone/>
            </a:pPr>
            <a:r>
              <a:rPr lang="en-US" sz="1400" dirty="0">
                <a:solidFill>
                  <a:schemeClr val="tx1"/>
                </a:solidFill>
                <a:latin typeface="Calibri" pitchFamily="34" charset="0"/>
                <a:ea typeface="Calibri" pitchFamily="34" charset="-122"/>
                <a:cs typeface="Calibri" pitchFamily="34" charset="-120"/>
              </a:rPr>
              <a:t>Reopen any chat or upload from All bookings. An anonymous cookie, not an account, scopes the data to that browser.</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6400800" cy="731520"/>
          </a:xfrm>
          <a:prstGeom prst="rect">
            <a:avLst/>
          </a:prstGeom>
          <a:noFill/>
          <a:ln/>
        </p:spPr>
        <p:txBody>
          <a:bodyPr wrap="square" lIns="0" tIns="0" rIns="0" bIns="0" rtlCol="0" anchor="t"/>
          <a:lstStyle/>
          <a:p>
            <a:pPr algn="l" indent="0" marL="0">
              <a:buNone/>
            </a:pPr>
            <a:r>
              <a:rPr lang="en-US" sz="3200" b="1" dirty="0">
                <a:solidFill>
                  <a:schemeClr val="bg1"/>
                </a:solidFill>
                <a:latin typeface="Calibri" pitchFamily="34" charset="0"/>
                <a:ea typeface="Calibri" pitchFamily="34" charset="-122"/>
                <a:cs typeface="Calibri" pitchFamily="34" charset="-120"/>
              </a:rPr>
              <a:t>A working product you can open now</a:t>
            </a:r>
            <a:endParaRPr lang="en-US" sz="3200" dirty="0"/>
          </a:p>
        </p:txBody>
      </p:sp>
      <p:sp>
        <p:nvSpPr>
          <p:cNvPr id="3" name="Text 1"/>
          <p:cNvSpPr txBox="1"/>
          <p:nvPr/>
        </p:nvSpPr>
        <p:spPr>
          <a:xfrm>
            <a:off x="640080" y="1325880"/>
            <a:ext cx="2743200" cy="228600"/>
          </a:xfrm>
          <a:prstGeom prst="rect">
            <a:avLst/>
          </a:prstGeom>
          <a:noFill/>
          <a:ln/>
        </p:spPr>
        <p:txBody>
          <a:bodyPr wrap="square" lIns="0" tIns="0" rIns="0" bIns="0" rtlCol="0" anchor="t"/>
          <a:lstStyle/>
          <a:p>
            <a:pPr algn="l" indent="0" marL="0">
              <a:buNone/>
            </a:pPr>
            <a:r>
              <a:rPr lang="en-US" sz="1100" b="1" spc="150" kern="0" dirty="0">
                <a:solidFill>
                  <a:schemeClr val="accent1"/>
                </a:solidFill>
                <a:latin typeface="Calibri" pitchFamily="34" charset="0"/>
                <a:ea typeface="Calibri" pitchFamily="34" charset="-122"/>
                <a:cs typeface="Calibri" pitchFamily="34" charset="-120"/>
              </a:rPr>
              <a:t>LIVE, NO LOGIN</a:t>
            </a:r>
            <a:endParaRPr lang="en-US" sz="1100" dirty="0"/>
          </a:p>
        </p:txBody>
      </p:sp>
      <p:sp>
        <p:nvSpPr>
          <p:cNvPr id="4" name="Text 2"/>
          <p:cNvSpPr txBox="1"/>
          <p:nvPr/>
        </p:nvSpPr>
        <p:spPr>
          <a:xfrm>
            <a:off x="640080" y="1572768"/>
            <a:ext cx="6400800" cy="457200"/>
          </a:xfrm>
          <a:prstGeom prst="rect">
            <a:avLst/>
          </a:prstGeom>
          <a:noFill/>
          <a:ln/>
        </p:spPr>
        <p:txBody>
          <a:bodyPr wrap="square" lIns="0" tIns="0" rIns="0" bIns="0" rtlCol="0" anchor="t"/>
          <a:lstStyle/>
          <a:p>
            <a:pPr algn="l" indent="0" marL="0">
              <a:buNone/>
            </a:pPr>
            <a:r>
              <a:rPr lang="en-US" sz="2800" b="1" dirty="0">
                <a:solidFill>
                  <a:schemeClr val="bg1"/>
                </a:solidFill>
                <a:latin typeface="Calibri" pitchFamily="34" charset="0"/>
                <a:ea typeface="Calibri" pitchFamily="34" charset="-122"/>
                <a:cs typeface="Calibri" pitchFamily="34" charset="-120"/>
              </a:rPr>
              <a:t>shipmentos-preflight.vercel.app</a:t>
            </a:r>
            <a:endParaRPr lang="en-US" sz="2800" dirty="0"/>
          </a:p>
        </p:txBody>
      </p:sp>
      <p:sp>
        <p:nvSpPr>
          <p:cNvPr id="5" name="Text 3"/>
          <p:cNvSpPr txBox="1"/>
          <p:nvPr/>
        </p:nvSpPr>
        <p:spPr>
          <a:xfrm>
            <a:off x="640080" y="2084832"/>
            <a:ext cx="6400800" cy="274320"/>
          </a:xfrm>
          <a:prstGeom prst="rect">
            <a:avLst/>
          </a:prstGeom>
          <a:noFill/>
          <a:ln/>
        </p:spPr>
        <p:txBody>
          <a:bodyPr wrap="square" lIns="0" tIns="0" rIns="0" bIns="0" rtlCol="0" anchor="t"/>
          <a:lstStyle/>
          <a:p>
            <a:pPr algn="l" indent="0" marL="0">
              <a:buNone/>
            </a:pPr>
            <a:r>
              <a:rPr lang="en-US" sz="1400" dirty="0">
                <a:solidFill>
                  <a:srgbClr val="C9CCD1"/>
                </a:solidFill>
                <a:latin typeface="Calibri" pitchFamily="34" charset="0"/>
                <a:ea typeface="Calibri" pitchFamily="34" charset="-122"/>
                <a:cs typeface="Calibri" pitchFamily="34" charset="-120"/>
              </a:rPr>
              <a:t>github.com/saisiddharthnandhakumar/shipmentos-preflight</a:t>
            </a:r>
            <a:endParaRPr lang="en-US" sz="1400" dirty="0"/>
          </a:p>
        </p:txBody>
      </p:sp>
      <p:sp>
        <p:nvSpPr>
          <p:cNvPr id="6" name="Text 4"/>
          <p:cNvSpPr txBox="1"/>
          <p:nvPr/>
        </p:nvSpPr>
        <p:spPr>
          <a:xfrm>
            <a:off x="640080" y="2606040"/>
            <a:ext cx="2743200" cy="228600"/>
          </a:xfrm>
          <a:prstGeom prst="rect">
            <a:avLst/>
          </a:prstGeom>
          <a:noFill/>
          <a:ln/>
        </p:spPr>
        <p:txBody>
          <a:bodyPr wrap="square" lIns="0" tIns="0" rIns="0" bIns="0" rtlCol="0" anchor="t"/>
          <a:lstStyle/>
          <a:p>
            <a:pPr algn="l" indent="0" marL="0">
              <a:buNone/>
            </a:pPr>
            <a:r>
              <a:rPr lang="en-US" sz="1100" b="1" spc="150" kern="0" dirty="0">
                <a:solidFill>
                  <a:schemeClr val="accent1"/>
                </a:solidFill>
                <a:latin typeface="Calibri" pitchFamily="34" charset="0"/>
                <a:ea typeface="Calibri" pitchFamily="34" charset="-122"/>
                <a:cs typeface="Calibri" pitchFamily="34" charset="-120"/>
              </a:rPr>
              <a:t>VERIFIED EVIDENCE</a:t>
            </a:r>
            <a:endParaRPr lang="en-US" sz="1100" dirty="0"/>
          </a:p>
        </p:txBody>
      </p:sp>
      <p:sp>
        <p:nvSpPr>
          <p:cNvPr id="7" name="Shape 5"/>
          <p:cNvSpPr/>
          <p:nvPr/>
        </p:nvSpPr>
        <p:spPr>
          <a:xfrm>
            <a:off x="640080" y="2880360"/>
            <a:ext cx="2011680" cy="1097280"/>
          </a:xfrm>
          <a:prstGeom prst="roundRect">
            <a:avLst>
              <a:gd name="adj" fmla="val 10000"/>
            </a:avLst>
          </a:prstGeom>
          <a:solidFill>
            <a:srgbClr val="2A2D31"/>
          </a:solidFill>
          <a:ln/>
        </p:spPr>
      </p:sp>
      <p:sp>
        <p:nvSpPr>
          <p:cNvPr id="8" name="Text 6"/>
          <p:cNvSpPr txBox="1"/>
          <p:nvPr/>
        </p:nvSpPr>
        <p:spPr>
          <a:xfrm>
            <a:off x="804672" y="2944368"/>
            <a:ext cx="1737360" cy="548640"/>
          </a:xfrm>
          <a:prstGeom prst="rect">
            <a:avLst/>
          </a:prstGeom>
          <a:noFill/>
          <a:ln/>
        </p:spPr>
        <p:txBody>
          <a:bodyPr wrap="square" lIns="0" tIns="0" rIns="0" bIns="0" rtlCol="0" anchor="ctr"/>
          <a:lstStyle/>
          <a:p>
            <a:pPr algn="l" indent="0" marL="0">
              <a:buNone/>
            </a:pPr>
            <a:r>
              <a:rPr lang="en-US" sz="3000" b="1" dirty="0">
                <a:solidFill>
                  <a:schemeClr val="accent1"/>
                </a:solidFill>
                <a:latin typeface="Calibri" pitchFamily="34" charset="0"/>
                <a:ea typeface="Calibri" pitchFamily="34" charset="-122"/>
                <a:cs typeface="Calibri" pitchFamily="34" charset="-120"/>
              </a:rPr>
              <a:t>112</a:t>
            </a:r>
            <a:endParaRPr lang="en-US" sz="3000" dirty="0"/>
          </a:p>
        </p:txBody>
      </p:sp>
      <p:sp>
        <p:nvSpPr>
          <p:cNvPr id="9" name="Text 7"/>
          <p:cNvSpPr txBox="1"/>
          <p:nvPr/>
        </p:nvSpPr>
        <p:spPr>
          <a:xfrm>
            <a:off x="804672" y="3502152"/>
            <a:ext cx="1737360" cy="411480"/>
          </a:xfrm>
          <a:prstGeom prst="rect">
            <a:avLst/>
          </a:prstGeom>
          <a:noFill/>
          <a:ln/>
        </p:spPr>
        <p:txBody>
          <a:bodyPr wrap="square" lIns="0" tIns="0" rIns="0" bIns="0" rtlCol="0" anchor="t"/>
          <a:lstStyle/>
          <a:p>
            <a:pPr algn="l" indent="0" marL="0">
              <a:buNone/>
            </a:pPr>
            <a:r>
              <a:rPr lang="en-US" sz="1200" dirty="0">
                <a:solidFill>
                  <a:srgbClr val="C9CCD1"/>
                </a:solidFill>
                <a:latin typeface="Calibri" pitchFamily="34" charset="0"/>
                <a:ea typeface="Calibri" pitchFamily="34" charset="-122"/>
                <a:cs typeface="Calibri" pitchFamily="34" charset="-120"/>
              </a:rPr>
              <a:t>unit tests passing</a:t>
            </a:r>
            <a:endParaRPr lang="en-US" sz="1200" dirty="0"/>
          </a:p>
        </p:txBody>
      </p:sp>
      <p:sp>
        <p:nvSpPr>
          <p:cNvPr id="10" name="Shape 8"/>
          <p:cNvSpPr/>
          <p:nvPr/>
        </p:nvSpPr>
        <p:spPr>
          <a:xfrm>
            <a:off x="2788920" y="2880360"/>
            <a:ext cx="2011680" cy="1097280"/>
          </a:xfrm>
          <a:prstGeom prst="roundRect">
            <a:avLst>
              <a:gd name="adj" fmla="val 10000"/>
            </a:avLst>
          </a:prstGeom>
          <a:solidFill>
            <a:srgbClr val="2A2D31"/>
          </a:solidFill>
          <a:ln/>
        </p:spPr>
      </p:sp>
      <p:sp>
        <p:nvSpPr>
          <p:cNvPr id="11" name="Text 9"/>
          <p:cNvSpPr txBox="1"/>
          <p:nvPr/>
        </p:nvSpPr>
        <p:spPr>
          <a:xfrm>
            <a:off x="2953512" y="2944368"/>
            <a:ext cx="1737360" cy="548640"/>
          </a:xfrm>
          <a:prstGeom prst="rect">
            <a:avLst/>
          </a:prstGeom>
          <a:noFill/>
          <a:ln/>
        </p:spPr>
        <p:txBody>
          <a:bodyPr wrap="square" lIns="0" tIns="0" rIns="0" bIns="0" rtlCol="0" anchor="ctr"/>
          <a:lstStyle/>
          <a:p>
            <a:pPr algn="l" indent="0" marL="0">
              <a:buNone/>
            </a:pPr>
            <a:r>
              <a:rPr lang="en-US" sz="3000" b="1" dirty="0">
                <a:solidFill>
                  <a:schemeClr val="accent1"/>
                </a:solidFill>
                <a:latin typeface="Calibri" pitchFamily="34" charset="0"/>
                <a:ea typeface="Calibri" pitchFamily="34" charset="-122"/>
                <a:cs typeface="Calibri" pitchFamily="34" charset="-120"/>
              </a:rPr>
              <a:t>51</a:t>
            </a:r>
            <a:endParaRPr lang="en-US" sz="3000" dirty="0"/>
          </a:p>
        </p:txBody>
      </p:sp>
      <p:sp>
        <p:nvSpPr>
          <p:cNvPr id="12" name="Text 10"/>
          <p:cNvSpPr txBox="1"/>
          <p:nvPr/>
        </p:nvSpPr>
        <p:spPr>
          <a:xfrm>
            <a:off x="2953512" y="3502152"/>
            <a:ext cx="1737360" cy="411480"/>
          </a:xfrm>
          <a:prstGeom prst="rect">
            <a:avLst/>
          </a:prstGeom>
          <a:noFill/>
          <a:ln/>
        </p:spPr>
        <p:txBody>
          <a:bodyPr wrap="square" lIns="0" tIns="0" rIns="0" bIns="0" rtlCol="0" anchor="t"/>
          <a:lstStyle/>
          <a:p>
            <a:pPr algn="l" indent="0" marL="0">
              <a:buNone/>
            </a:pPr>
            <a:r>
              <a:rPr lang="en-US" sz="1200" dirty="0">
                <a:solidFill>
                  <a:srgbClr val="C9CCD1"/>
                </a:solidFill>
                <a:latin typeface="Calibri" pitchFamily="34" charset="0"/>
                <a:ea typeface="Calibri" pitchFamily="34" charset="-122"/>
                <a:cs typeface="Calibri" pitchFamily="34" charset="-120"/>
              </a:rPr>
              <a:t>integration tests passing</a:t>
            </a:r>
            <a:endParaRPr lang="en-US" sz="1200" dirty="0"/>
          </a:p>
        </p:txBody>
      </p:sp>
      <p:sp>
        <p:nvSpPr>
          <p:cNvPr id="13" name="Shape 11"/>
          <p:cNvSpPr/>
          <p:nvPr/>
        </p:nvSpPr>
        <p:spPr>
          <a:xfrm>
            <a:off x="4937760" y="2880360"/>
            <a:ext cx="2011680" cy="1097280"/>
          </a:xfrm>
          <a:prstGeom prst="roundRect">
            <a:avLst>
              <a:gd name="adj" fmla="val 10000"/>
            </a:avLst>
          </a:prstGeom>
          <a:solidFill>
            <a:srgbClr val="2A2D31"/>
          </a:solidFill>
          <a:ln/>
        </p:spPr>
      </p:sp>
      <p:sp>
        <p:nvSpPr>
          <p:cNvPr id="14" name="Text 12"/>
          <p:cNvSpPr txBox="1"/>
          <p:nvPr/>
        </p:nvSpPr>
        <p:spPr>
          <a:xfrm>
            <a:off x="5102352" y="2944368"/>
            <a:ext cx="1737360" cy="548640"/>
          </a:xfrm>
          <a:prstGeom prst="rect">
            <a:avLst/>
          </a:prstGeom>
          <a:noFill/>
          <a:ln/>
        </p:spPr>
        <p:txBody>
          <a:bodyPr wrap="square" lIns="0" tIns="0" rIns="0" bIns="0" rtlCol="0" anchor="ctr"/>
          <a:lstStyle/>
          <a:p>
            <a:pPr algn="l" indent="0" marL="0">
              <a:buNone/>
            </a:pPr>
            <a:r>
              <a:rPr lang="en-US" sz="3000" b="1" dirty="0">
                <a:solidFill>
                  <a:schemeClr val="accent1"/>
                </a:solidFill>
                <a:latin typeface="Calibri" pitchFamily="34" charset="0"/>
                <a:ea typeface="Calibri" pitchFamily="34" charset="-122"/>
                <a:cs typeface="Calibri" pitchFamily="34" charset="-120"/>
              </a:rPr>
              <a:t>28</a:t>
            </a:r>
            <a:endParaRPr lang="en-US" sz="3000" dirty="0"/>
          </a:p>
        </p:txBody>
      </p:sp>
      <p:sp>
        <p:nvSpPr>
          <p:cNvPr id="15" name="Text 13"/>
          <p:cNvSpPr txBox="1"/>
          <p:nvPr/>
        </p:nvSpPr>
        <p:spPr>
          <a:xfrm>
            <a:off x="5102352" y="3502152"/>
            <a:ext cx="1737360" cy="411480"/>
          </a:xfrm>
          <a:prstGeom prst="rect">
            <a:avLst/>
          </a:prstGeom>
          <a:noFill/>
          <a:ln/>
        </p:spPr>
        <p:txBody>
          <a:bodyPr wrap="square" lIns="0" tIns="0" rIns="0" bIns="0" rtlCol="0" anchor="t"/>
          <a:lstStyle/>
          <a:p>
            <a:pPr algn="l" indent="0" marL="0">
              <a:buNone/>
            </a:pPr>
            <a:r>
              <a:rPr lang="en-US" sz="1200" dirty="0">
                <a:solidFill>
                  <a:srgbClr val="C9CCD1"/>
                </a:solidFill>
                <a:latin typeface="Calibri" pitchFamily="34" charset="0"/>
                <a:ea typeface="Calibri" pitchFamily="34" charset="-122"/>
                <a:cs typeface="Calibri" pitchFamily="34" charset="-120"/>
              </a:rPr>
              <a:t>live smoke checks passed</a:t>
            </a:r>
            <a:endParaRPr lang="en-US" sz="1200" dirty="0"/>
          </a:p>
        </p:txBody>
      </p:sp>
      <p:sp>
        <p:nvSpPr>
          <p:cNvPr id="16" name="Text 14"/>
          <p:cNvSpPr txBox="1"/>
          <p:nvPr/>
        </p:nvSpPr>
        <p:spPr>
          <a:xfrm>
            <a:off x="640080" y="4160520"/>
            <a:ext cx="2743200" cy="228600"/>
          </a:xfrm>
          <a:prstGeom prst="rect">
            <a:avLst/>
          </a:prstGeom>
          <a:noFill/>
          <a:ln/>
        </p:spPr>
        <p:txBody>
          <a:bodyPr wrap="square" lIns="0" tIns="0" rIns="0" bIns="0" rtlCol="0" anchor="t"/>
          <a:lstStyle/>
          <a:p>
            <a:pPr algn="l" indent="0" marL="0">
              <a:buNone/>
            </a:pPr>
            <a:r>
              <a:rPr lang="en-US" sz="1100" b="1" spc="150" kern="0" dirty="0">
                <a:solidFill>
                  <a:schemeClr val="accent1"/>
                </a:solidFill>
                <a:latin typeface="Calibri" pitchFamily="34" charset="0"/>
                <a:ea typeface="Calibri" pitchFamily="34" charset="-122"/>
                <a:cs typeface="Calibri" pitchFamily="34" charset="-120"/>
              </a:rPr>
              <a:t>DEMONSTRATED TODAY</a:t>
            </a:r>
            <a:endParaRPr lang="en-US" sz="1100" dirty="0"/>
          </a:p>
        </p:txBody>
      </p:sp>
      <p:sp>
        <p:nvSpPr>
          <p:cNvPr id="17" name="Shape 15"/>
          <p:cNvSpPr/>
          <p:nvPr/>
        </p:nvSpPr>
        <p:spPr>
          <a:xfrm>
            <a:off x="640080" y="4462272"/>
            <a:ext cx="2011680" cy="310896"/>
          </a:xfrm>
          <a:prstGeom prst="roundRect">
            <a:avLst>
              <a:gd name="adj" fmla="val 50000"/>
            </a:avLst>
          </a:prstGeom>
          <a:solidFill>
            <a:srgbClr val="2A2D31"/>
          </a:solidFill>
          <a:ln/>
        </p:spPr>
      </p:sp>
      <p:sp>
        <p:nvSpPr>
          <p:cNvPr id="18" name="Text 16"/>
          <p:cNvSpPr txBox="1"/>
          <p:nvPr/>
        </p:nvSpPr>
        <p:spPr>
          <a:xfrm>
            <a:off x="640080" y="4462272"/>
            <a:ext cx="2011680" cy="310896"/>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Chat booking</a:t>
            </a:r>
            <a:endParaRPr lang="en-US" sz="1200" dirty="0"/>
          </a:p>
        </p:txBody>
      </p:sp>
      <p:sp>
        <p:nvSpPr>
          <p:cNvPr id="19" name="Shape 17"/>
          <p:cNvSpPr/>
          <p:nvPr/>
        </p:nvSpPr>
        <p:spPr>
          <a:xfrm>
            <a:off x="2788920" y="4462272"/>
            <a:ext cx="2011680" cy="310896"/>
          </a:xfrm>
          <a:prstGeom prst="roundRect">
            <a:avLst>
              <a:gd name="adj" fmla="val 50000"/>
            </a:avLst>
          </a:prstGeom>
          <a:solidFill>
            <a:srgbClr val="2A2D31"/>
          </a:solidFill>
          <a:ln/>
        </p:spPr>
      </p:sp>
      <p:sp>
        <p:nvSpPr>
          <p:cNvPr id="20" name="Text 18"/>
          <p:cNvSpPr txBox="1"/>
          <p:nvPr/>
        </p:nvSpPr>
        <p:spPr>
          <a:xfrm>
            <a:off x="2788920" y="4462272"/>
            <a:ext cx="2011680" cy="310896"/>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Mid-chat change</a:t>
            </a:r>
            <a:endParaRPr lang="en-US" sz="1200" dirty="0"/>
          </a:p>
        </p:txBody>
      </p:sp>
      <p:sp>
        <p:nvSpPr>
          <p:cNvPr id="21" name="Shape 19"/>
          <p:cNvSpPr/>
          <p:nvPr/>
        </p:nvSpPr>
        <p:spPr>
          <a:xfrm>
            <a:off x="4937760" y="4462272"/>
            <a:ext cx="2011680" cy="310896"/>
          </a:xfrm>
          <a:prstGeom prst="roundRect">
            <a:avLst>
              <a:gd name="adj" fmla="val 50000"/>
            </a:avLst>
          </a:prstGeom>
          <a:solidFill>
            <a:srgbClr val="2A2D31"/>
          </a:solidFill>
          <a:ln/>
        </p:spPr>
      </p:sp>
      <p:sp>
        <p:nvSpPr>
          <p:cNvPr id="22" name="Text 20"/>
          <p:cNvSpPr txBox="1"/>
          <p:nvPr/>
        </p:nvSpPr>
        <p:spPr>
          <a:xfrm>
            <a:off x="4937760" y="4462272"/>
            <a:ext cx="2011680" cy="310896"/>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Excel upload</a:t>
            </a:r>
            <a:endParaRPr lang="en-US" sz="1200" dirty="0"/>
          </a:p>
        </p:txBody>
      </p:sp>
      <p:sp>
        <p:nvSpPr>
          <p:cNvPr id="23" name="Shape 21"/>
          <p:cNvSpPr/>
          <p:nvPr/>
        </p:nvSpPr>
        <p:spPr>
          <a:xfrm>
            <a:off x="640080" y="4846320"/>
            <a:ext cx="2011680" cy="310896"/>
          </a:xfrm>
          <a:prstGeom prst="roundRect">
            <a:avLst>
              <a:gd name="adj" fmla="val 50000"/>
            </a:avLst>
          </a:prstGeom>
          <a:solidFill>
            <a:srgbClr val="2A2D31"/>
          </a:solidFill>
          <a:ln/>
        </p:spPr>
      </p:sp>
      <p:sp>
        <p:nvSpPr>
          <p:cNvPr id="24" name="Text 22"/>
          <p:cNvSpPr txBox="1"/>
          <p:nvPr/>
        </p:nvSpPr>
        <p:spPr>
          <a:xfrm>
            <a:off x="640080" y="4846320"/>
            <a:ext cx="2011680" cy="310896"/>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10 rule checks</a:t>
            </a:r>
            <a:endParaRPr lang="en-US" sz="1200" dirty="0"/>
          </a:p>
        </p:txBody>
      </p:sp>
      <p:sp>
        <p:nvSpPr>
          <p:cNvPr id="25" name="Shape 23"/>
          <p:cNvSpPr/>
          <p:nvPr/>
        </p:nvSpPr>
        <p:spPr>
          <a:xfrm>
            <a:off x="2788920" y="4846320"/>
            <a:ext cx="2011680" cy="310896"/>
          </a:xfrm>
          <a:prstGeom prst="roundRect">
            <a:avLst>
              <a:gd name="adj" fmla="val 50000"/>
            </a:avLst>
          </a:prstGeom>
          <a:solidFill>
            <a:srgbClr val="2A2D31"/>
          </a:solidFill>
          <a:ln/>
        </p:spPr>
      </p:sp>
      <p:sp>
        <p:nvSpPr>
          <p:cNvPr id="26" name="Text 24"/>
          <p:cNvSpPr txBox="1"/>
          <p:nvPr/>
        </p:nvSpPr>
        <p:spPr>
          <a:xfrm>
            <a:off x="2788920" y="4846320"/>
            <a:ext cx="2011680" cy="310896"/>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Carrier ranking</a:t>
            </a:r>
            <a:endParaRPr lang="en-US" sz="1200" dirty="0"/>
          </a:p>
        </p:txBody>
      </p:sp>
      <p:sp>
        <p:nvSpPr>
          <p:cNvPr id="27" name="Shape 25"/>
          <p:cNvSpPr/>
          <p:nvPr/>
        </p:nvSpPr>
        <p:spPr>
          <a:xfrm>
            <a:off x="4937760" y="4846320"/>
            <a:ext cx="2011680" cy="310896"/>
          </a:xfrm>
          <a:prstGeom prst="roundRect">
            <a:avLst>
              <a:gd name="adj" fmla="val 50000"/>
            </a:avLst>
          </a:prstGeom>
          <a:solidFill>
            <a:srgbClr val="2A2D31"/>
          </a:solidFill>
          <a:ln/>
        </p:spPr>
      </p:sp>
      <p:sp>
        <p:nvSpPr>
          <p:cNvPr id="28" name="Text 26"/>
          <p:cNvSpPr txBox="1"/>
          <p:nvPr/>
        </p:nvSpPr>
        <p:spPr>
          <a:xfrm>
            <a:off x="4937760" y="4846320"/>
            <a:ext cx="2011680" cy="310896"/>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Saved bookings</a:t>
            </a:r>
            <a:endParaRPr lang="en-US" sz="1200" dirty="0"/>
          </a:p>
        </p:txBody>
      </p:sp>
      <p:sp>
        <p:nvSpPr>
          <p:cNvPr id="29" name="Text 27"/>
          <p:cNvSpPr txBox="1"/>
          <p:nvPr/>
        </p:nvSpPr>
        <p:spPr>
          <a:xfrm>
            <a:off x="640080" y="5349240"/>
            <a:ext cx="4572000" cy="228600"/>
          </a:xfrm>
          <a:prstGeom prst="rect">
            <a:avLst/>
          </a:prstGeom>
          <a:noFill/>
          <a:ln/>
        </p:spPr>
        <p:txBody>
          <a:bodyPr wrap="square" lIns="0" tIns="0" rIns="0" bIns="0" rtlCol="0" anchor="t"/>
          <a:lstStyle/>
          <a:p>
            <a:pPr algn="l" indent="0" marL="0">
              <a:buNone/>
            </a:pPr>
            <a:r>
              <a:rPr lang="en-US" sz="1100" b="1" spc="150" kern="0" dirty="0">
                <a:solidFill>
                  <a:schemeClr val="accent2"/>
                </a:solidFill>
                <a:latin typeface="Calibri" pitchFamily="34" charset="0"/>
                <a:ea typeface="Calibri" pitchFamily="34" charset="-122"/>
                <a:cs typeface="Calibri" pitchFamily="34" charset="-120"/>
              </a:rPr>
              <a:t>FUTURE OPPORTUNITIES (NOT BUILT)</a:t>
            </a:r>
            <a:endParaRPr lang="en-US" sz="1100" dirty="0"/>
          </a:p>
        </p:txBody>
      </p:sp>
      <p:sp>
        <p:nvSpPr>
          <p:cNvPr id="30" name="Shape 28"/>
          <p:cNvSpPr/>
          <p:nvPr/>
        </p:nvSpPr>
        <p:spPr>
          <a:xfrm>
            <a:off x="640080" y="5650992"/>
            <a:ext cx="2011680" cy="310896"/>
          </a:xfrm>
          <a:prstGeom prst="roundRect">
            <a:avLst>
              <a:gd name="adj" fmla="val 50000"/>
            </a:avLst>
          </a:prstGeom>
          <a:noFill/>
          <a:ln w="12700">
            <a:solidFill>
              <a:schemeClr val="accent2"/>
            </a:solidFill>
            <a:prstDash val="dash"/>
          </a:ln>
        </p:spPr>
      </p:sp>
      <p:sp>
        <p:nvSpPr>
          <p:cNvPr id="31" name="Text 29"/>
          <p:cNvSpPr txBox="1"/>
          <p:nvPr/>
        </p:nvSpPr>
        <p:spPr>
          <a:xfrm>
            <a:off x="640080" y="5650992"/>
            <a:ext cx="2011680" cy="310896"/>
          </a:xfrm>
          <a:prstGeom prst="rect">
            <a:avLst/>
          </a:prstGeom>
          <a:noFill/>
          <a:ln/>
        </p:spPr>
        <p:txBody>
          <a:bodyPr wrap="square" lIns="0" tIns="0" rIns="0" bIns="0" rtlCol="0" anchor="ctr"/>
          <a:lstStyle/>
          <a:p>
            <a:pPr algn="ctr" indent="0" marL="0">
              <a:buNone/>
            </a:pPr>
            <a:r>
              <a:rPr lang="en-US" sz="1200" dirty="0">
                <a:solidFill>
                  <a:schemeClr val="accent2"/>
                </a:solidFill>
                <a:latin typeface="Calibri" pitchFamily="34" charset="0"/>
                <a:ea typeface="Calibri" pitchFamily="34" charset="-122"/>
                <a:cs typeface="Calibri" pitchFamily="34" charset="-120"/>
              </a:rPr>
              <a:t>Real carrier booking</a:t>
            </a:r>
            <a:endParaRPr lang="en-US" sz="1200" dirty="0"/>
          </a:p>
        </p:txBody>
      </p:sp>
      <p:sp>
        <p:nvSpPr>
          <p:cNvPr id="32" name="Shape 30"/>
          <p:cNvSpPr/>
          <p:nvPr/>
        </p:nvSpPr>
        <p:spPr>
          <a:xfrm>
            <a:off x="2788920" y="5650992"/>
            <a:ext cx="1783080" cy="310896"/>
          </a:xfrm>
          <a:prstGeom prst="roundRect">
            <a:avLst>
              <a:gd name="adj" fmla="val 50000"/>
            </a:avLst>
          </a:prstGeom>
          <a:noFill/>
          <a:ln w="12700">
            <a:solidFill>
              <a:schemeClr val="accent2"/>
            </a:solidFill>
            <a:prstDash val="dash"/>
          </a:ln>
        </p:spPr>
      </p:sp>
      <p:sp>
        <p:nvSpPr>
          <p:cNvPr id="33" name="Text 31"/>
          <p:cNvSpPr txBox="1"/>
          <p:nvPr/>
        </p:nvSpPr>
        <p:spPr>
          <a:xfrm>
            <a:off x="2788920" y="5650992"/>
            <a:ext cx="1783080" cy="310896"/>
          </a:xfrm>
          <a:prstGeom prst="rect">
            <a:avLst/>
          </a:prstGeom>
          <a:noFill/>
          <a:ln/>
        </p:spPr>
        <p:txBody>
          <a:bodyPr wrap="square" lIns="0" tIns="0" rIns="0" bIns="0" rtlCol="0" anchor="ctr"/>
          <a:lstStyle/>
          <a:p>
            <a:pPr algn="ctr" indent="0" marL="0">
              <a:buNone/>
            </a:pPr>
            <a:r>
              <a:rPr lang="en-US" sz="1200" dirty="0">
                <a:solidFill>
                  <a:schemeClr val="accent2"/>
                </a:solidFill>
                <a:latin typeface="Calibri" pitchFamily="34" charset="0"/>
                <a:ea typeface="Calibri" pitchFamily="34" charset="-122"/>
                <a:cs typeface="Calibri" pitchFamily="34" charset="-120"/>
              </a:rPr>
              <a:t>Invoice generation</a:t>
            </a:r>
            <a:endParaRPr lang="en-US" sz="1200" dirty="0"/>
          </a:p>
        </p:txBody>
      </p:sp>
      <p:sp>
        <p:nvSpPr>
          <p:cNvPr id="34" name="Shape 32"/>
          <p:cNvSpPr/>
          <p:nvPr/>
        </p:nvSpPr>
        <p:spPr>
          <a:xfrm>
            <a:off x="4709160" y="5650992"/>
            <a:ext cx="1463040" cy="310896"/>
          </a:xfrm>
          <a:prstGeom prst="roundRect">
            <a:avLst>
              <a:gd name="adj" fmla="val 50000"/>
            </a:avLst>
          </a:prstGeom>
          <a:noFill/>
          <a:ln w="12700">
            <a:solidFill>
              <a:schemeClr val="accent2"/>
            </a:solidFill>
            <a:prstDash val="dash"/>
          </a:ln>
        </p:spPr>
      </p:sp>
      <p:sp>
        <p:nvSpPr>
          <p:cNvPr id="35" name="Text 33"/>
          <p:cNvSpPr txBox="1"/>
          <p:nvPr/>
        </p:nvSpPr>
        <p:spPr>
          <a:xfrm>
            <a:off x="4709160" y="5650992"/>
            <a:ext cx="1463040" cy="310896"/>
          </a:xfrm>
          <a:prstGeom prst="rect">
            <a:avLst/>
          </a:prstGeom>
          <a:noFill/>
          <a:ln/>
        </p:spPr>
        <p:txBody>
          <a:bodyPr wrap="square" lIns="0" tIns="0" rIns="0" bIns="0" rtlCol="0" anchor="ctr"/>
          <a:lstStyle/>
          <a:p>
            <a:pPr algn="ctr" indent="0" marL="0">
              <a:buNone/>
            </a:pPr>
            <a:r>
              <a:rPr lang="en-US" sz="1200" dirty="0">
                <a:solidFill>
                  <a:schemeClr val="accent2"/>
                </a:solidFill>
                <a:latin typeface="Calibri" pitchFamily="34" charset="0"/>
                <a:ea typeface="Calibri" pitchFamily="34" charset="-122"/>
                <a:cs typeface="Calibri" pitchFamily="34" charset="-120"/>
              </a:rPr>
              <a:t>More routes</a:t>
            </a:r>
            <a:endParaRPr lang="en-US" sz="1200" dirty="0"/>
          </a:p>
        </p:txBody>
      </p:sp>
      <p:sp>
        <p:nvSpPr>
          <p:cNvPr id="36" name="Shape 34"/>
          <p:cNvSpPr/>
          <p:nvPr/>
        </p:nvSpPr>
        <p:spPr>
          <a:xfrm>
            <a:off x="640080" y="6016752"/>
            <a:ext cx="2011680" cy="310896"/>
          </a:xfrm>
          <a:prstGeom prst="roundRect">
            <a:avLst>
              <a:gd name="adj" fmla="val 50000"/>
            </a:avLst>
          </a:prstGeom>
          <a:noFill/>
          <a:ln w="12700">
            <a:solidFill>
              <a:schemeClr val="accent2"/>
            </a:solidFill>
            <a:prstDash val="dash"/>
          </a:ln>
        </p:spPr>
      </p:sp>
      <p:sp>
        <p:nvSpPr>
          <p:cNvPr id="37" name="Text 35"/>
          <p:cNvSpPr txBox="1"/>
          <p:nvPr/>
        </p:nvSpPr>
        <p:spPr>
          <a:xfrm>
            <a:off x="640080" y="6016752"/>
            <a:ext cx="2011680" cy="310896"/>
          </a:xfrm>
          <a:prstGeom prst="rect">
            <a:avLst/>
          </a:prstGeom>
          <a:noFill/>
          <a:ln/>
        </p:spPr>
        <p:txBody>
          <a:bodyPr wrap="square" lIns="0" tIns="0" rIns="0" bIns="0" rtlCol="0" anchor="ctr"/>
          <a:lstStyle/>
          <a:p>
            <a:pPr algn="ctr" indent="0" marL="0">
              <a:buNone/>
            </a:pPr>
            <a:r>
              <a:rPr lang="en-US" sz="1200" dirty="0">
                <a:solidFill>
                  <a:schemeClr val="accent2"/>
                </a:solidFill>
                <a:latin typeface="Calibri" pitchFamily="34" charset="0"/>
                <a:ea typeface="Calibri" pitchFamily="34" charset="-122"/>
                <a:cs typeface="Calibri" pitchFamily="34" charset="-120"/>
              </a:rPr>
              <a:t>Shipment tracking</a:t>
            </a:r>
            <a:endParaRPr lang="en-US" sz="1200" dirty="0"/>
          </a:p>
        </p:txBody>
      </p:sp>
      <p:sp>
        <p:nvSpPr>
          <p:cNvPr id="38" name="Shape 36"/>
          <p:cNvSpPr/>
          <p:nvPr/>
        </p:nvSpPr>
        <p:spPr>
          <a:xfrm>
            <a:off x="2788920" y="6016752"/>
            <a:ext cx="2194560" cy="310896"/>
          </a:xfrm>
          <a:prstGeom prst="roundRect">
            <a:avLst>
              <a:gd name="adj" fmla="val 50000"/>
            </a:avLst>
          </a:prstGeom>
          <a:noFill/>
          <a:ln w="12700">
            <a:solidFill>
              <a:schemeClr val="accent2"/>
            </a:solidFill>
            <a:prstDash val="dash"/>
          </a:ln>
        </p:spPr>
      </p:sp>
      <p:sp>
        <p:nvSpPr>
          <p:cNvPr id="39" name="Text 37"/>
          <p:cNvSpPr txBox="1"/>
          <p:nvPr/>
        </p:nvSpPr>
        <p:spPr>
          <a:xfrm>
            <a:off x="2788920" y="6016752"/>
            <a:ext cx="2194560" cy="310896"/>
          </a:xfrm>
          <a:prstGeom prst="rect">
            <a:avLst/>
          </a:prstGeom>
          <a:noFill/>
          <a:ln/>
        </p:spPr>
        <p:txBody>
          <a:bodyPr wrap="square" lIns="0" tIns="0" rIns="0" bIns="0" rtlCol="0" anchor="ctr"/>
          <a:lstStyle/>
          <a:p>
            <a:pPr algn="ctr" indent="0" marL="0">
              <a:buNone/>
            </a:pPr>
            <a:r>
              <a:rPr lang="en-US" sz="1200" dirty="0">
                <a:solidFill>
                  <a:schemeClr val="accent2"/>
                </a:solidFill>
                <a:latin typeface="Calibri" pitchFamily="34" charset="0"/>
                <a:ea typeface="Calibri" pitchFamily="34" charset="-122"/>
                <a:cs typeface="Calibri" pitchFamily="34" charset="-120"/>
              </a:rPr>
              <a:t>Customs integrations</a:t>
            </a:r>
            <a:endParaRPr lang="en-US" sz="1200" dirty="0"/>
          </a:p>
        </p:txBody>
      </p:sp>
      <p:sp>
        <p:nvSpPr>
          <p:cNvPr id="40" name="Shape 38"/>
          <p:cNvSpPr/>
          <p:nvPr/>
        </p:nvSpPr>
        <p:spPr>
          <a:xfrm>
            <a:off x="8183880" y="640080"/>
            <a:ext cx="3108960" cy="3429000"/>
          </a:xfrm>
          <a:prstGeom prst="roundRect">
            <a:avLst>
              <a:gd name="adj" fmla="val 5294"/>
            </a:avLst>
          </a:prstGeom>
          <a:solidFill>
            <a:schemeClr val="bg1"/>
          </a:solidFill>
          <a:ln/>
        </p:spPr>
      </p:sp>
      <p:pic>
        <p:nvPicPr>
          <p:cNvPr id="41" name="Image 0" descr="QR code linking to shipmentos-preflight.vercel.app">    </p:cNvPr>
          <p:cNvPicPr>
            <a:picLocks noChangeAspect="1"/>
          </p:cNvPicPr>
          <p:nvPr/>
        </p:nvPicPr>
        <p:blipFill>
          <a:blip r:embed="rId1"/>
          <a:stretch>
            <a:fillRect/>
          </a:stretch>
        </p:blipFill>
        <p:spPr>
          <a:xfrm>
            <a:off x="8458200" y="868680"/>
            <a:ext cx="2560320" cy="2560320"/>
          </a:xfrm>
          <a:prstGeom prst="rect">
            <a:avLst/>
          </a:prstGeom>
        </p:spPr>
      </p:pic>
      <p:sp>
        <p:nvSpPr>
          <p:cNvPr id="42" name="Text 39"/>
          <p:cNvSpPr txBox="1"/>
          <p:nvPr/>
        </p:nvSpPr>
        <p:spPr>
          <a:xfrm>
            <a:off x="8183880" y="3547872"/>
            <a:ext cx="3108960" cy="32004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Scan to open the live app</a:t>
            </a:r>
            <a:endParaRPr lang="en-US" sz="1400" dirty="0"/>
          </a:p>
        </p:txBody>
      </p:sp>
      <p:sp>
        <p:nvSpPr>
          <p:cNvPr id="43" name="Text 40"/>
          <p:cNvSpPr txBox="1"/>
          <p:nvPr/>
        </p:nvSpPr>
        <p:spPr>
          <a:xfrm>
            <a:off x="7726680" y="4434840"/>
            <a:ext cx="3931920" cy="1280160"/>
          </a:xfrm>
          <a:prstGeom prst="rect">
            <a:avLst/>
          </a:prstGeom>
          <a:noFill/>
          <a:ln/>
        </p:spPr>
        <p:txBody>
          <a:bodyPr wrap="square" lIns="0" tIns="0" rIns="0" bIns="0" rtlCol="0" anchor="t"/>
          <a:lstStyle/>
          <a:p>
            <a:pPr algn="l" indent="0" marL="0">
              <a:buNone/>
            </a:pPr>
            <a:r>
              <a:rPr lang="en-US" sz="2800" b="1" dirty="0">
                <a:solidFill>
                  <a:schemeClr val="accent1"/>
                </a:solidFill>
                <a:latin typeface="Calibri" pitchFamily="34" charset="0"/>
                <a:ea typeface="Calibri" pitchFamily="34" charset="-122"/>
                <a:cs typeface="Calibri" pitchFamily="34" charset="-120"/>
              </a:rPr>
              <a:t>Book it in a sentence. Check it before it ships.</a:t>
            </a:r>
            <a:endParaRPr lang="en-US" sz="2800" dirty="0"/>
          </a:p>
        </p:txBody>
      </p:sp>
      <p:sp>
        <p:nvSpPr>
          <p:cNvPr id="44" name="Text 41"/>
          <p:cNvSpPr txBox="1"/>
          <p:nvPr/>
        </p:nvSpPr>
        <p:spPr>
          <a:xfrm>
            <a:off x="7726680" y="5897880"/>
            <a:ext cx="3931920" cy="502920"/>
          </a:xfrm>
          <a:prstGeom prst="rect">
            <a:avLst/>
          </a:prstGeom>
          <a:noFill/>
          <a:ln/>
        </p:spPr>
        <p:txBody>
          <a:bodyPr wrap="square" lIns="0" tIns="0" rIns="0" bIns="0" rtlCol="0" anchor="t"/>
          <a:lstStyle/>
          <a:p>
            <a:pPr algn="l" indent="0" marL="0">
              <a:buNone/>
            </a:pPr>
            <a:r>
              <a:rPr lang="en-US" sz="1100" dirty="0">
                <a:solidFill>
                  <a:srgbClr val="C9CCD1"/>
                </a:solidFill>
                <a:latin typeface="Calibri" pitchFamily="34" charset="0"/>
                <a:ea typeface="Calibri" pitchFamily="34" charset="-122"/>
                <a:cs typeface="Calibri" pitchFamily="34" charset="-120"/>
              </a:rPr>
              <a:t>A booking-preparation demo. No carrier is contacted. Not customs or dangerous-goods compliance.</a:t>
            </a:r>
            <a:endParaRPr lang="en-US" sz="1100" dirty="0"/>
          </a:p>
        </p:txBody>
      </p:sp>
    </p:spTree>
  </p:cSld>
  <p:clrMapOvr>
    <a:masterClrMapping/>
  </p:clrMapOvr>
</p:sld>
</file>

<file path=ppt/theme/theme1.xml><?xml version="1.0" encoding="utf-8"?>
<a:theme xmlns:a="http://schemas.openxmlformats.org/drawingml/2006/main" name="ShipmentOS">
  <a:themeElements>
    <a:clrScheme name="ShipmentOS">
      <a:dk1>
        <a:srgbClr val="15171A"/>
      </a:dk1>
      <a:lt1>
        <a:srgbClr val="FFFFFF"/>
      </a:lt1>
      <a:dk2>
        <a:srgbClr val="2A2D31"/>
      </a:dk2>
      <a:lt2>
        <a:srgbClr val="F4F5F1"/>
      </a:lt2>
      <a:accent1>
        <a:srgbClr val="C9E858"/>
      </a:accent1>
      <a:accent2>
        <a:srgbClr val="B9AEEF"/>
      </a:accent2>
      <a:accent3>
        <a:srgbClr val="D64545"/>
      </a:accent3>
      <a:accent4>
        <a:srgbClr val="E9A93A"/>
      </a:accent4>
      <a:accent5>
        <a:srgbClr val="6B7075"/>
      </a:accent5>
      <a:accent6>
        <a:srgbClr val="3E7C59"/>
      </a:accent6>
      <a:hlink>
        <a:srgbClr val="2A2D31"/>
      </a:hlink>
      <a:folHlink>
        <a:srgbClr val="6B7075"/>
      </a:folHlink>
    </a:clrScheme>
    <a:fontScheme name="ShipmentO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Ops Hackathon, Case 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ShipmentOS: Conversational Shipment Booking &amp; Pre-Flight Error Checker</dc:title>
  <dc:subject>PptxGenJS Presentation</dc:subject>
  <dc:creator>ShipmentOS team</dc:creator>
  <cp:lastModifiedBy>ShipmentOS team</cp:lastModifiedBy>
  <cp:revision>1</cp:revision>
  <dcterms:created xsi:type="dcterms:W3CDTF">2026-10-26T18:15:39Z</dcterms:created>
  <dcterms:modified xsi:type="dcterms:W3CDTF">2026-10-26T18:15:39Z</dcterms:modified>
</cp:coreProperties>
</file>